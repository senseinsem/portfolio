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ton" charset="1" panose="00000500000000000000"/>
      <p:regular r:id="rId15"/>
    </p:embeddedFont>
    <p:embeddedFont>
      <p:font typeface="Open Sans Bold" charset="1" panose="020B0806030504020204"/>
      <p:regular r:id="rId16"/>
    </p:embeddedFont>
    <p:embeddedFont>
      <p:font typeface="Big Shoulders Display" charset="1" panose="00000000000000000000"/>
      <p:regular r:id="rId17"/>
    </p:embeddedFont>
    <p:embeddedFont>
      <p:font typeface="Lato" charset="1" panose="020F0502020204030203"/>
      <p:regular r:id="rId18"/>
    </p:embeddedFont>
    <p:embeddedFont>
      <p:font typeface="Lato Bold" charset="1" panose="020F05020202040302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20043" y="6705772"/>
            <a:ext cx="2630007" cy="514011"/>
            <a:chOff x="0" y="0"/>
            <a:chExt cx="812800" cy="15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58854"/>
            </a:xfrm>
            <a:custGeom>
              <a:avLst/>
              <a:gdLst/>
              <a:ahLst/>
              <a:cxnLst/>
              <a:rect r="r" b="b" t="t" l="l"/>
              <a:pathLst>
                <a:path h="15885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8854"/>
                  </a:lnTo>
                  <a:lnTo>
                    <a:pt x="0" y="158854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19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9345" y="8174371"/>
            <a:ext cx="670074" cy="670074"/>
          </a:xfrm>
          <a:custGeom>
            <a:avLst/>
            <a:gdLst/>
            <a:ahLst/>
            <a:cxnLst/>
            <a:rect r="r" b="b" t="t" l="l"/>
            <a:pathLst>
              <a:path h="670074" w="670074">
                <a:moveTo>
                  <a:pt x="0" y="0"/>
                </a:moveTo>
                <a:lnTo>
                  <a:pt x="670073" y="0"/>
                </a:lnTo>
                <a:lnTo>
                  <a:pt x="670073" y="670073"/>
                </a:lnTo>
                <a:lnTo>
                  <a:pt x="0" y="67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21891" y="8016286"/>
            <a:ext cx="828158" cy="828158"/>
          </a:xfrm>
          <a:custGeom>
            <a:avLst/>
            <a:gdLst/>
            <a:ahLst/>
            <a:cxnLst/>
            <a:rect r="r" b="b" t="t" l="l"/>
            <a:pathLst>
              <a:path h="828158" w="828158">
                <a:moveTo>
                  <a:pt x="0" y="0"/>
                </a:moveTo>
                <a:lnTo>
                  <a:pt x="828158" y="0"/>
                </a:lnTo>
                <a:lnTo>
                  <a:pt x="828158" y="828158"/>
                </a:lnTo>
                <a:lnTo>
                  <a:pt x="0" y="828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3494" y="0"/>
            <a:ext cx="18674989" cy="10291879"/>
          </a:xfrm>
          <a:custGeom>
            <a:avLst/>
            <a:gdLst/>
            <a:ahLst/>
            <a:cxnLst/>
            <a:rect r="r" b="b" t="t" l="l"/>
            <a:pathLst>
              <a:path h="10291879" w="18674989">
                <a:moveTo>
                  <a:pt x="0" y="0"/>
                </a:moveTo>
                <a:lnTo>
                  <a:pt x="18674988" y="0"/>
                </a:lnTo>
                <a:lnTo>
                  <a:pt x="18674988" y="10291879"/>
                </a:lnTo>
                <a:lnTo>
                  <a:pt x="0" y="10291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94" t="-2440" r="-1002" b="-168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7312" y="1744244"/>
            <a:ext cx="20895409" cy="584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35"/>
              </a:lnSpc>
            </a:pPr>
            <a:r>
              <a:rPr lang="en-US" sz="3423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RE-LIVE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3734" y="-444324"/>
            <a:ext cx="16462137" cy="10974758"/>
          </a:xfrm>
          <a:custGeom>
            <a:avLst/>
            <a:gdLst/>
            <a:ahLst/>
            <a:cxnLst/>
            <a:rect r="r" b="b" t="t" l="l"/>
            <a:pathLst>
              <a:path h="10974758" w="16462137">
                <a:moveTo>
                  <a:pt x="0" y="0"/>
                </a:moveTo>
                <a:lnTo>
                  <a:pt x="16462136" y="0"/>
                </a:lnTo>
                <a:lnTo>
                  <a:pt x="16462136" y="10974758"/>
                </a:lnTo>
                <a:lnTo>
                  <a:pt x="0" y="109747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2393421" y="4429539"/>
            <a:ext cx="2809545" cy="113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3278" b="true">
                <a:solidFill>
                  <a:srgbClr val="CBCBC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SHORT FILM</a:t>
            </a:r>
          </a:p>
          <a:p>
            <a:pPr algn="ctr" marL="0" indent="0" lvl="0">
              <a:lnSpc>
                <a:spcPts val="4589"/>
              </a:lnSpc>
              <a:spcBef>
                <a:spcPct val="0"/>
              </a:spcBef>
            </a:pPr>
            <a:r>
              <a:rPr lang="en-US" b="true" sz="3278">
                <a:solidFill>
                  <a:srgbClr val="CBCBC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WORKSHOP II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6830" y="1439704"/>
            <a:ext cx="11080830" cy="3725632"/>
            <a:chOff x="0" y="0"/>
            <a:chExt cx="2918408" cy="981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18408" cy="981236"/>
            </a:xfrm>
            <a:custGeom>
              <a:avLst/>
              <a:gdLst/>
              <a:ahLst/>
              <a:cxnLst/>
              <a:rect r="r" b="b" t="t" l="l"/>
              <a:pathLst>
                <a:path h="981236" w="2918408">
                  <a:moveTo>
                    <a:pt x="0" y="0"/>
                  </a:moveTo>
                  <a:lnTo>
                    <a:pt x="2918408" y="0"/>
                  </a:lnTo>
                  <a:lnTo>
                    <a:pt x="2918408" y="981236"/>
                  </a:lnTo>
                  <a:lnTo>
                    <a:pt x="0" y="98123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18408" cy="1019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70324" y="8255569"/>
            <a:ext cx="869306" cy="869306"/>
          </a:xfrm>
          <a:custGeom>
            <a:avLst/>
            <a:gdLst/>
            <a:ahLst/>
            <a:cxnLst/>
            <a:rect r="r" b="b" t="t" l="l"/>
            <a:pathLst>
              <a:path h="869306" w="869306">
                <a:moveTo>
                  <a:pt x="0" y="0"/>
                </a:moveTo>
                <a:lnTo>
                  <a:pt x="869306" y="0"/>
                </a:lnTo>
                <a:lnTo>
                  <a:pt x="869306" y="869306"/>
                </a:lnTo>
                <a:lnTo>
                  <a:pt x="0" y="869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52953" y="1439704"/>
            <a:ext cx="3564656" cy="6454910"/>
            <a:chOff x="0" y="0"/>
            <a:chExt cx="552259" cy="1000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2258" cy="1000034"/>
            </a:xfrm>
            <a:custGeom>
              <a:avLst/>
              <a:gdLst/>
              <a:ahLst/>
              <a:cxnLst/>
              <a:rect r="r" b="b" t="t" l="l"/>
              <a:pathLst>
                <a:path h="1000034" w="552258">
                  <a:moveTo>
                    <a:pt x="0" y="0"/>
                  </a:moveTo>
                  <a:lnTo>
                    <a:pt x="552258" y="0"/>
                  </a:lnTo>
                  <a:lnTo>
                    <a:pt x="552258" y="1000034"/>
                  </a:lnTo>
                  <a:lnTo>
                    <a:pt x="0" y="1000034"/>
                  </a:lnTo>
                  <a:close/>
                </a:path>
              </a:pathLst>
            </a:custGeom>
            <a:blipFill>
              <a:blip r:embed="rId4"/>
              <a:stretch>
                <a:fillRect l="-117506" t="0" r="-1044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98571" y="2669965"/>
            <a:ext cx="3564656" cy="6454910"/>
            <a:chOff x="0" y="0"/>
            <a:chExt cx="552259" cy="1000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258" cy="1000034"/>
            </a:xfrm>
            <a:custGeom>
              <a:avLst/>
              <a:gdLst/>
              <a:ahLst/>
              <a:cxnLst/>
              <a:rect r="r" b="b" t="t" l="l"/>
              <a:pathLst>
                <a:path h="1000034" w="552258">
                  <a:moveTo>
                    <a:pt x="0" y="0"/>
                  </a:moveTo>
                  <a:lnTo>
                    <a:pt x="552258" y="0"/>
                  </a:lnTo>
                  <a:lnTo>
                    <a:pt x="552258" y="1000034"/>
                  </a:lnTo>
                  <a:lnTo>
                    <a:pt x="0" y="1000034"/>
                  </a:lnTo>
                  <a:close/>
                </a:path>
              </a:pathLst>
            </a:custGeom>
            <a:blipFill>
              <a:blip r:embed="rId5"/>
              <a:stretch>
                <a:fillRect l="-124960" t="0" r="-13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431142" y="874696"/>
            <a:ext cx="828158" cy="828158"/>
          </a:xfrm>
          <a:custGeom>
            <a:avLst/>
            <a:gdLst/>
            <a:ahLst/>
            <a:cxnLst/>
            <a:rect r="r" b="b" t="t" l="l"/>
            <a:pathLst>
              <a:path h="828158" w="828158">
                <a:moveTo>
                  <a:pt x="0" y="0"/>
                </a:moveTo>
                <a:lnTo>
                  <a:pt x="828158" y="0"/>
                </a:lnTo>
                <a:lnTo>
                  <a:pt x="828158" y="828158"/>
                </a:lnTo>
                <a:lnTo>
                  <a:pt x="0" y="828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70324" y="1488800"/>
            <a:ext cx="7160982" cy="390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0"/>
              </a:lnSpc>
            </a:pPr>
            <a:r>
              <a:rPr lang="en-US" sz="14400">
                <a:solidFill>
                  <a:srgbClr val="3A2C1E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0324" y="5447766"/>
            <a:ext cx="3639602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483" indent="-421241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Project Ov</a:t>
            </a: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9100" y="5447766"/>
            <a:ext cx="3996725" cy="134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483" indent="-421241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Cha</a:t>
            </a: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racter &amp; Asset Development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0324" y="6215425"/>
            <a:ext cx="3911647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483" indent="-421241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Concept &amp; S</a:t>
            </a: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19100" y="6720250"/>
            <a:ext cx="3862541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483" indent="-421241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Animation P</a:t>
            </a: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0324" y="6983084"/>
            <a:ext cx="4594840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483" indent="-421241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Storyboard &amp; Plann</a:t>
            </a: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19100" y="7487909"/>
            <a:ext cx="3996725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483" indent="-421241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Tools &amp; S</a:t>
            </a:r>
            <a:r>
              <a:rPr lang="en-US" sz="390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oftware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24445" y="4519863"/>
            <a:ext cx="371350" cy="371350"/>
          </a:xfrm>
          <a:custGeom>
            <a:avLst/>
            <a:gdLst/>
            <a:ahLst/>
            <a:cxnLst/>
            <a:rect r="r" b="b" t="t" l="l"/>
            <a:pathLst>
              <a:path h="371350" w="371350">
                <a:moveTo>
                  <a:pt x="0" y="371350"/>
                </a:moveTo>
                <a:lnTo>
                  <a:pt x="371350" y="371350"/>
                </a:lnTo>
                <a:lnTo>
                  <a:pt x="371350" y="0"/>
                </a:lnTo>
                <a:lnTo>
                  <a:pt x="0" y="0"/>
                </a:lnTo>
                <a:lnTo>
                  <a:pt x="0" y="3713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81937" y="-372211"/>
            <a:ext cx="1710637" cy="11016580"/>
            <a:chOff x="0" y="0"/>
            <a:chExt cx="450538" cy="2901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0538" cy="2901486"/>
            </a:xfrm>
            <a:custGeom>
              <a:avLst/>
              <a:gdLst/>
              <a:ahLst/>
              <a:cxnLst/>
              <a:rect r="r" b="b" t="t" l="l"/>
              <a:pathLst>
                <a:path h="2901486" w="450538">
                  <a:moveTo>
                    <a:pt x="0" y="0"/>
                  </a:moveTo>
                  <a:lnTo>
                    <a:pt x="450538" y="0"/>
                  </a:lnTo>
                  <a:lnTo>
                    <a:pt x="450538" y="2901486"/>
                  </a:lnTo>
                  <a:lnTo>
                    <a:pt x="0" y="2901486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0538" cy="293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59300" y="-372211"/>
            <a:ext cx="1710637" cy="4842169"/>
            <a:chOff x="0" y="0"/>
            <a:chExt cx="450538" cy="12753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538" cy="1275304"/>
            </a:xfrm>
            <a:custGeom>
              <a:avLst/>
              <a:gdLst/>
              <a:ahLst/>
              <a:cxnLst/>
              <a:rect r="r" b="b" t="t" l="l"/>
              <a:pathLst>
                <a:path h="1275304" w="450538">
                  <a:moveTo>
                    <a:pt x="0" y="0"/>
                  </a:moveTo>
                  <a:lnTo>
                    <a:pt x="450538" y="0"/>
                  </a:lnTo>
                  <a:lnTo>
                    <a:pt x="450538" y="1275304"/>
                  </a:lnTo>
                  <a:lnTo>
                    <a:pt x="0" y="1275304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0538" cy="1313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496257" y="297090"/>
            <a:ext cx="6849160" cy="9692820"/>
          </a:xfrm>
          <a:custGeom>
            <a:avLst/>
            <a:gdLst/>
            <a:ahLst/>
            <a:cxnLst/>
            <a:rect r="r" b="b" t="t" l="l"/>
            <a:pathLst>
              <a:path h="9692820" w="6849160">
                <a:moveTo>
                  <a:pt x="0" y="0"/>
                </a:moveTo>
                <a:lnTo>
                  <a:pt x="6849160" y="0"/>
                </a:lnTo>
                <a:lnTo>
                  <a:pt x="6849160" y="9692820"/>
                </a:lnTo>
                <a:lnTo>
                  <a:pt x="0" y="9692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0324" y="699656"/>
            <a:ext cx="7373676" cy="362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sz="14400">
                <a:solidFill>
                  <a:srgbClr val="3A2C1E"/>
                </a:solidFill>
                <a:latin typeface="Anton"/>
                <a:ea typeface="Anton"/>
                <a:cs typeface="Anton"/>
                <a:sym typeface="Anton"/>
              </a:rPr>
              <a:t>PROJECT </a:t>
            </a:r>
            <a:r>
              <a:rPr lang="en-US" sz="14400">
                <a:solidFill>
                  <a:srgbClr val="3A2C1E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6423" y="6060633"/>
            <a:ext cx="7521121" cy="130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It explores the transition of a character from the real world </a:t>
            </a: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into a digital 3D environment, representing escape, imagination, and self-reflection.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0324" y="4505229"/>
            <a:ext cx="7075242" cy="134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3902" b="true">
                <a:solidFill>
                  <a:srgbClr val="3A2C1E"/>
                </a:solidFill>
                <a:latin typeface="Lato Bold"/>
                <a:ea typeface="Lato Bold"/>
                <a:cs typeface="Lato Bold"/>
                <a:sym typeface="Lato Bold"/>
              </a:rPr>
              <a:t>ReLive is a short animated film created using Blender.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28700" y="5044271"/>
            <a:ext cx="371350" cy="371350"/>
          </a:xfrm>
          <a:custGeom>
            <a:avLst/>
            <a:gdLst/>
            <a:ahLst/>
            <a:cxnLst/>
            <a:rect r="r" b="b" t="t" l="l"/>
            <a:pathLst>
              <a:path h="371350" w="371350">
                <a:moveTo>
                  <a:pt x="0" y="371350"/>
                </a:moveTo>
                <a:lnTo>
                  <a:pt x="371350" y="371350"/>
                </a:lnTo>
                <a:lnTo>
                  <a:pt x="371350" y="0"/>
                </a:lnTo>
                <a:lnTo>
                  <a:pt x="0" y="0"/>
                </a:lnTo>
                <a:lnTo>
                  <a:pt x="0" y="3713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167493"/>
            <a:ext cx="8248707" cy="3511496"/>
            <a:chOff x="0" y="0"/>
            <a:chExt cx="1277941" cy="544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7941" cy="544023"/>
            </a:xfrm>
            <a:custGeom>
              <a:avLst/>
              <a:gdLst/>
              <a:ahLst/>
              <a:cxnLst/>
              <a:rect r="r" b="b" t="t" l="l"/>
              <a:pathLst>
                <a:path h="544023" w="1277941">
                  <a:moveTo>
                    <a:pt x="0" y="0"/>
                  </a:moveTo>
                  <a:lnTo>
                    <a:pt x="1277941" y="0"/>
                  </a:lnTo>
                  <a:lnTo>
                    <a:pt x="1277941" y="544023"/>
                  </a:lnTo>
                  <a:lnTo>
                    <a:pt x="0" y="544023"/>
                  </a:lnTo>
                  <a:close/>
                </a:path>
              </a:pathLst>
            </a:custGeom>
            <a:blipFill>
              <a:blip r:embed="rId4"/>
              <a:stretch>
                <a:fillRect l="0" t="-23589" r="0" b="-11131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20956" y="1167493"/>
            <a:ext cx="7538344" cy="3511496"/>
            <a:chOff x="0" y="0"/>
            <a:chExt cx="1167887" cy="544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7887" cy="544023"/>
            </a:xfrm>
            <a:custGeom>
              <a:avLst/>
              <a:gdLst/>
              <a:ahLst/>
              <a:cxnLst/>
              <a:rect r="r" b="b" t="t" l="l"/>
              <a:pathLst>
                <a:path h="544023" w="1167887">
                  <a:moveTo>
                    <a:pt x="0" y="0"/>
                  </a:moveTo>
                  <a:lnTo>
                    <a:pt x="1167887" y="0"/>
                  </a:lnTo>
                  <a:lnTo>
                    <a:pt x="1167887" y="544023"/>
                  </a:lnTo>
                  <a:lnTo>
                    <a:pt x="0" y="544023"/>
                  </a:lnTo>
                  <a:close/>
                </a:path>
              </a:pathLst>
            </a:custGeom>
            <a:blipFill>
              <a:blip r:embed="rId5"/>
              <a:stretch>
                <a:fillRect l="0" t="-15459" r="0" b="-9921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439736" y="5449021"/>
            <a:ext cx="7819564" cy="386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976"/>
              </a:lnSpc>
            </a:pPr>
            <a:r>
              <a:rPr lang="en-US" sz="14400">
                <a:solidFill>
                  <a:srgbClr val="F4F4F4"/>
                </a:solidFill>
                <a:latin typeface="Anton"/>
                <a:ea typeface="Anton"/>
                <a:cs typeface="Anton"/>
                <a:sym typeface="Anton"/>
              </a:rPr>
              <a:t>CONCEPT &amp; STORY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3817" y="4993708"/>
            <a:ext cx="7521121" cy="130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It explores the transition of a character from the real world into a digital 3D environment, representing escape, imagination, and self-reflection.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817" y="6597027"/>
            <a:ext cx="2218347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390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Core Idea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817" y="7311806"/>
            <a:ext cx="7521121" cy="130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visual journey between reality and imagination, representing emotional escape through digital creation.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228" y="3737960"/>
            <a:ext cx="8103394" cy="4229004"/>
            <a:chOff x="0" y="0"/>
            <a:chExt cx="1306762" cy="6819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6762" cy="681974"/>
            </a:xfrm>
            <a:custGeom>
              <a:avLst/>
              <a:gdLst/>
              <a:ahLst/>
              <a:cxnLst/>
              <a:rect r="r" b="b" t="t" l="l"/>
              <a:pathLst>
                <a:path h="681974" w="1306762">
                  <a:moveTo>
                    <a:pt x="0" y="0"/>
                  </a:moveTo>
                  <a:lnTo>
                    <a:pt x="1306762" y="0"/>
                  </a:lnTo>
                  <a:lnTo>
                    <a:pt x="1306762" y="681974"/>
                  </a:lnTo>
                  <a:lnTo>
                    <a:pt x="0" y="681974"/>
                  </a:lnTo>
                  <a:close/>
                </a:path>
              </a:pathLst>
            </a:custGeom>
            <a:blipFill>
              <a:blip r:embed="rId2"/>
              <a:stretch>
                <a:fillRect l="-13030" t="0" r="-1303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81937" y="-372211"/>
            <a:ext cx="1710637" cy="11747298"/>
            <a:chOff x="0" y="0"/>
            <a:chExt cx="450538" cy="30939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0538" cy="3093939"/>
            </a:xfrm>
            <a:custGeom>
              <a:avLst/>
              <a:gdLst/>
              <a:ahLst/>
              <a:cxnLst/>
              <a:rect r="r" b="b" t="t" l="l"/>
              <a:pathLst>
                <a:path h="3093939" w="450538">
                  <a:moveTo>
                    <a:pt x="0" y="0"/>
                  </a:moveTo>
                  <a:lnTo>
                    <a:pt x="450538" y="0"/>
                  </a:lnTo>
                  <a:lnTo>
                    <a:pt x="450538" y="3093939"/>
                  </a:lnTo>
                  <a:lnTo>
                    <a:pt x="0" y="3093939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0538" cy="313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68578" y="9258300"/>
            <a:ext cx="10801359" cy="2116788"/>
            <a:chOff x="0" y="0"/>
            <a:chExt cx="2844802" cy="557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4802" cy="557508"/>
            </a:xfrm>
            <a:custGeom>
              <a:avLst/>
              <a:gdLst/>
              <a:ahLst/>
              <a:cxnLst/>
              <a:rect r="r" b="b" t="t" l="l"/>
              <a:pathLst>
                <a:path h="557508" w="2844802">
                  <a:moveTo>
                    <a:pt x="0" y="0"/>
                  </a:moveTo>
                  <a:lnTo>
                    <a:pt x="2844802" y="0"/>
                  </a:lnTo>
                  <a:lnTo>
                    <a:pt x="2844802" y="557508"/>
                  </a:lnTo>
                  <a:lnTo>
                    <a:pt x="0" y="557508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4802" cy="595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68279" y="452012"/>
            <a:ext cx="17011352" cy="186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24"/>
              </a:lnSpc>
            </a:pPr>
            <a:r>
              <a:rPr lang="en-US" sz="14400">
                <a:solidFill>
                  <a:srgbClr val="3A2C1E"/>
                </a:solidFill>
                <a:latin typeface="Anton"/>
                <a:ea typeface="Anton"/>
                <a:cs typeface="Anton"/>
                <a:sym typeface="Anton"/>
              </a:rPr>
              <a:t>STORYBOARD &amp; PLANNING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20682" y="3636340"/>
            <a:ext cx="7521121" cy="437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This stage involves planning the full sequence of shots before animation begins.</a:t>
            </a:r>
          </a:p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Storyboards were created to define: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Camera angles and composition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Scene progression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Key emotional moments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Timing and pacing of the animation</a:t>
            </a:r>
          </a:p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This step ensured a clear visual direction before production in Blender.</a:t>
            </a:r>
          </a:p>
          <a:p>
            <a:pPr algn="just">
              <a:lnSpc>
                <a:spcPts val="350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0379" y="3584204"/>
            <a:ext cx="8062172" cy="4441048"/>
            <a:chOff x="0" y="0"/>
            <a:chExt cx="645039" cy="355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39" cy="355320"/>
            </a:xfrm>
            <a:custGeom>
              <a:avLst/>
              <a:gdLst/>
              <a:ahLst/>
              <a:cxnLst/>
              <a:rect r="r" b="b" t="t" l="l"/>
              <a:pathLst>
                <a:path h="355320" w="645039">
                  <a:moveTo>
                    <a:pt x="0" y="0"/>
                  </a:moveTo>
                  <a:lnTo>
                    <a:pt x="645039" y="0"/>
                  </a:lnTo>
                  <a:lnTo>
                    <a:pt x="645039" y="355320"/>
                  </a:lnTo>
                  <a:lnTo>
                    <a:pt x="0" y="355320"/>
                  </a:lnTo>
                  <a:close/>
                </a:path>
              </a:pathLst>
            </a:custGeom>
            <a:blipFill>
              <a:blip r:embed="rId2"/>
              <a:stretch>
                <a:fillRect l="-710" t="-4100" r="-2130" b="-15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29225" y="3609115"/>
            <a:ext cx="8030075" cy="4423368"/>
            <a:chOff x="0" y="0"/>
            <a:chExt cx="645039" cy="355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5039" cy="355320"/>
            </a:xfrm>
            <a:custGeom>
              <a:avLst/>
              <a:gdLst/>
              <a:ahLst/>
              <a:cxnLst/>
              <a:rect r="r" b="b" t="t" l="l"/>
              <a:pathLst>
                <a:path h="355320" w="645039">
                  <a:moveTo>
                    <a:pt x="0" y="0"/>
                  </a:moveTo>
                  <a:lnTo>
                    <a:pt x="645039" y="0"/>
                  </a:lnTo>
                  <a:lnTo>
                    <a:pt x="645039" y="355320"/>
                  </a:lnTo>
                  <a:lnTo>
                    <a:pt x="0" y="355320"/>
                  </a:lnTo>
                  <a:close/>
                </a:path>
              </a:pathLst>
            </a:custGeom>
            <a:blipFill>
              <a:blip r:embed="rId3"/>
              <a:stretch>
                <a:fillRect l="0" t="-1057" r="0" b="-10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25949" y="801896"/>
            <a:ext cx="14717649" cy="196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976"/>
              </a:lnSpc>
            </a:pPr>
            <a:r>
              <a:rPr lang="en-US" sz="14400">
                <a:solidFill>
                  <a:srgbClr val="F4F4F4"/>
                </a:solidFill>
                <a:latin typeface="Anton"/>
                <a:ea typeface="Anton"/>
                <a:cs typeface="Anton"/>
                <a:sym typeface="Anton"/>
              </a:rPr>
              <a:t>CHARACTER &amp; ASSETS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6322" y="8109830"/>
            <a:ext cx="1390286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390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Rafiq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49119" y="8109830"/>
            <a:ext cx="1390286" cy="66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390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Hana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06596" y="5056628"/>
            <a:ext cx="371350" cy="371350"/>
          </a:xfrm>
          <a:custGeom>
            <a:avLst/>
            <a:gdLst/>
            <a:ahLst/>
            <a:cxnLst/>
            <a:rect r="r" b="b" t="t" l="l"/>
            <a:pathLst>
              <a:path h="371350" w="371350">
                <a:moveTo>
                  <a:pt x="0" y="371350"/>
                </a:moveTo>
                <a:lnTo>
                  <a:pt x="371350" y="371350"/>
                </a:lnTo>
                <a:lnTo>
                  <a:pt x="371350" y="0"/>
                </a:lnTo>
                <a:lnTo>
                  <a:pt x="0" y="0"/>
                </a:lnTo>
                <a:lnTo>
                  <a:pt x="0" y="3713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372211"/>
            <a:ext cx="1710637" cy="11016580"/>
            <a:chOff x="0" y="0"/>
            <a:chExt cx="450538" cy="2901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0538" cy="2901486"/>
            </a:xfrm>
            <a:custGeom>
              <a:avLst/>
              <a:gdLst/>
              <a:ahLst/>
              <a:cxnLst/>
              <a:rect r="r" b="b" t="t" l="l"/>
              <a:pathLst>
                <a:path h="2901486" w="450538">
                  <a:moveTo>
                    <a:pt x="0" y="0"/>
                  </a:moveTo>
                  <a:lnTo>
                    <a:pt x="450538" y="0"/>
                  </a:lnTo>
                  <a:lnTo>
                    <a:pt x="450538" y="2901486"/>
                  </a:lnTo>
                  <a:lnTo>
                    <a:pt x="0" y="2901486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0538" cy="293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81937" y="-372211"/>
            <a:ext cx="1710637" cy="6770451"/>
            <a:chOff x="0" y="0"/>
            <a:chExt cx="450538" cy="1783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538" cy="1783164"/>
            </a:xfrm>
            <a:custGeom>
              <a:avLst/>
              <a:gdLst/>
              <a:ahLst/>
              <a:cxnLst/>
              <a:rect r="r" b="b" t="t" l="l"/>
              <a:pathLst>
                <a:path h="1783164" w="450538">
                  <a:moveTo>
                    <a:pt x="0" y="0"/>
                  </a:moveTo>
                  <a:lnTo>
                    <a:pt x="450538" y="0"/>
                  </a:lnTo>
                  <a:lnTo>
                    <a:pt x="450538" y="1783164"/>
                  </a:lnTo>
                  <a:lnTo>
                    <a:pt x="0" y="1783164"/>
                  </a:lnTo>
                  <a:close/>
                </a:path>
              </a:pathLst>
            </a:custGeom>
            <a:solidFill>
              <a:srgbClr val="3A2C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0538" cy="182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61157" y="673141"/>
            <a:ext cx="6770679" cy="3729629"/>
            <a:chOff x="0" y="0"/>
            <a:chExt cx="645039" cy="355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5039" cy="355320"/>
            </a:xfrm>
            <a:custGeom>
              <a:avLst/>
              <a:gdLst/>
              <a:ahLst/>
              <a:cxnLst/>
              <a:rect r="r" b="b" t="t" l="l"/>
              <a:pathLst>
                <a:path h="355320" w="645039">
                  <a:moveTo>
                    <a:pt x="0" y="0"/>
                  </a:moveTo>
                  <a:lnTo>
                    <a:pt x="645039" y="0"/>
                  </a:lnTo>
                  <a:lnTo>
                    <a:pt x="645039" y="355320"/>
                  </a:lnTo>
                  <a:lnTo>
                    <a:pt x="0" y="355320"/>
                  </a:lnTo>
                  <a:close/>
                </a:path>
              </a:pathLst>
            </a:custGeom>
            <a:blipFill>
              <a:blip r:embed="rId4"/>
              <a:stretch>
                <a:fillRect l="0" t="-206" r="0" b="-2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61157" y="5056628"/>
            <a:ext cx="6770679" cy="3729629"/>
            <a:chOff x="0" y="0"/>
            <a:chExt cx="645039" cy="355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5039" cy="355320"/>
            </a:xfrm>
            <a:custGeom>
              <a:avLst/>
              <a:gdLst/>
              <a:ahLst/>
              <a:cxnLst/>
              <a:rect r="r" b="b" t="t" l="l"/>
              <a:pathLst>
                <a:path h="355320" w="645039">
                  <a:moveTo>
                    <a:pt x="0" y="0"/>
                  </a:moveTo>
                  <a:lnTo>
                    <a:pt x="645039" y="0"/>
                  </a:lnTo>
                  <a:lnTo>
                    <a:pt x="645039" y="355320"/>
                  </a:lnTo>
                  <a:lnTo>
                    <a:pt x="0" y="355320"/>
                  </a:lnTo>
                  <a:close/>
                </a:path>
              </a:pathLst>
            </a:custGeom>
            <a:blipFill>
              <a:blip r:embed="rId5"/>
              <a:stretch>
                <a:fillRect l="0" t="-67198" r="0" b="-7485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81763" y="599047"/>
            <a:ext cx="7751930" cy="40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96"/>
              </a:lnSpc>
            </a:pPr>
            <a:r>
              <a:rPr lang="en-US" sz="14400">
                <a:solidFill>
                  <a:srgbClr val="3A2C1E"/>
                </a:solidFill>
                <a:latin typeface="Anton"/>
                <a:ea typeface="Anton"/>
                <a:cs typeface="Anton"/>
                <a:sym typeface="Anton"/>
              </a:rPr>
              <a:t>ANIMATION PROSES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8046" y="4999478"/>
            <a:ext cx="6900075" cy="437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The animation was created using keyframe animation techniques in Blender.</a:t>
            </a:r>
          </a:p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Work involved: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Character posing and movement blocking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Facial and body animation (if applicable)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Timing adjustments for smooth motion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Refining keyframes for better performance</a:t>
            </a:r>
          </a:p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3A2C1E"/>
                </a:solidFill>
                <a:latin typeface="Lato"/>
                <a:ea typeface="Lato"/>
                <a:cs typeface="Lato"/>
                <a:sym typeface="Lato"/>
              </a:rPr>
              <a:t>This stage brought the story to life through motion and expression.</a:t>
            </a:r>
          </a:p>
          <a:p>
            <a:pPr algn="just">
              <a:lnSpc>
                <a:spcPts val="350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2763" y="1426248"/>
            <a:ext cx="9443063" cy="3495270"/>
            <a:chOff x="0" y="0"/>
            <a:chExt cx="1462978" cy="541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978" cy="541509"/>
            </a:xfrm>
            <a:custGeom>
              <a:avLst/>
              <a:gdLst/>
              <a:ahLst/>
              <a:cxnLst/>
              <a:rect r="r" b="b" t="t" l="l"/>
              <a:pathLst>
                <a:path h="541509" w="1462978">
                  <a:moveTo>
                    <a:pt x="0" y="0"/>
                  </a:moveTo>
                  <a:lnTo>
                    <a:pt x="1462978" y="0"/>
                  </a:lnTo>
                  <a:lnTo>
                    <a:pt x="1462978" y="541509"/>
                  </a:lnTo>
                  <a:lnTo>
                    <a:pt x="0" y="541509"/>
                  </a:lnTo>
                  <a:close/>
                </a:path>
              </a:pathLst>
            </a:custGeom>
            <a:blipFill>
              <a:blip r:embed="rId2"/>
              <a:stretch>
                <a:fillRect l="0" t="-25984" r="0" b="-2598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42991" y="5347151"/>
            <a:ext cx="7872518" cy="4354486"/>
          </a:xfrm>
          <a:custGeom>
            <a:avLst/>
            <a:gdLst/>
            <a:ahLst/>
            <a:cxnLst/>
            <a:rect r="r" b="b" t="t" l="l"/>
            <a:pathLst>
              <a:path h="4354486" w="7872518">
                <a:moveTo>
                  <a:pt x="0" y="0"/>
                </a:moveTo>
                <a:lnTo>
                  <a:pt x="7872518" y="0"/>
                </a:lnTo>
                <a:lnTo>
                  <a:pt x="7872518" y="4354487"/>
                </a:lnTo>
                <a:lnTo>
                  <a:pt x="0" y="4354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1024" y="5451021"/>
            <a:ext cx="7064287" cy="40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96"/>
              </a:lnSpc>
            </a:pPr>
            <a:r>
              <a:rPr lang="en-US" sz="14400">
                <a:solidFill>
                  <a:srgbClr val="F4F4F4"/>
                </a:solidFill>
                <a:latin typeface="Anton"/>
                <a:ea typeface="Anton"/>
                <a:cs typeface="Anton"/>
                <a:sym typeface="Anton"/>
              </a:rPr>
              <a:t>TOOLS &amp; SOFTWARE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72589" y="1422724"/>
            <a:ext cx="7186711" cy="34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is project was created using the following tools: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Blender (Modeling, Animation, Rendering)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Adobe After Effects (Compositing &amp; Post-production)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Adobe Premiere Pro (Editing)</a:t>
            </a:r>
          </a:p>
          <a:p>
            <a:pPr algn="just" marL="540230" indent="-270115" lvl="1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Photoshop (Concept / texture support if needed)</a:t>
            </a:r>
          </a:p>
          <a:p>
            <a:pPr algn="just">
              <a:lnSpc>
                <a:spcPts val="350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3000" y="3556319"/>
            <a:ext cx="9144000" cy="5246370"/>
            <a:chOff x="0" y="0"/>
            <a:chExt cx="141664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812800"/>
            </a:xfrm>
            <a:custGeom>
              <a:avLst/>
              <a:gdLst/>
              <a:ahLst/>
              <a:cxnLst/>
              <a:rect r="r" b="b" t="t" l="l"/>
              <a:pathLst>
                <a:path h="812800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9610" t="0" r="-96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8344" y="8397310"/>
            <a:ext cx="1578639" cy="1578639"/>
          </a:xfrm>
          <a:custGeom>
            <a:avLst/>
            <a:gdLst/>
            <a:ahLst/>
            <a:cxnLst/>
            <a:rect r="r" b="b" t="t" l="l"/>
            <a:pathLst>
              <a:path h="1578639" w="1578639">
                <a:moveTo>
                  <a:pt x="0" y="0"/>
                </a:moveTo>
                <a:lnTo>
                  <a:pt x="1578640" y="0"/>
                </a:lnTo>
                <a:lnTo>
                  <a:pt x="1578640" y="1578639"/>
                </a:lnTo>
                <a:lnTo>
                  <a:pt x="0" y="157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8257" y="1304506"/>
            <a:ext cx="9562481" cy="228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28"/>
              </a:lnSpc>
            </a:pPr>
            <a:r>
              <a:rPr lang="en-US" sz="17634">
                <a:solidFill>
                  <a:srgbClr val="3A2C1E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8257" y="4240441"/>
            <a:ext cx="425791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3A2C1E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+6011 6481 2238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8257" y="5009509"/>
            <a:ext cx="537261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3A2C1E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www.linkedin.com/in/alexalvian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257" y="5779129"/>
            <a:ext cx="425791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3A2C1E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selviansamsul@gmail.com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257" y="7153870"/>
            <a:ext cx="461561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3A2C1E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Sabah, Malaysia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8257" y="6466500"/>
            <a:ext cx="64395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3A2C1E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https://senseinsem.github.io/Portfolio/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DAHOZ1ad_rc</dc:identifier>
  <dcterms:modified xsi:type="dcterms:W3CDTF">2011-08-01T06:04:30Z</dcterms:modified>
  <cp:revision>1</cp:revision>
  <dc:title>Brown and White Modern Travel Plan Presentation</dc:title>
</cp:coreProperties>
</file>