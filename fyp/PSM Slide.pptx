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37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6861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274320" y="3200400"/>
            <a:ext cx="3200400" cy="3200400"/>
          </a:xfrm>
          <a:prstGeom prst="ellipse">
            <a:avLst/>
          </a:prstGeom>
          <a:solidFill>
            <a:srgbClr val="526D82">
              <a:alpha val="30000"/>
            </a:srgbClr>
          </a:solidFill>
          <a:ln w="12700">
            <a:solidFill>
              <a:srgbClr val="526D8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9DB2BF">
              <a:alpha val="20000"/>
            </a:srgbClr>
          </a:solidFill>
          <a:ln w="12700">
            <a:solidFill>
              <a:srgbClr val="9DB2B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320040" y="365760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9DB2BF">
              <a:alpha val="40000"/>
            </a:srgbClr>
          </a:solidFill>
          <a:ln w="12700">
            <a:solidFill>
              <a:srgbClr val="9DB2B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32004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3017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4320" y="3127248"/>
            <a:ext cx="1828800" cy="22860"/>
          </a:xfrm>
          <a:prstGeom prst="rect">
            <a:avLst/>
          </a:prstGeom>
          <a:solidFill>
            <a:srgbClr val="9DB2BF"/>
          </a:solidFill>
          <a:ln w="12700">
            <a:solidFill>
              <a:srgbClr val="9DB2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274320" y="331012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FTMK, UTeM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 Program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39319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Engine 5.5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Quest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0" y="6531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kern="0" spc="300" dirty="0">
                <a:solidFill>
                  <a:srgbClr val="273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IMPLEMENTING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749040" y="600891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26D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526D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SWITCHING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749040" y="1762179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IN IMMERSIVE VR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03320" y="2670014"/>
            <a:ext cx="5120640" cy="27432"/>
          </a:xfrm>
          <a:prstGeom prst="rect">
            <a:avLst/>
          </a:prstGeom>
          <a:solidFill>
            <a:srgbClr val="DDE6ED"/>
          </a:solidFill>
          <a:ln w="1270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3749040" y="1972491"/>
            <a:ext cx="5212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2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Experiencing Lieutenant Adnan's Battle from Dual Viewpoints</a:t>
            </a:r>
            <a:endParaRPr lang="en-US" sz="1150" dirty="0"/>
          </a:p>
          <a:p>
            <a:pPr marL="0" indent="0">
              <a:buNone/>
            </a:pPr>
            <a:r>
              <a:rPr lang="en-US" sz="1150" i="1" dirty="0">
                <a:solidFill>
                  <a:srgbClr val="52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Unreal Engine 5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749040" y="43891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DDE6ED"/>
          </a:solidFill>
          <a:ln w="12700">
            <a:solidFill>
              <a:srgbClr val="9DB2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3749040" y="43891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73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UE5.5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0" y="43891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DDE6ED"/>
          </a:solidFill>
          <a:ln w="12700">
            <a:solidFill>
              <a:srgbClr val="9DB2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5029200" y="43891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73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🥽 Meta Quest 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309360" y="43891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DDE6ED"/>
          </a:solidFill>
          <a:ln w="12700">
            <a:solidFill>
              <a:srgbClr val="9DB2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6309360" y="43891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73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🇲🇾 Malaysian Heritage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589520" y="438912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DDE6ED"/>
          </a:solidFill>
          <a:ln w="12700">
            <a:solidFill>
              <a:srgbClr val="9DB2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Text 22"/>
          <p:cNvSpPr/>
          <p:nvPr/>
        </p:nvSpPr>
        <p:spPr>
          <a:xfrm>
            <a:off x="7589520" y="43891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73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Battle of Pasir Panjang</a:t>
            </a:r>
            <a:endParaRPr lang="en-US" sz="8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0C53B44-7D89-1653-656F-03BC951E6B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22533" r="61"/>
          <a:stretch>
            <a:fillRect/>
          </a:stretch>
        </p:blipFill>
        <p:spPr>
          <a:xfrm>
            <a:off x="3606191" y="2816284"/>
            <a:ext cx="1291538" cy="1426498"/>
          </a:xfrm>
          <a:prstGeom prst="rect">
            <a:avLst/>
          </a:prstGeom>
        </p:spPr>
      </p:pic>
      <p:sp>
        <p:nvSpPr>
          <p:cNvPr id="28" name="Text 8">
            <a:extLst>
              <a:ext uri="{FF2B5EF4-FFF2-40B4-BE49-F238E27FC236}">
                <a16:creationId xmlns:a16="http://schemas.microsoft.com/office/drawing/2014/main" id="{21E4870C-68C7-AE17-760E-6E329715F8D9}"/>
              </a:ext>
            </a:extLst>
          </p:cNvPr>
          <p:cNvSpPr/>
          <p:nvPr/>
        </p:nvSpPr>
        <p:spPr>
          <a:xfrm>
            <a:off x="5901146" y="3017520"/>
            <a:ext cx="2370908" cy="324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ALEX ALVIAN SAMSUL | B032310436</a:t>
            </a:r>
            <a:endParaRPr lang="en-US" sz="1100" dirty="0">
              <a:solidFill>
                <a:srgbClr val="27374D"/>
              </a:solidFill>
            </a:endParaRPr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18E999A5-73F3-1E64-9FCE-A209536FDD47}"/>
              </a:ext>
            </a:extLst>
          </p:cNvPr>
          <p:cNvSpPr/>
          <p:nvPr/>
        </p:nvSpPr>
        <p:spPr>
          <a:xfrm>
            <a:off x="5901146" y="3279614"/>
            <a:ext cx="2808514" cy="324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IKMAL FAIQ ALBAKRI BIN MUSTAFA ALBAKRI</a:t>
            </a:r>
            <a:endParaRPr lang="en-US" sz="1100" dirty="0">
              <a:solidFill>
                <a:srgbClr val="27374D"/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6D546C20-D4D9-AA15-6F6F-4E77AD6061AF}"/>
              </a:ext>
            </a:extLst>
          </p:cNvPr>
          <p:cNvSpPr/>
          <p:nvPr/>
        </p:nvSpPr>
        <p:spPr>
          <a:xfrm>
            <a:off x="5901146" y="3625378"/>
            <a:ext cx="3193868" cy="324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INFORMATION AND COMMUNICATION TECHNOLOGY</a:t>
            </a:r>
            <a:endParaRPr lang="en-US" sz="1100" dirty="0">
              <a:solidFill>
                <a:srgbClr val="27374D"/>
              </a:solidFill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ACA27804-0FBF-670E-D854-B1D36AA9CD62}"/>
              </a:ext>
            </a:extLst>
          </p:cNvPr>
          <p:cNvSpPr/>
          <p:nvPr/>
        </p:nvSpPr>
        <p:spPr>
          <a:xfrm>
            <a:off x="4944292" y="3021873"/>
            <a:ext cx="587828" cy="324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>
              <a:solidFill>
                <a:srgbClr val="27374D"/>
              </a:solidFill>
            </a:endParaRPr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63B0BA1D-1AE4-B9BF-EAEE-0BE1DD1C9900}"/>
              </a:ext>
            </a:extLst>
          </p:cNvPr>
          <p:cNvSpPr/>
          <p:nvPr/>
        </p:nvSpPr>
        <p:spPr>
          <a:xfrm>
            <a:off x="4937760" y="3281789"/>
            <a:ext cx="914400" cy="324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>
              <a:solidFill>
                <a:srgbClr val="27374D"/>
              </a:solidFill>
            </a:endParaRPr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8C7846B8-2B9E-1AC1-25DB-4C1E6C818809}"/>
              </a:ext>
            </a:extLst>
          </p:cNvPr>
          <p:cNvSpPr/>
          <p:nvPr/>
        </p:nvSpPr>
        <p:spPr>
          <a:xfrm>
            <a:off x="4962253" y="3563111"/>
            <a:ext cx="914400" cy="324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3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100" dirty="0">
              <a:solidFill>
                <a:srgbClr val="27374D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E5327A9-B37D-0315-BF4E-34D417535F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6793"/>
          <a:stretch>
            <a:fillRect/>
          </a:stretch>
        </p:blipFill>
        <p:spPr>
          <a:xfrm>
            <a:off x="-313508" y="-185892"/>
            <a:ext cx="2462348" cy="11002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/  PROBLEM BACKGROUND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503920" y="182880"/>
            <a:ext cx="457200" cy="457200"/>
          </a:xfrm>
          <a:prstGeom prst="ellipse">
            <a:avLst/>
          </a:prstGeom>
          <a:solidFill>
            <a:srgbClr val="9DB2BF"/>
          </a:solidFill>
          <a:ln w="12700">
            <a:solidFill>
              <a:srgbClr val="9DB2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27374D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27374D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D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Forgotten Hero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90472"/>
            <a:ext cx="1371600" cy="22860"/>
          </a:xfrm>
          <a:prstGeom prst="rect">
            <a:avLst/>
          </a:prstGeom>
          <a:solidFill>
            <a:srgbClr val="AABECB"/>
          </a:solidFill>
          <a:ln w="12700">
            <a:solidFill>
              <a:srgbClr val="AABEC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411480" y="161848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Lt. Adnan bin Saidi, refused to retreat at Battle of Pasir Panjang, 13–14 Feb 1942. Awareness among Malaysian youth is rapidly declining.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27374D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489204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Passive Traditional Media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92040" y="1490472"/>
            <a:ext cx="1371600" cy="2286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4892040" y="161848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Textbooks, documentaries &amp; static museum exhibits present history passively failing to engage digitally-native generations.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92608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DDE6ED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27374D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411480" y="3063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Limited VR Scope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1371600" cy="2286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411480" y="358444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VR historical apps offer single-perspective only. No dual-viewpoint experience exists for Malaysian military history.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526D82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27374D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4892040" y="3063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Weak Character Rep.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92040" y="3456432"/>
            <a:ext cx="1371600" cy="22860"/>
          </a:xfrm>
          <a:prstGeom prst="rect">
            <a:avLst/>
          </a:prstGeom>
          <a:solidFill>
            <a:srgbClr val="DDE6ED"/>
          </a:solidFill>
          <a:ln w="1270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4892040" y="358444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digital portrayals of Lt. Adnan lack realism and emotional depth needed to connect modern audiences.</a:t>
            </a:r>
            <a:endParaRPr lang="en-US" sz="105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E45139F7-8E4A-AD69-B4FF-08414491E774}"/>
              </a:ext>
            </a:extLst>
          </p:cNvPr>
          <p:cNvSpPr/>
          <p:nvPr/>
        </p:nvSpPr>
        <p:spPr>
          <a:xfrm>
            <a:off x="7719060" y="2388870"/>
            <a:ext cx="12420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MY" sz="1400" dirty="0" err="1"/>
              <a:t>Alnagrat</a:t>
            </a:r>
            <a:r>
              <a:rPr lang="en-MY" sz="1400" dirty="0"/>
              <a:t> 2022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  <p:txBody>
          <a:bodyPr/>
          <a:lstStyle/>
          <a:p>
            <a:endParaRPr lang="en-MY" dirty="0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/  PROBLEM STATEMENT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503920" y="182880"/>
            <a:ext cx="457200" cy="457200"/>
          </a:xfrm>
          <a:prstGeom prst="ellipse">
            <a:avLst/>
          </a:prstGeom>
          <a:solidFill>
            <a:srgbClr val="DDE6ED"/>
          </a:solidFill>
          <a:ln w="1270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115568"/>
          </a:xfrm>
          <a:prstGeom prst="roundRect">
            <a:avLst>
              <a:gd name="adj" fmla="val 8197"/>
            </a:avLst>
          </a:prstGeom>
          <a:solidFill>
            <a:srgbClr val="F7FAFC"/>
          </a:solidFill>
          <a:ln w="12700">
            <a:solidFill>
              <a:srgbClr val="DDE6ED"/>
            </a:solidFill>
            <a:prstDash val="solid"/>
          </a:ln>
          <a:effectLst>
            <a:outerShdw blurRad="63500" dist="25400" dir="2700000" algn="bl" rotWithShape="0">
              <a:srgbClr val="27374D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411480" y="1243584"/>
            <a:ext cx="640080" cy="530352"/>
          </a:xfrm>
          <a:prstGeom prst="roundRect">
            <a:avLst>
              <a:gd name="adj" fmla="val 13793"/>
            </a:avLst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411480" y="1243584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DE6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05156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Engaging Historical Presentation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417320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mediums, textbooks, museums, documentaries are passive and fail to create meaningful emotional engagement among younger, digitally-native generations.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258568"/>
            <a:ext cx="8595360" cy="1115568"/>
          </a:xfrm>
          <a:prstGeom prst="roundRect">
            <a:avLst>
              <a:gd name="adj" fmla="val 8197"/>
            </a:avLst>
          </a:prstGeom>
          <a:solidFill>
            <a:srgbClr val="F7FAFC"/>
          </a:solidFill>
          <a:ln w="12700">
            <a:solidFill>
              <a:srgbClr val="DDE6ED"/>
            </a:solidFill>
            <a:prstDash val="solid"/>
          </a:ln>
          <a:effectLst>
            <a:outerShdw blurRad="63500" dist="25400" dir="2700000" algn="bl" rotWithShape="0">
              <a:srgbClr val="27374D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411480" y="2542032"/>
            <a:ext cx="640080" cy="530352"/>
          </a:xfrm>
          <a:prstGeom prst="roundRect">
            <a:avLst>
              <a:gd name="adj" fmla="val 13793"/>
            </a:avLst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411480" y="2542032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DE6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2350008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Dual-Perspective VR Experience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2715768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VR apps offer single-perspective only. Users cannot experience BOTH Lt. Adnan's command decisions AND the soldier's ground-level combat perspective.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557016"/>
            <a:ext cx="8595360" cy="1115568"/>
          </a:xfrm>
          <a:prstGeom prst="roundRect">
            <a:avLst>
              <a:gd name="adj" fmla="val 8197"/>
            </a:avLst>
          </a:prstGeom>
          <a:solidFill>
            <a:srgbClr val="F7FAFC"/>
          </a:solidFill>
          <a:ln w="12700">
            <a:solidFill>
              <a:srgbClr val="DDE6ED"/>
            </a:solidFill>
            <a:prstDash val="solid"/>
          </a:ln>
          <a:effectLst>
            <a:outerShdw blurRad="63500" dist="25400" dir="2700000" algn="bl" rotWithShape="0">
              <a:srgbClr val="27374D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411480" y="3840480"/>
            <a:ext cx="640080" cy="530352"/>
          </a:xfrm>
          <a:prstGeom prst="roundRect">
            <a:avLst>
              <a:gd name="adj" fmla="val 13793"/>
            </a:avLst>
          </a:prstGeom>
          <a:solidFill>
            <a:srgbClr val="9DB2BF"/>
          </a:solidFill>
          <a:ln w="12700">
            <a:solidFill>
              <a:srgbClr val="9DB2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411480" y="3840480"/>
            <a:ext cx="640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37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3648456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3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Unconvincing Character Representation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4014216"/>
            <a:ext cx="7406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digital portrayals of Lt. Adnan lack realism and emotional depth failing to convey the humanity and heroism of the man behind the legend.</a:t>
            </a:r>
            <a:endParaRPr lang="en-US" sz="105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E908CD23-AC41-4A3D-316C-FAF02D742661}"/>
              </a:ext>
            </a:extLst>
          </p:cNvPr>
          <p:cNvSpPr/>
          <p:nvPr/>
        </p:nvSpPr>
        <p:spPr>
          <a:xfrm>
            <a:off x="7687310" y="1787906"/>
            <a:ext cx="12420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MY" sz="1400" b="1" dirty="0" err="1"/>
              <a:t>Alnagrat</a:t>
            </a:r>
            <a:r>
              <a:rPr lang="en-MY" sz="1400" b="1" dirty="0"/>
              <a:t> 2022</a:t>
            </a:r>
            <a:endParaRPr lang="en-US" sz="1300" b="1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BB09CF51-FBB2-0791-8DEE-833973C23A26}"/>
              </a:ext>
            </a:extLst>
          </p:cNvPr>
          <p:cNvSpPr/>
          <p:nvPr/>
        </p:nvSpPr>
        <p:spPr>
          <a:xfrm>
            <a:off x="7557135" y="1956943"/>
            <a:ext cx="150241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MY" sz="1400" b="1" dirty="0"/>
              <a:t>Richardson, 2024</a:t>
            </a:r>
            <a:r>
              <a:rPr lang="en-MY" sz="1400" dirty="0"/>
              <a:t> 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DE6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/  RESEARCH AIM &amp; OBJECTIVES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503920" y="182880"/>
            <a:ext cx="457200" cy="457200"/>
          </a:xfrm>
          <a:prstGeom prst="ellipse">
            <a:avLst/>
          </a:prstGeom>
          <a:solidFill>
            <a:srgbClr val="9DB2BF"/>
          </a:solidFill>
          <a:ln w="12700">
            <a:solidFill>
              <a:srgbClr val="9DB2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051560"/>
          </a:xfrm>
          <a:prstGeom prst="roundRect">
            <a:avLst>
              <a:gd name="adj" fmla="val 10435"/>
            </a:avLst>
          </a:prstGeom>
          <a:solidFill>
            <a:srgbClr val="27374D"/>
          </a:solidFill>
          <a:ln/>
          <a:effectLst>
            <a:outerShdw blurRad="127000" dist="38100" dir="2700000" algn="bl" rotWithShape="0">
              <a:srgbClr val="27374D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RESEARCH AIM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 immersive VR application using Unreal Engine 5 and custom character assets implementing a perspective switching mechanism, enabling users to experience Lt. Adnan bin Saidi's story from dual viewpoints.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176272"/>
            <a:ext cx="85953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2700000" algn="bl" rotWithShape="0">
              <a:srgbClr val="27374D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438912" y="2350008"/>
            <a:ext cx="457200" cy="457200"/>
          </a:xfrm>
          <a:prstGeom prst="ellipse">
            <a:avLst/>
          </a:prstGeom>
          <a:solidFill>
            <a:srgbClr val="27374D"/>
          </a:solidFill>
          <a:ln w="12700">
            <a:solidFill>
              <a:srgbClr val="27374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438912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2249424"/>
            <a:ext cx="7635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historical background of Lt. Adnan's battle and requirements for developing a VR application with perspective switching using Unreal Engine 5.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85953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2700000" algn="bl" rotWithShape="0">
              <a:srgbClr val="27374D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438912" y="3282696"/>
            <a:ext cx="457200" cy="457200"/>
          </a:xfrm>
          <a:prstGeom prst="ellipse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438912" y="3282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3182112"/>
            <a:ext cx="7635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VR application featuring a 3D character representation of Lt. Adnan and a perspective switching mechanism between first-person viewpoints.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041648"/>
            <a:ext cx="859536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2700000" algn="bl" rotWithShape="0">
              <a:srgbClr val="27374D">
                <a:alpha val="10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438912" y="4215384"/>
            <a:ext cx="457200" cy="457200"/>
          </a:xfrm>
          <a:prstGeom prst="ellipse">
            <a:avLst/>
          </a:prstGeom>
          <a:solidFill>
            <a:srgbClr val="9DB2BF"/>
          </a:solidFill>
          <a:ln w="12700">
            <a:solidFill>
              <a:srgbClr val="9DB2B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438912" y="4215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4114800"/>
            <a:ext cx="7635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effectiveness of the VR application and perspective switching mechanism in supporting historical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26D82"/>
          </a:solidFill>
          <a:ln w="12700">
            <a:solidFill>
              <a:srgbClr val="526D82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/  SCOPE OF RESEARCH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503920" y="182880"/>
            <a:ext cx="457200" cy="457200"/>
          </a:xfrm>
          <a:prstGeom prst="ellipse">
            <a:avLst/>
          </a:prstGeom>
          <a:solidFill>
            <a:srgbClr val="DDE6ED"/>
          </a:solidFill>
          <a:ln w="12700">
            <a:solidFill>
              <a:srgbClr val="DDE6E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834640" cy="3291840"/>
          </a:xfrm>
          <a:prstGeom prst="roundRect">
            <a:avLst>
              <a:gd name="adj" fmla="val 4839"/>
            </a:avLst>
          </a:prstGeom>
          <a:solidFill>
            <a:srgbClr val="27374D"/>
          </a:solidFill>
          <a:ln/>
          <a:effectLst>
            <a:outerShdw blurRad="127000" dist="38100" dir="2700000" algn="bl" rotWithShape="0">
              <a:srgbClr val="27374D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228600" y="10972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👥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8600" y="171907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kern="0" spc="100" dirty="0">
                <a:solidFill>
                  <a:srgbClr val="9DB2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450592"/>
            <a:ext cx="1463040" cy="22860"/>
          </a:xfrm>
          <a:prstGeom prst="rect">
            <a:avLst/>
          </a:prstGeom>
          <a:solidFill>
            <a:srgbClr val="9DB2BF">
              <a:alpha val="40000"/>
            </a:srgbClr>
          </a:solidFill>
          <a:ln w="12700">
            <a:solidFill>
              <a:srgbClr val="9DB2B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Text 7"/>
          <p:cNvSpPr/>
          <p:nvPr/>
        </p:nvSpPr>
        <p:spPr>
          <a:xfrm>
            <a:off x="365760" y="2578608"/>
            <a:ext cx="2560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educators &amp; history enthusiasts. Focused on younger, digitally native Malaysians with limited knowledge of Lt. Adnan's story.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82112" y="960120"/>
            <a:ext cx="2834640" cy="3291840"/>
          </a:xfrm>
          <a:prstGeom prst="roundRect">
            <a:avLst>
              <a:gd name="adj" fmla="val 4839"/>
            </a:avLst>
          </a:prstGeom>
          <a:solidFill>
            <a:srgbClr val="DDE6ED"/>
          </a:solidFill>
          <a:ln/>
          <a:effectLst>
            <a:outerShdw blurRad="127000" dist="38100" dir="2700000" algn="bl" rotWithShape="0">
              <a:srgbClr val="27374D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Text 9"/>
          <p:cNvSpPr/>
          <p:nvPr/>
        </p:nvSpPr>
        <p:spPr>
          <a:xfrm>
            <a:off x="3182112" y="10972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🖥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182112" y="171907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526D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67912" y="2450592"/>
            <a:ext cx="1463040" cy="22860"/>
          </a:xfrm>
          <a:prstGeom prst="rect">
            <a:avLst/>
          </a:prstGeom>
          <a:solidFill>
            <a:srgbClr val="526D82">
              <a:alpha val="40000"/>
            </a:srgbClr>
          </a:solidFill>
          <a:ln w="12700">
            <a:solidFill>
              <a:srgbClr val="526D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3319272" y="2578608"/>
            <a:ext cx="2560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Engine 5.5 deployed on Meta Quest 2 VR headset via Oculus Link cable pipeline for real-time immersive testing.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35624" y="960120"/>
            <a:ext cx="2834640" cy="3291840"/>
          </a:xfrm>
          <a:prstGeom prst="roundRect">
            <a:avLst>
              <a:gd name="adj" fmla="val 4839"/>
            </a:avLst>
          </a:prstGeom>
          <a:solidFill>
            <a:srgbClr val="526D82"/>
          </a:solidFill>
          <a:ln/>
          <a:effectLst>
            <a:outerShdw blurRad="127000" dist="38100" dir="2700000" algn="bl" rotWithShape="0">
              <a:srgbClr val="27374D">
                <a:alpha val="15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6135624" y="10972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🎭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35624" y="171907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DD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kern="0" spc="100" dirty="0">
                <a:solidFill>
                  <a:srgbClr val="DD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21424" y="2450592"/>
            <a:ext cx="1463040" cy="22860"/>
          </a:xfrm>
          <a:prstGeom prst="rect">
            <a:avLst/>
          </a:prstGeom>
          <a:solidFill>
            <a:srgbClr val="DDE6ED">
              <a:alpha val="40000"/>
            </a:srgbClr>
          </a:solidFill>
          <a:ln w="12700">
            <a:solidFill>
              <a:srgbClr val="DDE6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6272784" y="2578608"/>
            <a:ext cx="2560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immersive educational VR. Malaysian heritage preservation through dual-perspective storytelling of 1942.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4407408"/>
            <a:ext cx="8686800" cy="566928"/>
          </a:xfrm>
          <a:prstGeom prst="roundRect">
            <a:avLst>
              <a:gd name="adj" fmla="val 12903"/>
            </a:avLst>
          </a:prstGeom>
          <a:solidFill>
            <a:srgbClr val="DDE6ED"/>
          </a:solidFill>
          <a:ln w="12700">
            <a:solidFill>
              <a:srgbClr val="9DB2BF"/>
            </a:solidFill>
            <a:prstDash val="solid"/>
          </a:ln>
          <a:effectLst>
            <a:outerShdw blurRad="63500" dist="25400" dir="2700000" algn="bl" rotWithShape="0">
              <a:srgbClr val="27374D">
                <a:alpha val="10000"/>
              </a:srgbClr>
            </a:outerShdw>
          </a:effectLst>
        </p:spPr>
        <p:txBody>
          <a:bodyPr/>
          <a:lstStyle/>
          <a:p>
            <a:endParaRPr lang="en-MY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448</Words>
  <Application>Microsoft Office PowerPoint</Application>
  <PresentationFormat>On-screen Show (16:9)</PresentationFormat>
  <Paragraphs>72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 ALVIAN SAMSUL</cp:lastModifiedBy>
  <cp:revision>11</cp:revision>
  <dcterms:created xsi:type="dcterms:W3CDTF">2026-06-24T23:06:13Z</dcterms:created>
  <dcterms:modified xsi:type="dcterms:W3CDTF">2026-07-06T05:42:29Z</dcterms:modified>
</cp:coreProperties>
</file>