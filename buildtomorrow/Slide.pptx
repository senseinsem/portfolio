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and introduce the team by name and role. State the project title clearly: Build Tomorrow, a Smart Eco-Home VR Experience built for BITM3223. Mention it targets SDG 7, 11, and 12, and that it was built in Unity 6 as a third-person interactive environment. Keep this to 30-40 seconds - it's just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premise in one breath: the player starts in a smart home with no power and must restore it. Point to the core loop diagram on the right and walk through it left to right: home with power out, travel to the solar station to fix the real problem, then return to a fully powered home. Emphasise that this loop is the spine the whole project is built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SDG card briefly: SDG 7 because the whole mission is about repairing renewable energy infrastructure; SDG 11 because the smart-home setting itself models sustainable urban living; SDG 12 because the story rewards fixing and reusing rather than wasteful consumption. Close with the learning objective line to tie the SDGs back to the module's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left to right, top row then bottom row. Keep each step to one short sentence - this slide is a map of the whole playthrough, not a deep dive. Mention that steps 1-2 happen in the Smart Home, step 3 is the portal, steps 4-5 happen at the Solar Station, and step 6 brings the player back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Environment 1, the Smart Home, built with the Sci-Fi/Modern modular asset set adapted for a home interior. Point out the Living Room as the starting area with the main switch, then quickly name the other rooms - Bedroom, Kitchen - and the Television, which stays off until power is restored later. If you have a live screenshot or clip, swap it into the placeholder frame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Environment 2, the Rooftop Solar Station, reached through the portal. Highlight the solar panels as the main repair objective, the key collection area the player must find first, and the storage area the key unlocks. Mention the trees and flowers briefly - they reinforce the green energy theme even in an outdoor mechanical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portal as the bridge between the two scenes, shown in the diagram going Scene 1 to Scene 2 and back. Cover the technical side briefly from the left card - trigger collider, Scene Management, spawn points - then explain the design reasoning from the right card: why a portal rather than one giant open world made sense for this project's scope and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across the five GUI elements in order of when the player sees them: Main Menu first, then the Mission HUD and Objective List during play, the Loading Screen during transitions, and finally the End Screen. Name the three concrete objectives shown - Obtain Key, Repair Solar Panels, Activate Main Switch - since these map directly to the mission manager shown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eight player actions quickly, grouping them mentally as movement (walk, explore rooms, explore rooftop), portal use, and objective actions (collect key, repair panels, activate switches, complete objectives). Close with the bottom banner: all of this runs on Unity's New Input System with E and F key bindings, not the legacy Input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overview - speak to it as a system map rather than reading every card. Group them for the audience: Unity 6 and C# are the foundation; Scene Management and Portal Transition move the player between environments; Mission Manager and Story Manager drive progression; Player Controller, Interaction System, and GUI System handle everything the player directly sees and touches.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left card first - art style and storytelling decisions - then use the right card to justify them. Key point to land: the blackout premise was chosen specifically because it gates every mission behind restoring power, so nothing in the game feels optional or disconnected from the sustainability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short, honest retrospective - one sentence per row. Lighting issues were solved through Environment Lighting, Skybox, and regenerated lightmaps. Portal transitions needed correct spawn points and Scene Management. Mission tracking required wiring every interaction into the Mission Manager and GUI. Interactive objects relied on Trigger Colliders paired with C#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slightly on this slide - it's the reflective, marks-earning moment. For each SDG, connect the gameplay mechanic to the real-world idea: repairing solar panels mirrors real renewable energy maintenance (SDG 7), the smart home mirrors sustainable urban housing (SDG 11), and fixing rather than replacing models responsible consumption (SDG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screen recording or live demo here. While it plays, narrate briefly using the checklist on the right so the audience knows what to watch for: blackout state, exploration, the portal trip, the key and panel repair, returning and flipping the main switch, then lights, TV, and the Congratulations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achievements on screen without re-reading them word for word. End warmly: thank the panel/lecturer for their time and open the floor for questions. If asked about future work, mention possible extensions like additional rooms, more renewable-energy objectives, or multiplayer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2E"/>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12503E"/>
          </a:solidFill>
          <a:ln/>
        </p:spPr>
      </p:sp>
      <p:sp>
        <p:nvSpPr>
          <p:cNvPr id="3" name="Shape 1"/>
          <p:cNvSpPr/>
          <p:nvPr/>
        </p:nvSpPr>
        <p:spPr>
          <a:xfrm>
            <a:off x="-1645920" y="4206240"/>
            <a:ext cx="4572000" cy="4572000"/>
          </a:xfrm>
          <a:prstGeom prst="ellipse">
            <a:avLst/>
          </a:prstGeom>
          <a:solidFill>
            <a:srgbClr val="0F4436"/>
          </a:solidFill>
          <a:ln/>
        </p:spPr>
      </p:sp>
      <p:sp>
        <p:nvSpPr>
          <p:cNvPr id="4" name="Shape 2"/>
          <p:cNvSpPr/>
          <p:nvPr/>
        </p:nvSpPr>
        <p:spPr>
          <a:xfrm>
            <a:off x="777240" y="777240"/>
            <a:ext cx="777240" cy="77724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5" name="Image 0" descr="preencoded.png">    </p:cNvPr>
          <p:cNvPicPr>
            <a:picLocks noChangeAspect="1"/>
          </p:cNvPicPr>
          <p:nvPr/>
        </p:nvPicPr>
        <p:blipFill>
          <a:blip r:embed="rId1"/>
          <a:stretch>
            <a:fillRect/>
          </a:stretch>
        </p:blipFill>
        <p:spPr>
          <a:xfrm>
            <a:off x="878281" y="878281"/>
            <a:ext cx="575158" cy="575158"/>
          </a:xfrm>
          <a:prstGeom prst="rect">
            <a:avLst/>
          </a:prstGeom>
        </p:spPr>
      </p:pic>
      <p:sp>
        <p:nvSpPr>
          <p:cNvPr id="6" name="Text 3"/>
          <p:cNvSpPr/>
          <p:nvPr/>
        </p:nvSpPr>
        <p:spPr>
          <a:xfrm>
            <a:off x="777240" y="1965960"/>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SDG 7 · 11 · 12   —   RENEWABLE ENERGY &amp; SMART LIVING</a:t>
            </a:r>
            <a:endParaRPr lang="en-US" sz="1300" dirty="0"/>
          </a:p>
        </p:txBody>
      </p:sp>
      <p:sp>
        <p:nvSpPr>
          <p:cNvPr id="7" name="Text 4"/>
          <p:cNvSpPr/>
          <p:nvPr/>
        </p:nvSpPr>
        <p:spPr>
          <a:xfrm>
            <a:off x="731520" y="228600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Build Tomorrow</a:t>
            </a:r>
            <a:endParaRPr lang="en-US" sz="5400" dirty="0"/>
          </a:p>
        </p:txBody>
      </p:sp>
      <p:sp>
        <p:nvSpPr>
          <p:cNvPr id="8" name="Text 5"/>
          <p:cNvSpPr/>
          <p:nvPr/>
        </p:nvSpPr>
        <p:spPr>
          <a:xfrm>
            <a:off x="777240" y="3246120"/>
            <a:ext cx="10058400" cy="640080"/>
          </a:xfrm>
          <a:prstGeom prst="rect">
            <a:avLst/>
          </a:prstGeom>
          <a:noFill/>
          <a:ln/>
        </p:spPr>
        <p:txBody>
          <a:bodyPr wrap="square" lIns="0" tIns="0" rIns="0" bIns="0" rtlCol="0" anchor="ctr"/>
          <a:lstStyle/>
          <a:p>
            <a:pPr indent="0" marL="0">
              <a:buNone/>
            </a:pPr>
            <a:r>
              <a:rPr lang="en-US" sz="2400" i="1" dirty="0">
                <a:solidFill>
                  <a:srgbClr val="BFE7D8"/>
                </a:solidFill>
                <a:latin typeface="Calibri" pitchFamily="34" charset="0"/>
                <a:ea typeface="Calibri" pitchFamily="34" charset="-122"/>
                <a:cs typeface="Calibri" pitchFamily="34" charset="-120"/>
              </a:rPr>
              <a:t>Smart Eco-Home VR Experience</a:t>
            </a:r>
            <a:endParaRPr lang="en-US" sz="2400" dirty="0"/>
          </a:p>
        </p:txBody>
      </p:sp>
      <p:sp>
        <p:nvSpPr>
          <p:cNvPr id="9" name="Shape 6"/>
          <p:cNvSpPr/>
          <p:nvPr/>
        </p:nvSpPr>
        <p:spPr>
          <a:xfrm>
            <a:off x="777240" y="4114800"/>
            <a:ext cx="0" cy="1234440"/>
          </a:xfrm>
          <a:prstGeom prst="line">
            <a:avLst/>
          </a:prstGeom>
          <a:noFill/>
          <a:ln w="15875">
            <a:solidFill>
              <a:srgbClr val="2C6656"/>
            </a:solidFill>
            <a:prstDash val="solid"/>
          </a:ln>
        </p:spPr>
      </p:sp>
      <p:sp>
        <p:nvSpPr>
          <p:cNvPr id="10" name="Text 7"/>
          <p:cNvSpPr/>
          <p:nvPr/>
        </p:nvSpPr>
        <p:spPr>
          <a:xfrm>
            <a:off x="1051560" y="4160520"/>
            <a:ext cx="9601200" cy="365760"/>
          </a:xfrm>
          <a:prstGeom prst="rect">
            <a:avLst/>
          </a:prstGeom>
          <a:noFill/>
          <a:ln/>
        </p:spPr>
        <p:txBody>
          <a:bodyPr wrap="square" lIns="0" tIns="0" rIns="0" bIns="0" rtlCol="0" anchor="ctr"/>
          <a:lstStyle/>
          <a:p>
            <a:pPr indent="0" marL="0">
              <a:buNone/>
            </a:pPr>
            <a:r>
              <a:rPr lang="en-US" sz="1300" dirty="0">
                <a:solidFill>
                  <a:srgbClr val="BFE7D8"/>
                </a:solidFill>
                <a:latin typeface="Calibri" pitchFamily="34" charset="0"/>
                <a:ea typeface="Calibri" pitchFamily="34" charset="-122"/>
                <a:cs typeface="Calibri" pitchFamily="34" charset="-120"/>
              </a:rPr>
              <a:t>BITM3223 · Virtual Reality Technology  |  Unity 6  |  Third-Person VR Interactive Environment</a:t>
            </a:r>
            <a:endParaRPr lang="en-US" sz="1300" dirty="0"/>
          </a:p>
        </p:txBody>
      </p:sp>
      <p:sp>
        <p:nvSpPr>
          <p:cNvPr id="11" name="Shape 8"/>
          <p:cNvSpPr/>
          <p:nvPr/>
        </p:nvSpPr>
        <p:spPr>
          <a:xfrm>
            <a:off x="1051560" y="4709160"/>
            <a:ext cx="9692640" cy="1417320"/>
          </a:xfrm>
          <a:prstGeom prst="roundRect">
            <a:avLst>
              <a:gd name="adj" fmla="val 5806"/>
            </a:avLst>
          </a:prstGeom>
          <a:solidFill>
            <a:srgbClr val="0F4436"/>
          </a:solidFill>
          <a:ln/>
          <a:effectLst>
            <a:outerShdw sx="100000" sy="100000" kx="0" ky="0" algn="bl" rotWithShape="0" blurRad="101600" dist="38100" dir="2700000">
              <a:srgbClr val="0B2A20">
                <a:alpha val="12000"/>
              </a:srgbClr>
            </a:outerShdw>
          </a:effectLst>
        </p:spPr>
      </p:sp>
      <p:sp>
        <p:nvSpPr>
          <p:cNvPr id="12" name="Text 9"/>
          <p:cNvSpPr/>
          <p:nvPr/>
        </p:nvSpPr>
        <p:spPr>
          <a:xfrm>
            <a:off x="1325880" y="4892040"/>
            <a:ext cx="3657600" cy="274320"/>
          </a:xfrm>
          <a:prstGeom prst="rect">
            <a:avLst/>
          </a:prstGeom>
          <a:noFill/>
          <a:ln/>
        </p:spPr>
        <p:txBody>
          <a:bodyPr wrap="square" lIns="0" tIns="0" rIns="0" bIns="0"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TEAM MEMBERS</a:t>
            </a:r>
            <a:endParaRPr lang="en-US" sz="1100" dirty="0"/>
          </a:p>
        </p:txBody>
      </p:sp>
      <p:sp>
        <p:nvSpPr>
          <p:cNvPr id="13" name="Text 10"/>
          <p:cNvSpPr/>
          <p:nvPr/>
        </p:nvSpPr>
        <p:spPr>
          <a:xfrm>
            <a:off x="1325880" y="5193792"/>
            <a:ext cx="8961120" cy="8686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E8F5EF"/>
                </a:solidFill>
                <a:latin typeface="Calibri" pitchFamily="34" charset="0"/>
                <a:ea typeface="Calibri" pitchFamily="34" charset="-122"/>
                <a:cs typeface="Calibri" pitchFamily="34" charset="-120"/>
              </a:rPr>
              <a:t>Nurul — Team Lead &amp; Unity Developer</a:t>
            </a:r>
            <a:endParaRPr lang="en-US" sz="1350" dirty="0"/>
          </a:p>
          <a:p>
            <a:pPr marL="177800" indent="-177800">
              <a:spcAft>
                <a:spcPts val="600"/>
              </a:spcAft>
              <a:buSzPct val="100000"/>
              <a:buChar char="●"/>
            </a:pPr>
            <a:r>
              <a:rPr lang="en-US" sz="1350" dirty="0">
                <a:solidFill>
                  <a:srgbClr val="E8F5EF"/>
                </a:solidFill>
                <a:latin typeface="Calibri" pitchFamily="34" charset="0"/>
                <a:ea typeface="Calibri" pitchFamily="34" charset="-122"/>
                <a:cs typeface="Calibri" pitchFamily="34" charset="-120"/>
              </a:rPr>
              <a:t>Member 2 — Environment &amp; Asset Design</a:t>
            </a:r>
            <a:endParaRPr lang="en-US" sz="1350" dirty="0"/>
          </a:p>
          <a:p>
            <a:pPr marL="177800" indent="-177800">
              <a:spcAft>
                <a:spcPts val="600"/>
              </a:spcAft>
              <a:buSzPct val="100000"/>
              <a:buChar char="●"/>
            </a:pPr>
            <a:r>
              <a:rPr lang="en-US" sz="1350" dirty="0">
                <a:solidFill>
                  <a:srgbClr val="E8F5EF"/>
                </a:solidFill>
                <a:latin typeface="Calibri" pitchFamily="34" charset="0"/>
                <a:ea typeface="Calibri" pitchFamily="34" charset="-122"/>
                <a:cs typeface="Calibri" pitchFamily="34" charset="-120"/>
              </a:rPr>
              <a:t>Member 3 — Interaction &amp; UI Systems</a:t>
            </a:r>
            <a:endParaRPr lang="en-US" sz="1350" dirty="0"/>
          </a:p>
          <a:p>
            <a:pPr marL="177800" indent="-177800">
              <a:spcAft>
                <a:spcPts val="600"/>
              </a:spcAft>
              <a:buSzPct val="100000"/>
              <a:buChar char="●"/>
            </a:pPr>
            <a:r>
              <a:rPr lang="en-US" sz="1350" dirty="0">
                <a:solidFill>
                  <a:srgbClr val="E8F5EF"/>
                </a:solidFill>
                <a:latin typeface="Calibri" pitchFamily="34" charset="0"/>
                <a:ea typeface="Calibri" pitchFamily="34" charset="-122"/>
                <a:cs typeface="Calibri" pitchFamily="34" charset="-120"/>
              </a:rPr>
              <a:t>Member 4 — Documentation &amp; Presentation</a:t>
            </a:r>
            <a:endParaRPr lang="en-US" sz="1350" dirty="0"/>
          </a:p>
        </p:txBody>
      </p:sp>
      <p:sp>
        <p:nvSpPr>
          <p:cNvPr id="15" name="Text 11"/>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FD9C6"/>
                </a:solidFill>
                <a:latin typeface="Calibri" pitchFamily="34" charset="0"/>
                <a:ea typeface="Calibri" pitchFamily="34" charset="-122"/>
                <a:cs typeface="Calibri" pitchFamily="34" charset="-120"/>
              </a:rPr>
              <a:t>BITM3223 · Virtual Reality Technology</a:t>
            </a:r>
            <a:endParaRPr lang="en-US" sz="900" dirty="0"/>
          </a:p>
        </p:txBody>
      </p:sp>
      <p:sp>
        <p:nvSpPr>
          <p:cNvPr id="16" name="Text 1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FD9C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PROJECT OVERVIEW</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A Home Powered by Renewable Energy</a:t>
            </a:r>
            <a:endParaRPr lang="en-US" sz="3000" dirty="0"/>
          </a:p>
        </p:txBody>
      </p:sp>
      <p:sp>
        <p:nvSpPr>
          <p:cNvPr id="4" name="Shape 2"/>
          <p:cNvSpPr/>
          <p:nvPr/>
        </p:nvSpPr>
        <p:spPr>
          <a:xfrm>
            <a:off x="548640" y="1600200"/>
            <a:ext cx="6400800" cy="4480560"/>
          </a:xfrm>
          <a:prstGeom prst="roundRect">
            <a:avLst>
              <a:gd name="adj" fmla="val 1837"/>
            </a:avLst>
          </a:prstGeom>
          <a:solidFill>
            <a:srgbClr val="FFFFFF"/>
          </a:solidFill>
          <a:ln/>
          <a:effectLst>
            <a:outerShdw sx="100000" sy="100000" kx="0" ky="0" algn="bl" rotWithShape="0" blurRad="101600" dist="38100" dir="2700000">
              <a:srgbClr val="0B2A20">
                <a:alpha val="12000"/>
              </a:srgbClr>
            </a:outerShdw>
          </a:effectLst>
        </p:spPr>
      </p:sp>
      <p:sp>
        <p:nvSpPr>
          <p:cNvPr id="5" name="Text 3"/>
          <p:cNvSpPr/>
          <p:nvPr/>
        </p:nvSpPr>
        <p:spPr>
          <a:xfrm>
            <a:off x="868680" y="1874520"/>
            <a:ext cx="5760720" cy="4023360"/>
          </a:xfrm>
          <a:prstGeom prst="rect">
            <a:avLst/>
          </a:prstGeom>
          <a:noFill/>
          <a:ln/>
        </p:spPr>
        <p:txBody>
          <a:bodyPr wrap="square" lIns="0" tIns="0" rIns="0" bIns="0" rtlCol="0" anchor="t"/>
          <a:lstStyle/>
          <a:p>
            <a:pPr marL="228600" indent="-228600">
              <a:lnSpc>
                <a:spcPct val="108000"/>
              </a:lnSpc>
              <a:spcAft>
                <a:spcPts val="1600"/>
              </a:spcAft>
              <a:buSzPct val="100000"/>
              <a:buChar char="●"/>
            </a:pPr>
            <a:r>
              <a:rPr lang="en-US" sz="1500" dirty="0">
                <a:solidFill>
                  <a:srgbClr val="16241F"/>
                </a:solidFill>
                <a:latin typeface="Calibri" pitchFamily="34" charset="0"/>
                <a:ea typeface="Calibri" pitchFamily="34" charset="-122"/>
                <a:cs typeface="Calibri" pitchFamily="34" charset="-120"/>
              </a:rPr>
              <a:t>Third-person interactive 3D VR environment built in Unity 6</a:t>
            </a:r>
            <a:endParaRPr lang="en-US" sz="1500" dirty="0"/>
          </a:p>
          <a:p>
            <a:pPr marL="228600" indent="-228600">
              <a:lnSpc>
                <a:spcPct val="108000"/>
              </a:lnSpc>
              <a:spcAft>
                <a:spcPts val="1600"/>
              </a:spcAft>
              <a:buSzPct val="100000"/>
              <a:buChar char="●"/>
            </a:pPr>
            <a:r>
              <a:rPr lang="en-US" sz="1500" dirty="0">
                <a:solidFill>
                  <a:srgbClr val="16241F"/>
                </a:solidFill>
                <a:latin typeface="Calibri" pitchFamily="34" charset="0"/>
                <a:ea typeface="Calibri" pitchFamily="34" charset="-122"/>
                <a:cs typeface="Calibri" pitchFamily="34" charset="-120"/>
              </a:rPr>
              <a:t>Player restores power to a modern smart home by repairing renewable energy infrastructure</a:t>
            </a:r>
            <a:endParaRPr lang="en-US" sz="1500" dirty="0"/>
          </a:p>
          <a:p>
            <a:pPr marL="228600" indent="-228600">
              <a:lnSpc>
                <a:spcPct val="108000"/>
              </a:lnSpc>
              <a:spcAft>
                <a:spcPts val="1600"/>
              </a:spcAft>
              <a:buSzPct val="100000"/>
              <a:buChar char="●"/>
            </a:pPr>
            <a:r>
              <a:rPr lang="en-US" sz="1500" dirty="0">
                <a:solidFill>
                  <a:srgbClr val="16241F"/>
                </a:solidFill>
                <a:latin typeface="Calibri" pitchFamily="34" charset="0"/>
                <a:ea typeface="Calibri" pitchFamily="34" charset="-122"/>
                <a:cs typeface="Calibri" pitchFamily="34" charset="-120"/>
              </a:rPr>
              <a:t>Two connected environments: an indoor Smart Home and an outdoor Rooftop Solar Station</a:t>
            </a:r>
            <a:endParaRPr lang="en-US" sz="1500" dirty="0"/>
          </a:p>
          <a:p>
            <a:pPr marL="228600" indent="-228600">
              <a:lnSpc>
                <a:spcPct val="108000"/>
              </a:lnSpc>
              <a:spcAft>
                <a:spcPts val="1600"/>
              </a:spcAft>
              <a:buSzPct val="100000"/>
              <a:buChar char="●"/>
            </a:pPr>
            <a:r>
              <a:rPr lang="en-US" sz="1500" dirty="0">
                <a:solidFill>
                  <a:srgbClr val="16241F"/>
                </a:solidFill>
                <a:latin typeface="Calibri" pitchFamily="34" charset="0"/>
                <a:ea typeface="Calibri" pitchFamily="34" charset="-122"/>
                <a:cs typeface="Calibri" pitchFamily="34" charset="-120"/>
              </a:rPr>
              <a:t>Story-driven, mission-based progression with a clear beginning, middle, and end</a:t>
            </a:r>
            <a:endParaRPr lang="en-US" sz="1500" dirty="0"/>
          </a:p>
          <a:p>
            <a:pPr marL="228600" indent="-228600">
              <a:lnSpc>
                <a:spcPct val="108000"/>
              </a:lnSpc>
              <a:spcAft>
                <a:spcPts val="1600"/>
              </a:spcAft>
              <a:buSzPct val="100000"/>
              <a:buChar char="●"/>
            </a:pPr>
            <a:r>
              <a:rPr lang="en-US" sz="1500" dirty="0">
                <a:solidFill>
                  <a:srgbClr val="16241F"/>
                </a:solidFill>
                <a:latin typeface="Calibri" pitchFamily="34" charset="0"/>
                <a:ea typeface="Calibri" pitchFamily="34" charset="-122"/>
                <a:cs typeface="Calibri" pitchFamily="34" charset="-120"/>
              </a:rPr>
              <a:t>Combines gameplay mechanics (pickup, repair, activation) with an environmental education message</a:t>
            </a:r>
            <a:endParaRPr lang="en-US" sz="1500" dirty="0"/>
          </a:p>
        </p:txBody>
      </p:sp>
      <p:sp>
        <p:nvSpPr>
          <p:cNvPr id="6" name="Shape 4"/>
          <p:cNvSpPr/>
          <p:nvPr/>
        </p:nvSpPr>
        <p:spPr>
          <a:xfrm>
            <a:off x="7223760" y="1600200"/>
            <a:ext cx="4434840" cy="4480560"/>
          </a:xfrm>
          <a:prstGeom prst="roundRect">
            <a:avLst>
              <a:gd name="adj" fmla="val 1856"/>
            </a:avLst>
          </a:prstGeom>
          <a:solidFill>
            <a:srgbClr val="134D3B"/>
          </a:solidFill>
          <a:ln/>
          <a:effectLst>
            <a:outerShdw sx="100000" sy="100000" kx="0" ky="0" algn="bl" rotWithShape="0" blurRad="101600" dist="38100" dir="2700000">
              <a:srgbClr val="0B2A20">
                <a:alpha val="12000"/>
              </a:srgbClr>
            </a:outerShdw>
          </a:effectLst>
        </p:spPr>
      </p:sp>
      <p:sp>
        <p:nvSpPr>
          <p:cNvPr id="7" name="Text 5"/>
          <p:cNvSpPr/>
          <p:nvPr/>
        </p:nvSpPr>
        <p:spPr>
          <a:xfrm>
            <a:off x="7498080" y="1783080"/>
            <a:ext cx="2743200" cy="274320"/>
          </a:xfrm>
          <a:prstGeom prst="rect">
            <a:avLst/>
          </a:prstGeom>
          <a:noFill/>
          <a:ln/>
        </p:spPr>
        <p:txBody>
          <a:bodyPr wrap="square" lIns="0" tIns="0" rIns="0" bIns="0"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CORE LOOP</a:t>
            </a:r>
            <a:endParaRPr lang="en-US" sz="1100" dirty="0"/>
          </a:p>
        </p:txBody>
      </p:sp>
      <p:sp>
        <p:nvSpPr>
          <p:cNvPr id="8" name="Shape 6"/>
          <p:cNvSpPr/>
          <p:nvPr/>
        </p:nvSpPr>
        <p:spPr>
          <a:xfrm>
            <a:off x="7589520" y="2286000"/>
            <a:ext cx="566928" cy="566928"/>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9" name="Image 0" descr="preencoded.png">    </p:cNvPr>
          <p:cNvPicPr>
            <a:picLocks noChangeAspect="1"/>
          </p:cNvPicPr>
          <p:nvPr/>
        </p:nvPicPr>
        <p:blipFill>
          <a:blip r:embed="rId1"/>
          <a:stretch>
            <a:fillRect/>
          </a:stretch>
        </p:blipFill>
        <p:spPr>
          <a:xfrm>
            <a:off x="7663221" y="2359701"/>
            <a:ext cx="419527" cy="419527"/>
          </a:xfrm>
          <a:prstGeom prst="rect">
            <a:avLst/>
          </a:prstGeom>
        </p:spPr>
      </p:pic>
      <p:sp>
        <p:nvSpPr>
          <p:cNvPr id="10" name="Text 7"/>
          <p:cNvSpPr/>
          <p:nvPr/>
        </p:nvSpPr>
        <p:spPr>
          <a:xfrm>
            <a:off x="8321040" y="2267712"/>
            <a:ext cx="3108960" cy="62179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Smart Home</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(power out)</a:t>
            </a:r>
            <a:endParaRPr lang="en-US" sz="1250" dirty="0"/>
          </a:p>
        </p:txBody>
      </p:sp>
      <p:sp>
        <p:nvSpPr>
          <p:cNvPr id="11" name="Text 8"/>
          <p:cNvSpPr/>
          <p:nvPr/>
        </p:nvSpPr>
        <p:spPr>
          <a:xfrm>
            <a:off x="7799832" y="2898648"/>
            <a:ext cx="365760" cy="320040"/>
          </a:xfrm>
          <a:prstGeom prst="rect">
            <a:avLst/>
          </a:prstGeom>
          <a:noFill/>
          <a:ln/>
        </p:spPr>
        <p:txBody>
          <a:bodyPr wrap="square" lIns="0" tIns="0" rIns="0" bIns="0" rtlCol="0" anchor="ctr"/>
          <a:lstStyle/>
          <a:p>
            <a:pPr algn="ctr" indent="0" marL="0">
              <a:buNone/>
            </a:pPr>
            <a:r>
              <a:rPr lang="en-US" sz="1600" dirty="0">
                <a:solidFill>
                  <a:srgbClr val="F2A93B"/>
                </a:solidFill>
              </a:rPr>
              <a:t>↓</a:t>
            </a:r>
            <a:endParaRPr lang="en-US" sz="1600" dirty="0"/>
          </a:p>
        </p:txBody>
      </p:sp>
      <p:sp>
        <p:nvSpPr>
          <p:cNvPr id="12" name="Shape 9"/>
          <p:cNvSpPr/>
          <p:nvPr/>
        </p:nvSpPr>
        <p:spPr>
          <a:xfrm>
            <a:off x="7589520" y="3154680"/>
            <a:ext cx="566928" cy="566928"/>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3" name="Image 1" descr="preencoded.png">    </p:cNvPr>
          <p:cNvPicPr>
            <a:picLocks noChangeAspect="1"/>
          </p:cNvPicPr>
          <p:nvPr/>
        </p:nvPicPr>
        <p:blipFill>
          <a:blip r:embed="rId2"/>
          <a:stretch>
            <a:fillRect/>
          </a:stretch>
        </p:blipFill>
        <p:spPr>
          <a:xfrm>
            <a:off x="7663221" y="3228381"/>
            <a:ext cx="419527" cy="419527"/>
          </a:xfrm>
          <a:prstGeom prst="rect">
            <a:avLst/>
          </a:prstGeom>
        </p:spPr>
      </p:pic>
      <p:sp>
        <p:nvSpPr>
          <p:cNvPr id="14" name="Text 10"/>
          <p:cNvSpPr/>
          <p:nvPr/>
        </p:nvSpPr>
        <p:spPr>
          <a:xfrm>
            <a:off x="8321040" y="3136392"/>
            <a:ext cx="3108960" cy="62179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Solar Station</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(repair objectives)</a:t>
            </a:r>
            <a:endParaRPr lang="en-US" sz="1250" dirty="0"/>
          </a:p>
        </p:txBody>
      </p:sp>
      <p:sp>
        <p:nvSpPr>
          <p:cNvPr id="15" name="Text 11"/>
          <p:cNvSpPr/>
          <p:nvPr/>
        </p:nvSpPr>
        <p:spPr>
          <a:xfrm>
            <a:off x="7799832" y="3767328"/>
            <a:ext cx="365760" cy="320040"/>
          </a:xfrm>
          <a:prstGeom prst="rect">
            <a:avLst/>
          </a:prstGeom>
          <a:noFill/>
          <a:ln/>
        </p:spPr>
        <p:txBody>
          <a:bodyPr wrap="square" lIns="0" tIns="0" rIns="0" bIns="0" rtlCol="0" anchor="ctr"/>
          <a:lstStyle/>
          <a:p>
            <a:pPr algn="ctr" indent="0" marL="0">
              <a:buNone/>
            </a:pPr>
            <a:r>
              <a:rPr lang="en-US" sz="1600" dirty="0">
                <a:solidFill>
                  <a:srgbClr val="F2A93B"/>
                </a:solidFill>
              </a:rPr>
              <a:t>↓</a:t>
            </a:r>
            <a:endParaRPr lang="en-US" sz="1600" dirty="0"/>
          </a:p>
        </p:txBody>
      </p:sp>
      <p:sp>
        <p:nvSpPr>
          <p:cNvPr id="16" name="Shape 12"/>
          <p:cNvSpPr/>
          <p:nvPr/>
        </p:nvSpPr>
        <p:spPr>
          <a:xfrm>
            <a:off x="7589520" y="4023360"/>
            <a:ext cx="566928" cy="566928"/>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7" name="Image 2" descr="preencoded.png">    </p:cNvPr>
          <p:cNvPicPr>
            <a:picLocks noChangeAspect="1"/>
          </p:cNvPicPr>
          <p:nvPr/>
        </p:nvPicPr>
        <p:blipFill>
          <a:blip r:embed="rId3"/>
          <a:stretch>
            <a:fillRect/>
          </a:stretch>
        </p:blipFill>
        <p:spPr>
          <a:xfrm>
            <a:off x="7663221" y="4097061"/>
            <a:ext cx="419527" cy="419527"/>
          </a:xfrm>
          <a:prstGeom prst="rect">
            <a:avLst/>
          </a:prstGeom>
        </p:spPr>
      </p:pic>
      <p:sp>
        <p:nvSpPr>
          <p:cNvPr id="18" name="Text 13"/>
          <p:cNvSpPr/>
          <p:nvPr/>
        </p:nvSpPr>
        <p:spPr>
          <a:xfrm>
            <a:off x="8321040" y="4005072"/>
            <a:ext cx="3108960" cy="62179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Home</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(fully powered)</a:t>
            </a:r>
            <a:endParaRPr lang="en-US" sz="1250" dirty="0"/>
          </a:p>
        </p:txBody>
      </p:sp>
      <p:sp>
        <p:nvSpPr>
          <p:cNvPr id="20"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21"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OBJECTIVES &amp; SDGS</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Designed Around Sustainable Development Goals</a:t>
            </a:r>
            <a:endParaRPr lang="en-US" sz="3000" dirty="0"/>
          </a:p>
        </p:txBody>
      </p:sp>
      <p:sp>
        <p:nvSpPr>
          <p:cNvPr id="4" name="Shape 2"/>
          <p:cNvSpPr/>
          <p:nvPr/>
        </p:nvSpPr>
        <p:spPr>
          <a:xfrm>
            <a:off x="548640" y="1691640"/>
            <a:ext cx="3639312" cy="3063240"/>
          </a:xfrm>
          <a:prstGeom prst="roundRect">
            <a:avLst>
              <a:gd name="adj" fmla="val 2687"/>
            </a:avLst>
          </a:prstGeom>
          <a:solidFill>
            <a:srgbClr val="FFFFFF"/>
          </a:solidFill>
          <a:ln/>
          <a:effectLst>
            <a:outerShdw sx="100000" sy="100000" kx="0" ky="0" algn="bl" rotWithShape="0" blurRad="101600" dist="38100" dir="2700000">
              <a:srgbClr val="0B2A20">
                <a:alpha val="12000"/>
              </a:srgbClr>
            </a:outerShdw>
          </a:effectLst>
        </p:spPr>
      </p:sp>
      <p:sp>
        <p:nvSpPr>
          <p:cNvPr id="5" name="Shape 3"/>
          <p:cNvSpPr/>
          <p:nvPr/>
        </p:nvSpPr>
        <p:spPr>
          <a:xfrm>
            <a:off x="822960" y="1920240"/>
            <a:ext cx="685800" cy="68580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6" name="Image 0" descr="preencoded.png">    </p:cNvPr>
          <p:cNvPicPr>
            <a:picLocks noChangeAspect="1"/>
          </p:cNvPicPr>
          <p:nvPr/>
        </p:nvPicPr>
        <p:blipFill>
          <a:blip r:embed="rId1"/>
          <a:stretch>
            <a:fillRect/>
          </a:stretch>
        </p:blipFill>
        <p:spPr>
          <a:xfrm>
            <a:off x="912114" y="2009394"/>
            <a:ext cx="507492" cy="507492"/>
          </a:xfrm>
          <a:prstGeom prst="rect">
            <a:avLst/>
          </a:prstGeom>
        </p:spPr>
      </p:pic>
      <p:sp>
        <p:nvSpPr>
          <p:cNvPr id="7" name="Text 4"/>
          <p:cNvSpPr/>
          <p:nvPr/>
        </p:nvSpPr>
        <p:spPr>
          <a:xfrm>
            <a:off x="822960" y="2724912"/>
            <a:ext cx="3090672" cy="320040"/>
          </a:xfrm>
          <a:prstGeom prst="rect">
            <a:avLst/>
          </a:prstGeom>
          <a:noFill/>
          <a:ln/>
        </p:spPr>
        <p:txBody>
          <a:bodyPr wrap="square" lIns="0" tIns="0" rIns="0" bIns="0" rtlCol="0" anchor="ctr"/>
          <a:lstStyle/>
          <a:p>
            <a:pPr indent="0" marL="0">
              <a:buNone/>
            </a:pPr>
            <a:r>
              <a:rPr lang="en-US" sz="1800" b="1" dirty="0">
                <a:solidFill>
                  <a:srgbClr val="16241F"/>
                </a:solidFill>
                <a:latin typeface="Cambria" pitchFamily="34" charset="0"/>
                <a:ea typeface="Cambria" pitchFamily="34" charset="-122"/>
                <a:cs typeface="Cambria" pitchFamily="34" charset="-120"/>
              </a:rPr>
              <a:t>SDG 7</a:t>
            </a:r>
            <a:endParaRPr lang="en-US" sz="1800" dirty="0"/>
          </a:p>
        </p:txBody>
      </p:sp>
      <p:sp>
        <p:nvSpPr>
          <p:cNvPr id="8" name="Text 5"/>
          <p:cNvSpPr/>
          <p:nvPr/>
        </p:nvSpPr>
        <p:spPr>
          <a:xfrm>
            <a:off x="822960" y="3035808"/>
            <a:ext cx="3090672" cy="594360"/>
          </a:xfrm>
          <a:prstGeom prst="rect">
            <a:avLst/>
          </a:prstGeom>
          <a:noFill/>
          <a:ln/>
        </p:spPr>
        <p:txBody>
          <a:bodyPr wrap="square" lIns="0" tIns="0" rIns="0" bIns="0" rtlCol="0" anchor="ctr"/>
          <a:lstStyle/>
          <a:p>
            <a:pPr indent="0" marL="0">
              <a:buNone/>
            </a:pPr>
            <a:r>
              <a:rPr lang="en-US" sz="1300" b="1" dirty="0">
                <a:solidFill>
                  <a:srgbClr val="F2A93B"/>
                </a:solidFill>
                <a:latin typeface="Calibri" pitchFamily="34" charset="0"/>
                <a:ea typeface="Calibri" pitchFamily="34" charset="-122"/>
                <a:cs typeface="Calibri" pitchFamily="34" charset="-120"/>
              </a:rPr>
              <a:t>Affordable &amp; Clean Energy</a:t>
            </a:r>
            <a:endParaRPr lang="en-US" sz="1300" dirty="0"/>
          </a:p>
        </p:txBody>
      </p:sp>
      <p:sp>
        <p:nvSpPr>
          <p:cNvPr id="9" name="Text 6"/>
          <p:cNvSpPr/>
          <p:nvPr/>
        </p:nvSpPr>
        <p:spPr>
          <a:xfrm>
            <a:off x="822960" y="3611880"/>
            <a:ext cx="3090672" cy="1005840"/>
          </a:xfrm>
          <a:prstGeom prst="rect">
            <a:avLst/>
          </a:prstGeom>
          <a:noFill/>
          <a:ln/>
        </p:spPr>
        <p:txBody>
          <a:bodyPr wrap="square" lIns="0" tIns="0" rIns="0" bIns="0" rtlCol="0" anchor="ctr"/>
          <a:lstStyle/>
          <a:p>
            <a:pPr indent="0" marL="0">
              <a:buNone/>
            </a:pPr>
            <a:r>
              <a:rPr lang="en-US" sz="1250" dirty="0">
                <a:solidFill>
                  <a:srgbClr val="5B6E64"/>
                </a:solidFill>
                <a:latin typeface="Calibri" pitchFamily="34" charset="0"/>
                <a:ea typeface="Calibri" pitchFamily="34" charset="-122"/>
                <a:cs typeface="Calibri" pitchFamily="34" charset="-120"/>
              </a:rPr>
              <a:t>Player repairs and activates solar infrastructure to restore power.</a:t>
            </a:r>
            <a:endParaRPr lang="en-US" sz="1250" dirty="0"/>
          </a:p>
        </p:txBody>
      </p:sp>
      <p:sp>
        <p:nvSpPr>
          <p:cNvPr id="10" name="Shape 7"/>
          <p:cNvSpPr/>
          <p:nvPr/>
        </p:nvSpPr>
        <p:spPr>
          <a:xfrm>
            <a:off x="4370832" y="1691640"/>
            <a:ext cx="3639312" cy="3063240"/>
          </a:xfrm>
          <a:prstGeom prst="roundRect">
            <a:avLst>
              <a:gd name="adj" fmla="val 2687"/>
            </a:avLst>
          </a:prstGeom>
          <a:solidFill>
            <a:srgbClr val="FFFFFF"/>
          </a:solidFill>
          <a:ln/>
          <a:effectLst>
            <a:outerShdw sx="100000" sy="100000" kx="0" ky="0" algn="bl" rotWithShape="0" blurRad="101600" dist="38100" dir="2700000">
              <a:srgbClr val="0B2A20">
                <a:alpha val="12000"/>
              </a:srgbClr>
            </a:outerShdw>
          </a:effectLst>
        </p:spPr>
      </p:sp>
      <p:sp>
        <p:nvSpPr>
          <p:cNvPr id="11" name="Shape 8"/>
          <p:cNvSpPr/>
          <p:nvPr/>
        </p:nvSpPr>
        <p:spPr>
          <a:xfrm>
            <a:off x="4645152" y="1920240"/>
            <a:ext cx="685800" cy="68580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12" name="Image 1" descr="preencoded.png">    </p:cNvPr>
          <p:cNvPicPr>
            <a:picLocks noChangeAspect="1"/>
          </p:cNvPicPr>
          <p:nvPr/>
        </p:nvPicPr>
        <p:blipFill>
          <a:blip r:embed="rId2"/>
          <a:stretch>
            <a:fillRect/>
          </a:stretch>
        </p:blipFill>
        <p:spPr>
          <a:xfrm>
            <a:off x="4734306" y="2009394"/>
            <a:ext cx="507492" cy="507492"/>
          </a:xfrm>
          <a:prstGeom prst="rect">
            <a:avLst/>
          </a:prstGeom>
        </p:spPr>
      </p:pic>
      <p:sp>
        <p:nvSpPr>
          <p:cNvPr id="13" name="Text 9"/>
          <p:cNvSpPr/>
          <p:nvPr/>
        </p:nvSpPr>
        <p:spPr>
          <a:xfrm>
            <a:off x="4645152" y="2724912"/>
            <a:ext cx="3090672" cy="320040"/>
          </a:xfrm>
          <a:prstGeom prst="rect">
            <a:avLst/>
          </a:prstGeom>
          <a:noFill/>
          <a:ln/>
        </p:spPr>
        <p:txBody>
          <a:bodyPr wrap="square" lIns="0" tIns="0" rIns="0" bIns="0" rtlCol="0" anchor="ctr"/>
          <a:lstStyle/>
          <a:p>
            <a:pPr indent="0" marL="0">
              <a:buNone/>
            </a:pPr>
            <a:r>
              <a:rPr lang="en-US" sz="1800" b="1" dirty="0">
                <a:solidFill>
                  <a:srgbClr val="16241F"/>
                </a:solidFill>
                <a:latin typeface="Cambria" pitchFamily="34" charset="0"/>
                <a:ea typeface="Cambria" pitchFamily="34" charset="-122"/>
                <a:cs typeface="Cambria" pitchFamily="34" charset="-120"/>
              </a:rPr>
              <a:t>SDG 11</a:t>
            </a:r>
            <a:endParaRPr lang="en-US" sz="1800" dirty="0"/>
          </a:p>
        </p:txBody>
      </p:sp>
      <p:sp>
        <p:nvSpPr>
          <p:cNvPr id="14" name="Text 10"/>
          <p:cNvSpPr/>
          <p:nvPr/>
        </p:nvSpPr>
        <p:spPr>
          <a:xfrm>
            <a:off x="4645152" y="3035808"/>
            <a:ext cx="3090672" cy="594360"/>
          </a:xfrm>
          <a:prstGeom prst="rect">
            <a:avLst/>
          </a:prstGeom>
          <a:noFill/>
          <a:ln/>
        </p:spPr>
        <p:txBody>
          <a:bodyPr wrap="square" lIns="0" tIns="0" rIns="0" bIns="0" rtlCol="0" anchor="ctr"/>
          <a:lstStyle/>
          <a:p>
            <a:pPr indent="0" marL="0">
              <a:buNone/>
            </a:pPr>
            <a:r>
              <a:rPr lang="en-US" sz="1300" b="1" dirty="0">
                <a:solidFill>
                  <a:srgbClr val="2E8B57"/>
                </a:solidFill>
                <a:latin typeface="Calibri" pitchFamily="34" charset="0"/>
                <a:ea typeface="Calibri" pitchFamily="34" charset="-122"/>
                <a:cs typeface="Calibri" pitchFamily="34" charset="-120"/>
              </a:rPr>
              <a:t>Sustainable Cities &amp; Communities</a:t>
            </a:r>
            <a:endParaRPr lang="en-US" sz="1300" dirty="0"/>
          </a:p>
        </p:txBody>
      </p:sp>
      <p:sp>
        <p:nvSpPr>
          <p:cNvPr id="15" name="Text 11"/>
          <p:cNvSpPr/>
          <p:nvPr/>
        </p:nvSpPr>
        <p:spPr>
          <a:xfrm>
            <a:off x="4645152" y="3611880"/>
            <a:ext cx="3090672" cy="1005840"/>
          </a:xfrm>
          <a:prstGeom prst="rect">
            <a:avLst/>
          </a:prstGeom>
          <a:noFill/>
          <a:ln/>
        </p:spPr>
        <p:txBody>
          <a:bodyPr wrap="square" lIns="0" tIns="0" rIns="0" bIns="0" rtlCol="0" anchor="ctr"/>
          <a:lstStyle/>
          <a:p>
            <a:pPr indent="0" marL="0">
              <a:buNone/>
            </a:pPr>
            <a:r>
              <a:rPr lang="en-US" sz="1250" dirty="0">
                <a:solidFill>
                  <a:srgbClr val="5B6E64"/>
                </a:solidFill>
                <a:latin typeface="Calibri" pitchFamily="34" charset="0"/>
                <a:ea typeface="Calibri" pitchFamily="34" charset="-122"/>
                <a:cs typeface="Calibri" pitchFamily="34" charset="-120"/>
              </a:rPr>
              <a:t>Smart-home systems model efficient, liveable urban housing.</a:t>
            </a:r>
            <a:endParaRPr lang="en-US" sz="1250" dirty="0"/>
          </a:p>
        </p:txBody>
      </p:sp>
      <p:sp>
        <p:nvSpPr>
          <p:cNvPr id="16" name="Shape 12"/>
          <p:cNvSpPr/>
          <p:nvPr/>
        </p:nvSpPr>
        <p:spPr>
          <a:xfrm>
            <a:off x="8193024" y="1691640"/>
            <a:ext cx="3639312" cy="3063240"/>
          </a:xfrm>
          <a:prstGeom prst="roundRect">
            <a:avLst>
              <a:gd name="adj" fmla="val 2687"/>
            </a:avLst>
          </a:prstGeom>
          <a:solidFill>
            <a:srgbClr val="FFFFFF"/>
          </a:solidFill>
          <a:ln/>
          <a:effectLst>
            <a:outerShdw sx="100000" sy="100000" kx="0" ky="0" algn="bl" rotWithShape="0" blurRad="101600" dist="38100" dir="2700000">
              <a:srgbClr val="0B2A20">
                <a:alpha val="12000"/>
              </a:srgbClr>
            </a:outerShdw>
          </a:effectLst>
        </p:spPr>
      </p:sp>
      <p:sp>
        <p:nvSpPr>
          <p:cNvPr id="17" name="Shape 13"/>
          <p:cNvSpPr/>
          <p:nvPr/>
        </p:nvSpPr>
        <p:spPr>
          <a:xfrm>
            <a:off x="8467344" y="1920240"/>
            <a:ext cx="685800" cy="685800"/>
          </a:xfrm>
          <a:prstGeom prst="ellipse">
            <a:avLst/>
          </a:prstGeom>
          <a:solidFill>
            <a:srgbClr val="2EC4B6"/>
          </a:solidFill>
          <a:ln/>
          <a:effectLst>
            <a:outerShdw sx="100000" sy="100000" kx="0" ky="0" algn="bl" rotWithShape="0" blurRad="63500" dist="25400" dir="2700000">
              <a:srgbClr val="0B2A20">
                <a:alpha val="18000"/>
              </a:srgbClr>
            </a:outerShdw>
          </a:effectLst>
        </p:spPr>
      </p:sp>
      <p:pic>
        <p:nvPicPr>
          <p:cNvPr id="18" name="Image 2" descr="preencoded.png">    </p:cNvPr>
          <p:cNvPicPr>
            <a:picLocks noChangeAspect="1"/>
          </p:cNvPicPr>
          <p:nvPr/>
        </p:nvPicPr>
        <p:blipFill>
          <a:blip r:embed="rId3"/>
          <a:stretch>
            <a:fillRect/>
          </a:stretch>
        </p:blipFill>
        <p:spPr>
          <a:xfrm>
            <a:off x="8556498" y="2009394"/>
            <a:ext cx="507492" cy="507492"/>
          </a:xfrm>
          <a:prstGeom prst="rect">
            <a:avLst/>
          </a:prstGeom>
        </p:spPr>
      </p:pic>
      <p:sp>
        <p:nvSpPr>
          <p:cNvPr id="19" name="Text 14"/>
          <p:cNvSpPr/>
          <p:nvPr/>
        </p:nvSpPr>
        <p:spPr>
          <a:xfrm>
            <a:off x="8467344" y="2724912"/>
            <a:ext cx="3090672" cy="320040"/>
          </a:xfrm>
          <a:prstGeom prst="rect">
            <a:avLst/>
          </a:prstGeom>
          <a:noFill/>
          <a:ln/>
        </p:spPr>
        <p:txBody>
          <a:bodyPr wrap="square" lIns="0" tIns="0" rIns="0" bIns="0" rtlCol="0" anchor="ctr"/>
          <a:lstStyle/>
          <a:p>
            <a:pPr indent="0" marL="0">
              <a:buNone/>
            </a:pPr>
            <a:r>
              <a:rPr lang="en-US" sz="1800" b="1" dirty="0">
                <a:solidFill>
                  <a:srgbClr val="16241F"/>
                </a:solidFill>
                <a:latin typeface="Cambria" pitchFamily="34" charset="0"/>
                <a:ea typeface="Cambria" pitchFamily="34" charset="-122"/>
                <a:cs typeface="Cambria" pitchFamily="34" charset="-120"/>
              </a:rPr>
              <a:t>SDG 12</a:t>
            </a:r>
            <a:endParaRPr lang="en-US" sz="1800" dirty="0"/>
          </a:p>
        </p:txBody>
      </p:sp>
      <p:sp>
        <p:nvSpPr>
          <p:cNvPr id="20" name="Text 15"/>
          <p:cNvSpPr/>
          <p:nvPr/>
        </p:nvSpPr>
        <p:spPr>
          <a:xfrm>
            <a:off x="8467344" y="3035808"/>
            <a:ext cx="3090672" cy="594360"/>
          </a:xfrm>
          <a:prstGeom prst="rect">
            <a:avLst/>
          </a:prstGeom>
          <a:noFill/>
          <a:ln/>
        </p:spPr>
        <p:txBody>
          <a:bodyPr wrap="square" lIns="0" tIns="0" rIns="0" bIns="0" rtlCol="0" anchor="ctr"/>
          <a:lstStyle/>
          <a:p>
            <a:pPr indent="0" marL="0">
              <a:buNone/>
            </a:pPr>
            <a:r>
              <a:rPr lang="en-US" sz="1300" b="1" dirty="0">
                <a:solidFill>
                  <a:srgbClr val="2EC4B6"/>
                </a:solidFill>
                <a:latin typeface="Calibri" pitchFamily="34" charset="0"/>
                <a:ea typeface="Calibri" pitchFamily="34" charset="-122"/>
                <a:cs typeface="Calibri" pitchFamily="34" charset="-120"/>
              </a:rPr>
              <a:t>Responsible Consumption &amp; Production</a:t>
            </a:r>
            <a:endParaRPr lang="en-US" sz="1300" dirty="0"/>
          </a:p>
        </p:txBody>
      </p:sp>
      <p:sp>
        <p:nvSpPr>
          <p:cNvPr id="21" name="Text 16"/>
          <p:cNvSpPr/>
          <p:nvPr/>
        </p:nvSpPr>
        <p:spPr>
          <a:xfrm>
            <a:off x="8467344" y="3611880"/>
            <a:ext cx="3090672" cy="1005840"/>
          </a:xfrm>
          <a:prstGeom prst="rect">
            <a:avLst/>
          </a:prstGeom>
          <a:noFill/>
          <a:ln/>
        </p:spPr>
        <p:txBody>
          <a:bodyPr wrap="square" lIns="0" tIns="0" rIns="0" bIns="0" rtlCol="0" anchor="ctr"/>
          <a:lstStyle/>
          <a:p>
            <a:pPr indent="0" marL="0">
              <a:buNone/>
            </a:pPr>
            <a:r>
              <a:rPr lang="en-US" sz="1250" dirty="0">
                <a:solidFill>
                  <a:srgbClr val="5B6E64"/>
                </a:solidFill>
                <a:latin typeface="Calibri" pitchFamily="34" charset="0"/>
                <a:ea typeface="Calibri" pitchFamily="34" charset="-122"/>
                <a:cs typeface="Calibri" pitchFamily="34" charset="-120"/>
              </a:rPr>
              <a:t>Encourages mindful household energy use and behaviour.</a:t>
            </a:r>
            <a:endParaRPr lang="en-US" sz="1250" dirty="0"/>
          </a:p>
        </p:txBody>
      </p:sp>
      <p:sp>
        <p:nvSpPr>
          <p:cNvPr id="22" name="Shape 17"/>
          <p:cNvSpPr/>
          <p:nvPr/>
        </p:nvSpPr>
        <p:spPr>
          <a:xfrm>
            <a:off x="548640" y="4937760"/>
            <a:ext cx="11109960" cy="1143000"/>
          </a:xfrm>
          <a:prstGeom prst="roundRect">
            <a:avLst>
              <a:gd name="adj" fmla="val 7200"/>
            </a:avLst>
          </a:prstGeom>
          <a:solidFill>
            <a:srgbClr val="134D3B"/>
          </a:solidFill>
          <a:ln/>
          <a:effectLst>
            <a:outerShdw sx="100000" sy="100000" kx="0" ky="0" algn="bl" rotWithShape="0" blurRad="101600" dist="38100" dir="2700000">
              <a:srgbClr val="0B2A20">
                <a:alpha val="12000"/>
              </a:srgbClr>
            </a:outerShdw>
          </a:effectLst>
        </p:spPr>
      </p:sp>
      <p:sp>
        <p:nvSpPr>
          <p:cNvPr id="23" name="Text 18"/>
          <p:cNvSpPr/>
          <p:nvPr/>
        </p:nvSpPr>
        <p:spPr>
          <a:xfrm>
            <a:off x="822960" y="5074920"/>
            <a:ext cx="4572000" cy="274320"/>
          </a:xfrm>
          <a:prstGeom prst="rect">
            <a:avLst/>
          </a:prstGeom>
          <a:noFill/>
          <a:ln/>
        </p:spPr>
        <p:txBody>
          <a:bodyPr wrap="square" lIns="0" tIns="0" rIns="0" bIns="0"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LEARNING OBJECTIVE</a:t>
            </a:r>
            <a:endParaRPr lang="en-US" sz="1100" dirty="0"/>
          </a:p>
        </p:txBody>
      </p:sp>
      <p:sp>
        <p:nvSpPr>
          <p:cNvPr id="24" name="Text 19"/>
          <p:cNvSpPr/>
          <p:nvPr/>
        </p:nvSpPr>
        <p:spPr>
          <a:xfrm>
            <a:off x="822960" y="5349240"/>
            <a:ext cx="1060704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Apply Unity VR development skills to build an interactive environment that raises awareness of renewable energy and sustainable living.</a:t>
            </a:r>
            <a:endParaRPr lang="en-US" sz="1400" dirty="0"/>
          </a:p>
        </p:txBody>
      </p:sp>
      <p:sp>
        <p:nvSpPr>
          <p:cNvPr id="26" name="Text 20"/>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27" name="Text 2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SYSTEM STORY FLOW</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From Blackout to Full Power</a:t>
            </a:r>
            <a:endParaRPr lang="en-US" sz="3000" dirty="0"/>
          </a:p>
        </p:txBody>
      </p:sp>
      <p:sp>
        <p:nvSpPr>
          <p:cNvPr id="4" name="Shape 2"/>
          <p:cNvSpPr/>
          <p:nvPr/>
        </p:nvSpPr>
        <p:spPr>
          <a:xfrm>
            <a:off x="548640" y="1691640"/>
            <a:ext cx="3611880" cy="2148840"/>
          </a:xfrm>
          <a:prstGeom prst="roundRect">
            <a:avLst>
              <a:gd name="adj" fmla="val 3830"/>
            </a:avLst>
          </a:prstGeom>
          <a:solidFill>
            <a:srgbClr val="FFFFFF"/>
          </a:solidFill>
          <a:ln/>
          <a:effectLst>
            <a:outerShdw sx="100000" sy="100000" kx="0" ky="0" algn="bl" rotWithShape="0" blurRad="101600" dist="38100" dir="2700000">
              <a:srgbClr val="0B2A20">
                <a:alpha val="12000"/>
              </a:srgbClr>
            </a:outerShdw>
          </a:effectLst>
        </p:spPr>
      </p:sp>
      <p:sp>
        <p:nvSpPr>
          <p:cNvPr id="5" name="Shape 3"/>
          <p:cNvSpPr/>
          <p:nvPr/>
        </p:nvSpPr>
        <p:spPr>
          <a:xfrm>
            <a:off x="777240" y="1920240"/>
            <a:ext cx="548640" cy="54864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6" name="Image 0" descr="preencoded.png">    </p:cNvPr>
          <p:cNvPicPr>
            <a:picLocks noChangeAspect="1"/>
          </p:cNvPicPr>
          <p:nvPr/>
        </p:nvPicPr>
        <p:blipFill>
          <a:blip r:embed="rId1"/>
          <a:stretch>
            <a:fillRect/>
          </a:stretch>
        </p:blipFill>
        <p:spPr>
          <a:xfrm>
            <a:off x="848563" y="1991563"/>
            <a:ext cx="405994" cy="405994"/>
          </a:xfrm>
          <a:prstGeom prst="rect">
            <a:avLst/>
          </a:prstGeom>
        </p:spPr>
      </p:pic>
      <p:sp>
        <p:nvSpPr>
          <p:cNvPr id="7" name="Text 4"/>
          <p:cNvSpPr/>
          <p:nvPr/>
        </p:nvSpPr>
        <p:spPr>
          <a:xfrm>
            <a:off x="3657600" y="1856232"/>
            <a:ext cx="365760" cy="320040"/>
          </a:xfrm>
          <a:prstGeom prst="rect">
            <a:avLst/>
          </a:prstGeom>
          <a:noFill/>
          <a:ln/>
        </p:spPr>
        <p:txBody>
          <a:bodyPr wrap="square" lIns="0" tIns="0" rIns="0" bIns="0" rtlCol="0" anchor="ctr"/>
          <a:lstStyle/>
          <a:p>
            <a:pPr algn="r" indent="0" marL="0">
              <a:buNone/>
            </a:pPr>
            <a:r>
              <a:rPr lang="en-US" sz="1600" b="1" dirty="0">
                <a:solidFill>
                  <a:srgbClr val="5B6E64"/>
                </a:solidFill>
                <a:latin typeface="Cambria" pitchFamily="34" charset="0"/>
                <a:ea typeface="Cambria" pitchFamily="34" charset="-122"/>
                <a:cs typeface="Cambria" pitchFamily="34" charset="-120"/>
              </a:rPr>
              <a:t>1</a:t>
            </a:r>
            <a:endParaRPr lang="en-US" sz="1600" dirty="0"/>
          </a:p>
        </p:txBody>
      </p:sp>
      <p:sp>
        <p:nvSpPr>
          <p:cNvPr id="8" name="Text 5"/>
          <p:cNvSpPr/>
          <p:nvPr/>
        </p:nvSpPr>
        <p:spPr>
          <a:xfrm>
            <a:off x="777240" y="2587752"/>
            <a:ext cx="3154680" cy="320040"/>
          </a:xfrm>
          <a:prstGeom prst="rect">
            <a:avLst/>
          </a:prstGeom>
          <a:noFill/>
          <a:ln/>
        </p:spPr>
        <p:txBody>
          <a:bodyPr wrap="square" lIns="0" tIns="0" rIns="0" bIns="0" rtlCol="0" anchor="ctr"/>
          <a:lstStyle/>
          <a:p>
            <a:pPr indent="0" marL="0">
              <a:buNone/>
            </a:pPr>
            <a:r>
              <a:rPr lang="en-US" sz="1450" b="1" dirty="0">
                <a:solidFill>
                  <a:srgbClr val="16241F"/>
                </a:solidFill>
                <a:latin typeface="Cambria" pitchFamily="34" charset="0"/>
                <a:ea typeface="Cambria" pitchFamily="34" charset="-122"/>
                <a:cs typeface="Cambria" pitchFamily="34" charset="-120"/>
              </a:rPr>
              <a:t>Power Failure</a:t>
            </a:r>
            <a:endParaRPr lang="en-US" sz="1450" dirty="0"/>
          </a:p>
        </p:txBody>
      </p:sp>
      <p:sp>
        <p:nvSpPr>
          <p:cNvPr id="9" name="Text 6"/>
          <p:cNvSpPr/>
          <p:nvPr/>
        </p:nvSpPr>
        <p:spPr>
          <a:xfrm>
            <a:off x="777240" y="2926080"/>
            <a:ext cx="3154680" cy="822960"/>
          </a:xfrm>
          <a:prstGeom prst="rect">
            <a:avLst/>
          </a:prstGeom>
          <a:noFill/>
          <a:ln/>
        </p:spPr>
        <p:txBody>
          <a:bodyPr wrap="square" lIns="0" tIns="0" rIns="0" bIns="0" rtlCol="0" anchor="ctr"/>
          <a:lstStyle/>
          <a:p>
            <a:pPr indent="0" marL="0">
              <a:buNone/>
            </a:pPr>
            <a:r>
              <a:rPr lang="en-US" sz="1150" dirty="0">
                <a:solidFill>
                  <a:srgbClr val="5B6E64"/>
                </a:solidFill>
                <a:latin typeface="Calibri" pitchFamily="34" charset="0"/>
                <a:ea typeface="Calibri" pitchFamily="34" charset="-122"/>
                <a:cs typeface="Calibri" pitchFamily="34" charset="-120"/>
              </a:rPr>
              <a:t>Player wakes in a smart home with no electricity.</a:t>
            </a:r>
            <a:endParaRPr lang="en-US" sz="1150" dirty="0"/>
          </a:p>
        </p:txBody>
      </p:sp>
      <p:sp>
        <p:nvSpPr>
          <p:cNvPr id="10" name="Shape 7"/>
          <p:cNvSpPr/>
          <p:nvPr/>
        </p:nvSpPr>
        <p:spPr>
          <a:xfrm>
            <a:off x="4297680" y="1691640"/>
            <a:ext cx="3611880" cy="2148840"/>
          </a:xfrm>
          <a:prstGeom prst="roundRect">
            <a:avLst>
              <a:gd name="adj" fmla="val 3830"/>
            </a:avLst>
          </a:prstGeom>
          <a:solidFill>
            <a:srgbClr val="FFFFFF"/>
          </a:solidFill>
          <a:ln/>
          <a:effectLst>
            <a:outerShdw sx="100000" sy="100000" kx="0" ky="0" algn="bl" rotWithShape="0" blurRad="101600" dist="38100" dir="2700000">
              <a:srgbClr val="0B2A20">
                <a:alpha val="12000"/>
              </a:srgbClr>
            </a:outerShdw>
          </a:effectLst>
        </p:spPr>
      </p:sp>
      <p:sp>
        <p:nvSpPr>
          <p:cNvPr id="11" name="Shape 8"/>
          <p:cNvSpPr/>
          <p:nvPr/>
        </p:nvSpPr>
        <p:spPr>
          <a:xfrm>
            <a:off x="4526280" y="1920240"/>
            <a:ext cx="548640" cy="54864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12" name="Image 1" descr="preencoded.png">    </p:cNvPr>
          <p:cNvPicPr>
            <a:picLocks noChangeAspect="1"/>
          </p:cNvPicPr>
          <p:nvPr/>
        </p:nvPicPr>
        <p:blipFill>
          <a:blip r:embed="rId2"/>
          <a:stretch>
            <a:fillRect/>
          </a:stretch>
        </p:blipFill>
        <p:spPr>
          <a:xfrm>
            <a:off x="4597603" y="1991563"/>
            <a:ext cx="405994" cy="405994"/>
          </a:xfrm>
          <a:prstGeom prst="rect">
            <a:avLst/>
          </a:prstGeom>
        </p:spPr>
      </p:pic>
      <p:sp>
        <p:nvSpPr>
          <p:cNvPr id="13" name="Text 9"/>
          <p:cNvSpPr/>
          <p:nvPr/>
        </p:nvSpPr>
        <p:spPr>
          <a:xfrm>
            <a:off x="7406640" y="1856232"/>
            <a:ext cx="365760" cy="320040"/>
          </a:xfrm>
          <a:prstGeom prst="rect">
            <a:avLst/>
          </a:prstGeom>
          <a:noFill/>
          <a:ln/>
        </p:spPr>
        <p:txBody>
          <a:bodyPr wrap="square" lIns="0" tIns="0" rIns="0" bIns="0" rtlCol="0" anchor="ctr"/>
          <a:lstStyle/>
          <a:p>
            <a:pPr algn="r" indent="0" marL="0">
              <a:buNone/>
            </a:pPr>
            <a:r>
              <a:rPr lang="en-US" sz="1600" b="1" dirty="0">
                <a:solidFill>
                  <a:srgbClr val="5B6E64"/>
                </a:solidFill>
                <a:latin typeface="Cambria" pitchFamily="34" charset="0"/>
                <a:ea typeface="Cambria" pitchFamily="34" charset="-122"/>
                <a:cs typeface="Cambria" pitchFamily="34" charset="-120"/>
              </a:rPr>
              <a:t>2</a:t>
            </a:r>
            <a:endParaRPr lang="en-US" sz="1600" dirty="0"/>
          </a:p>
        </p:txBody>
      </p:sp>
      <p:sp>
        <p:nvSpPr>
          <p:cNvPr id="14" name="Text 10"/>
          <p:cNvSpPr/>
          <p:nvPr/>
        </p:nvSpPr>
        <p:spPr>
          <a:xfrm>
            <a:off x="4526280" y="2587752"/>
            <a:ext cx="3154680" cy="320040"/>
          </a:xfrm>
          <a:prstGeom prst="rect">
            <a:avLst/>
          </a:prstGeom>
          <a:noFill/>
          <a:ln/>
        </p:spPr>
        <p:txBody>
          <a:bodyPr wrap="square" lIns="0" tIns="0" rIns="0" bIns="0" rtlCol="0" anchor="ctr"/>
          <a:lstStyle/>
          <a:p>
            <a:pPr indent="0" marL="0">
              <a:buNone/>
            </a:pPr>
            <a:r>
              <a:rPr lang="en-US" sz="1450" b="1" dirty="0">
                <a:solidFill>
                  <a:srgbClr val="16241F"/>
                </a:solidFill>
                <a:latin typeface="Cambria" pitchFamily="34" charset="0"/>
                <a:ea typeface="Cambria" pitchFamily="34" charset="-122"/>
                <a:cs typeface="Cambria" pitchFamily="34" charset="-120"/>
              </a:rPr>
              <a:t>Explore &amp; Task</a:t>
            </a:r>
            <a:endParaRPr lang="en-US" sz="1450" dirty="0"/>
          </a:p>
        </p:txBody>
      </p:sp>
      <p:sp>
        <p:nvSpPr>
          <p:cNvPr id="15" name="Text 11"/>
          <p:cNvSpPr/>
          <p:nvPr/>
        </p:nvSpPr>
        <p:spPr>
          <a:xfrm>
            <a:off x="4526280" y="2926080"/>
            <a:ext cx="3154680" cy="822960"/>
          </a:xfrm>
          <a:prstGeom prst="rect">
            <a:avLst/>
          </a:prstGeom>
          <a:noFill/>
          <a:ln/>
        </p:spPr>
        <p:txBody>
          <a:bodyPr wrap="square" lIns="0" tIns="0" rIns="0" bIns="0" rtlCol="0" anchor="ctr"/>
          <a:lstStyle/>
          <a:p>
            <a:pPr indent="0" marL="0">
              <a:buNone/>
            </a:pPr>
            <a:r>
              <a:rPr lang="en-US" sz="1150" dirty="0">
                <a:solidFill>
                  <a:srgbClr val="5B6E64"/>
                </a:solidFill>
                <a:latin typeface="Calibri" pitchFamily="34" charset="0"/>
                <a:ea typeface="Calibri" pitchFamily="34" charset="-122"/>
                <a:cs typeface="Calibri" pitchFamily="34" charset="-120"/>
              </a:rPr>
              <a:t>Player explores rooms and performs household tasks.</a:t>
            </a:r>
            <a:endParaRPr lang="en-US" sz="1150" dirty="0"/>
          </a:p>
        </p:txBody>
      </p:sp>
      <p:sp>
        <p:nvSpPr>
          <p:cNvPr id="16" name="Shape 12"/>
          <p:cNvSpPr/>
          <p:nvPr/>
        </p:nvSpPr>
        <p:spPr>
          <a:xfrm>
            <a:off x="8046720" y="1691640"/>
            <a:ext cx="3611880" cy="2148840"/>
          </a:xfrm>
          <a:prstGeom prst="roundRect">
            <a:avLst>
              <a:gd name="adj" fmla="val 3830"/>
            </a:avLst>
          </a:prstGeom>
          <a:solidFill>
            <a:srgbClr val="FFFFFF"/>
          </a:solidFill>
          <a:ln/>
          <a:effectLst>
            <a:outerShdw sx="100000" sy="100000" kx="0" ky="0" algn="bl" rotWithShape="0" blurRad="101600" dist="38100" dir="2700000">
              <a:srgbClr val="0B2A20">
                <a:alpha val="12000"/>
              </a:srgbClr>
            </a:outerShdw>
          </a:effectLst>
        </p:spPr>
      </p:sp>
      <p:sp>
        <p:nvSpPr>
          <p:cNvPr id="17" name="Shape 13"/>
          <p:cNvSpPr/>
          <p:nvPr/>
        </p:nvSpPr>
        <p:spPr>
          <a:xfrm>
            <a:off x="8275320" y="1920240"/>
            <a:ext cx="548640" cy="54864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18" name="Image 2" descr="preencoded.png">    </p:cNvPr>
          <p:cNvPicPr>
            <a:picLocks noChangeAspect="1"/>
          </p:cNvPicPr>
          <p:nvPr/>
        </p:nvPicPr>
        <p:blipFill>
          <a:blip r:embed="rId3"/>
          <a:stretch>
            <a:fillRect/>
          </a:stretch>
        </p:blipFill>
        <p:spPr>
          <a:xfrm>
            <a:off x="8346643" y="1991563"/>
            <a:ext cx="405994" cy="405994"/>
          </a:xfrm>
          <a:prstGeom prst="rect">
            <a:avLst/>
          </a:prstGeom>
        </p:spPr>
      </p:pic>
      <p:sp>
        <p:nvSpPr>
          <p:cNvPr id="19" name="Text 14"/>
          <p:cNvSpPr/>
          <p:nvPr/>
        </p:nvSpPr>
        <p:spPr>
          <a:xfrm>
            <a:off x="11155680" y="1856232"/>
            <a:ext cx="365760" cy="320040"/>
          </a:xfrm>
          <a:prstGeom prst="rect">
            <a:avLst/>
          </a:prstGeom>
          <a:noFill/>
          <a:ln/>
        </p:spPr>
        <p:txBody>
          <a:bodyPr wrap="square" lIns="0" tIns="0" rIns="0" bIns="0" rtlCol="0" anchor="ctr"/>
          <a:lstStyle/>
          <a:p>
            <a:pPr algn="r" indent="0" marL="0">
              <a:buNone/>
            </a:pPr>
            <a:r>
              <a:rPr lang="en-US" sz="1600" b="1" dirty="0">
                <a:solidFill>
                  <a:srgbClr val="5B6E64"/>
                </a:solidFill>
                <a:latin typeface="Cambria" pitchFamily="34" charset="0"/>
                <a:ea typeface="Cambria" pitchFamily="34" charset="-122"/>
                <a:cs typeface="Cambria" pitchFamily="34" charset="-120"/>
              </a:rPr>
              <a:t>3</a:t>
            </a:r>
            <a:endParaRPr lang="en-US" sz="1600" dirty="0"/>
          </a:p>
        </p:txBody>
      </p:sp>
      <p:sp>
        <p:nvSpPr>
          <p:cNvPr id="20" name="Text 15"/>
          <p:cNvSpPr/>
          <p:nvPr/>
        </p:nvSpPr>
        <p:spPr>
          <a:xfrm>
            <a:off x="8275320" y="2587752"/>
            <a:ext cx="3154680" cy="320040"/>
          </a:xfrm>
          <a:prstGeom prst="rect">
            <a:avLst/>
          </a:prstGeom>
          <a:noFill/>
          <a:ln/>
        </p:spPr>
        <p:txBody>
          <a:bodyPr wrap="square" lIns="0" tIns="0" rIns="0" bIns="0" rtlCol="0" anchor="ctr"/>
          <a:lstStyle/>
          <a:p>
            <a:pPr indent="0" marL="0">
              <a:buNone/>
            </a:pPr>
            <a:r>
              <a:rPr lang="en-US" sz="1450" b="1" dirty="0">
                <a:solidFill>
                  <a:srgbClr val="16241F"/>
                </a:solidFill>
                <a:latin typeface="Cambria" pitchFamily="34" charset="0"/>
                <a:ea typeface="Cambria" pitchFamily="34" charset="-122"/>
                <a:cs typeface="Cambria" pitchFamily="34" charset="-120"/>
              </a:rPr>
              <a:t>Enter Portal</a:t>
            </a:r>
            <a:endParaRPr lang="en-US" sz="1450" dirty="0"/>
          </a:p>
        </p:txBody>
      </p:sp>
      <p:sp>
        <p:nvSpPr>
          <p:cNvPr id="21" name="Text 16"/>
          <p:cNvSpPr/>
          <p:nvPr/>
        </p:nvSpPr>
        <p:spPr>
          <a:xfrm>
            <a:off x="8275320" y="2926080"/>
            <a:ext cx="3154680" cy="822960"/>
          </a:xfrm>
          <a:prstGeom prst="rect">
            <a:avLst/>
          </a:prstGeom>
          <a:noFill/>
          <a:ln/>
        </p:spPr>
        <p:txBody>
          <a:bodyPr wrap="square" lIns="0" tIns="0" rIns="0" bIns="0" rtlCol="0" anchor="ctr"/>
          <a:lstStyle/>
          <a:p>
            <a:pPr indent="0" marL="0">
              <a:buNone/>
            </a:pPr>
            <a:r>
              <a:rPr lang="en-US" sz="1150" dirty="0">
                <a:solidFill>
                  <a:srgbClr val="5B6E64"/>
                </a:solidFill>
                <a:latin typeface="Calibri" pitchFamily="34" charset="0"/>
                <a:ea typeface="Calibri" pitchFamily="34" charset="-122"/>
                <a:cs typeface="Calibri" pitchFamily="34" charset="-120"/>
              </a:rPr>
              <a:t>A portal transports the player to the rooftop station.</a:t>
            </a:r>
            <a:endParaRPr lang="en-US" sz="1150" dirty="0"/>
          </a:p>
        </p:txBody>
      </p:sp>
      <p:sp>
        <p:nvSpPr>
          <p:cNvPr id="22" name="Shape 17"/>
          <p:cNvSpPr/>
          <p:nvPr/>
        </p:nvSpPr>
        <p:spPr>
          <a:xfrm>
            <a:off x="548640" y="4023360"/>
            <a:ext cx="3611880" cy="2148840"/>
          </a:xfrm>
          <a:prstGeom prst="roundRect">
            <a:avLst>
              <a:gd name="adj" fmla="val 3830"/>
            </a:avLst>
          </a:prstGeom>
          <a:solidFill>
            <a:srgbClr val="FFFFFF"/>
          </a:solidFill>
          <a:ln/>
          <a:effectLst>
            <a:outerShdw sx="100000" sy="100000" kx="0" ky="0" algn="bl" rotWithShape="0" blurRad="101600" dist="38100" dir="2700000">
              <a:srgbClr val="0B2A20">
                <a:alpha val="12000"/>
              </a:srgbClr>
            </a:outerShdw>
          </a:effectLst>
        </p:spPr>
      </p:sp>
      <p:sp>
        <p:nvSpPr>
          <p:cNvPr id="23" name="Shape 18"/>
          <p:cNvSpPr/>
          <p:nvPr/>
        </p:nvSpPr>
        <p:spPr>
          <a:xfrm>
            <a:off x="777240" y="4251960"/>
            <a:ext cx="548640" cy="54864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24" name="Image 3" descr="preencoded.png">    </p:cNvPr>
          <p:cNvPicPr>
            <a:picLocks noChangeAspect="1"/>
          </p:cNvPicPr>
          <p:nvPr/>
        </p:nvPicPr>
        <p:blipFill>
          <a:blip r:embed="rId4"/>
          <a:stretch>
            <a:fillRect/>
          </a:stretch>
        </p:blipFill>
        <p:spPr>
          <a:xfrm>
            <a:off x="848563" y="4323283"/>
            <a:ext cx="405994" cy="405994"/>
          </a:xfrm>
          <a:prstGeom prst="rect">
            <a:avLst/>
          </a:prstGeom>
        </p:spPr>
      </p:pic>
      <p:sp>
        <p:nvSpPr>
          <p:cNvPr id="25" name="Text 19"/>
          <p:cNvSpPr/>
          <p:nvPr/>
        </p:nvSpPr>
        <p:spPr>
          <a:xfrm>
            <a:off x="3657600" y="4187952"/>
            <a:ext cx="365760" cy="320040"/>
          </a:xfrm>
          <a:prstGeom prst="rect">
            <a:avLst/>
          </a:prstGeom>
          <a:noFill/>
          <a:ln/>
        </p:spPr>
        <p:txBody>
          <a:bodyPr wrap="square" lIns="0" tIns="0" rIns="0" bIns="0" rtlCol="0" anchor="ctr"/>
          <a:lstStyle/>
          <a:p>
            <a:pPr algn="r" indent="0" marL="0">
              <a:buNone/>
            </a:pPr>
            <a:r>
              <a:rPr lang="en-US" sz="1600" b="1" dirty="0">
                <a:solidFill>
                  <a:srgbClr val="5B6E64"/>
                </a:solidFill>
                <a:latin typeface="Cambria" pitchFamily="34" charset="0"/>
                <a:ea typeface="Cambria" pitchFamily="34" charset="-122"/>
                <a:cs typeface="Cambria" pitchFamily="34" charset="-120"/>
              </a:rPr>
              <a:t>4</a:t>
            </a:r>
            <a:endParaRPr lang="en-US" sz="1600" dirty="0"/>
          </a:p>
        </p:txBody>
      </p:sp>
      <p:sp>
        <p:nvSpPr>
          <p:cNvPr id="26" name="Text 20"/>
          <p:cNvSpPr/>
          <p:nvPr/>
        </p:nvSpPr>
        <p:spPr>
          <a:xfrm>
            <a:off x="777240" y="4919472"/>
            <a:ext cx="3154680" cy="320040"/>
          </a:xfrm>
          <a:prstGeom prst="rect">
            <a:avLst/>
          </a:prstGeom>
          <a:noFill/>
          <a:ln/>
        </p:spPr>
        <p:txBody>
          <a:bodyPr wrap="square" lIns="0" tIns="0" rIns="0" bIns="0" rtlCol="0" anchor="ctr"/>
          <a:lstStyle/>
          <a:p>
            <a:pPr indent="0" marL="0">
              <a:buNone/>
            </a:pPr>
            <a:r>
              <a:rPr lang="en-US" sz="1450" b="1" dirty="0">
                <a:solidFill>
                  <a:srgbClr val="16241F"/>
                </a:solidFill>
                <a:latin typeface="Cambria" pitchFamily="34" charset="0"/>
                <a:ea typeface="Cambria" pitchFamily="34" charset="-122"/>
                <a:cs typeface="Cambria" pitchFamily="34" charset="-120"/>
              </a:rPr>
              <a:t>Find Key</a:t>
            </a:r>
            <a:endParaRPr lang="en-US" sz="1450" dirty="0"/>
          </a:p>
        </p:txBody>
      </p:sp>
      <p:sp>
        <p:nvSpPr>
          <p:cNvPr id="27" name="Text 21"/>
          <p:cNvSpPr/>
          <p:nvPr/>
        </p:nvSpPr>
        <p:spPr>
          <a:xfrm>
            <a:off x="777240" y="5257800"/>
            <a:ext cx="3154680" cy="822960"/>
          </a:xfrm>
          <a:prstGeom prst="rect">
            <a:avLst/>
          </a:prstGeom>
          <a:noFill/>
          <a:ln/>
        </p:spPr>
        <p:txBody>
          <a:bodyPr wrap="square" lIns="0" tIns="0" rIns="0" bIns="0" rtlCol="0" anchor="ctr"/>
          <a:lstStyle/>
          <a:p>
            <a:pPr indent="0" marL="0">
              <a:buNone/>
            </a:pPr>
            <a:r>
              <a:rPr lang="en-US" sz="1150" dirty="0">
                <a:solidFill>
                  <a:srgbClr val="5B6E64"/>
                </a:solidFill>
                <a:latin typeface="Calibri" pitchFamily="34" charset="0"/>
                <a:ea typeface="Calibri" pitchFamily="34" charset="-122"/>
                <a:cs typeface="Calibri" pitchFamily="34" charset="-120"/>
              </a:rPr>
              <a:t>Player locates the key needed for the storage area.</a:t>
            </a:r>
            <a:endParaRPr lang="en-US" sz="1150" dirty="0"/>
          </a:p>
        </p:txBody>
      </p:sp>
      <p:sp>
        <p:nvSpPr>
          <p:cNvPr id="28" name="Shape 22"/>
          <p:cNvSpPr/>
          <p:nvPr/>
        </p:nvSpPr>
        <p:spPr>
          <a:xfrm>
            <a:off x="4297680" y="4023360"/>
            <a:ext cx="3611880" cy="2148840"/>
          </a:xfrm>
          <a:prstGeom prst="roundRect">
            <a:avLst>
              <a:gd name="adj" fmla="val 3830"/>
            </a:avLst>
          </a:prstGeom>
          <a:solidFill>
            <a:srgbClr val="FFFFFF"/>
          </a:solidFill>
          <a:ln/>
          <a:effectLst>
            <a:outerShdw sx="100000" sy="100000" kx="0" ky="0" algn="bl" rotWithShape="0" blurRad="101600" dist="38100" dir="2700000">
              <a:srgbClr val="0B2A20">
                <a:alpha val="12000"/>
              </a:srgbClr>
            </a:outerShdw>
          </a:effectLst>
        </p:spPr>
      </p:sp>
      <p:sp>
        <p:nvSpPr>
          <p:cNvPr id="29" name="Shape 23"/>
          <p:cNvSpPr/>
          <p:nvPr/>
        </p:nvSpPr>
        <p:spPr>
          <a:xfrm>
            <a:off x="4526280" y="4251960"/>
            <a:ext cx="548640" cy="54864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30" name="Image 4" descr="preencoded.png">    </p:cNvPr>
          <p:cNvPicPr>
            <a:picLocks noChangeAspect="1"/>
          </p:cNvPicPr>
          <p:nvPr/>
        </p:nvPicPr>
        <p:blipFill>
          <a:blip r:embed="rId5"/>
          <a:stretch>
            <a:fillRect/>
          </a:stretch>
        </p:blipFill>
        <p:spPr>
          <a:xfrm>
            <a:off x="4597603" y="4323283"/>
            <a:ext cx="405994" cy="405994"/>
          </a:xfrm>
          <a:prstGeom prst="rect">
            <a:avLst/>
          </a:prstGeom>
        </p:spPr>
      </p:pic>
      <p:sp>
        <p:nvSpPr>
          <p:cNvPr id="31" name="Text 24"/>
          <p:cNvSpPr/>
          <p:nvPr/>
        </p:nvSpPr>
        <p:spPr>
          <a:xfrm>
            <a:off x="7406640" y="4187952"/>
            <a:ext cx="365760" cy="320040"/>
          </a:xfrm>
          <a:prstGeom prst="rect">
            <a:avLst/>
          </a:prstGeom>
          <a:noFill/>
          <a:ln/>
        </p:spPr>
        <p:txBody>
          <a:bodyPr wrap="square" lIns="0" tIns="0" rIns="0" bIns="0" rtlCol="0" anchor="ctr"/>
          <a:lstStyle/>
          <a:p>
            <a:pPr algn="r" indent="0" marL="0">
              <a:buNone/>
            </a:pPr>
            <a:r>
              <a:rPr lang="en-US" sz="1600" b="1" dirty="0">
                <a:solidFill>
                  <a:srgbClr val="5B6E64"/>
                </a:solidFill>
                <a:latin typeface="Cambria" pitchFamily="34" charset="0"/>
                <a:ea typeface="Cambria" pitchFamily="34" charset="-122"/>
                <a:cs typeface="Cambria" pitchFamily="34" charset="-120"/>
              </a:rPr>
              <a:t>5</a:t>
            </a:r>
            <a:endParaRPr lang="en-US" sz="1600" dirty="0"/>
          </a:p>
        </p:txBody>
      </p:sp>
      <p:sp>
        <p:nvSpPr>
          <p:cNvPr id="32" name="Text 25"/>
          <p:cNvSpPr/>
          <p:nvPr/>
        </p:nvSpPr>
        <p:spPr>
          <a:xfrm>
            <a:off x="4526280" y="4919472"/>
            <a:ext cx="3154680" cy="320040"/>
          </a:xfrm>
          <a:prstGeom prst="rect">
            <a:avLst/>
          </a:prstGeom>
          <a:noFill/>
          <a:ln/>
        </p:spPr>
        <p:txBody>
          <a:bodyPr wrap="square" lIns="0" tIns="0" rIns="0" bIns="0" rtlCol="0" anchor="ctr"/>
          <a:lstStyle/>
          <a:p>
            <a:pPr indent="0" marL="0">
              <a:buNone/>
            </a:pPr>
            <a:r>
              <a:rPr lang="en-US" sz="1450" b="1" dirty="0">
                <a:solidFill>
                  <a:srgbClr val="16241F"/>
                </a:solidFill>
                <a:latin typeface="Cambria" pitchFamily="34" charset="0"/>
                <a:ea typeface="Cambria" pitchFamily="34" charset="-122"/>
                <a:cs typeface="Cambria" pitchFamily="34" charset="-120"/>
              </a:rPr>
              <a:t>Repair Panels</a:t>
            </a:r>
            <a:endParaRPr lang="en-US" sz="1450" dirty="0"/>
          </a:p>
        </p:txBody>
      </p:sp>
      <p:sp>
        <p:nvSpPr>
          <p:cNvPr id="33" name="Text 26"/>
          <p:cNvSpPr/>
          <p:nvPr/>
        </p:nvSpPr>
        <p:spPr>
          <a:xfrm>
            <a:off x="4526280" y="5257800"/>
            <a:ext cx="3154680" cy="822960"/>
          </a:xfrm>
          <a:prstGeom prst="rect">
            <a:avLst/>
          </a:prstGeom>
          <a:noFill/>
          <a:ln/>
        </p:spPr>
        <p:txBody>
          <a:bodyPr wrap="square" lIns="0" tIns="0" rIns="0" bIns="0" rtlCol="0" anchor="ctr"/>
          <a:lstStyle/>
          <a:p>
            <a:pPr indent="0" marL="0">
              <a:buNone/>
            </a:pPr>
            <a:r>
              <a:rPr lang="en-US" sz="1150" dirty="0">
                <a:solidFill>
                  <a:srgbClr val="5B6E64"/>
                </a:solidFill>
                <a:latin typeface="Calibri" pitchFamily="34" charset="0"/>
                <a:ea typeface="Calibri" pitchFamily="34" charset="-122"/>
                <a:cs typeface="Calibri" pitchFamily="34" charset="-120"/>
              </a:rPr>
              <a:t>Solar panels are repaired to restore energy generation.</a:t>
            </a:r>
            <a:endParaRPr lang="en-US" sz="1150" dirty="0"/>
          </a:p>
        </p:txBody>
      </p:sp>
      <p:sp>
        <p:nvSpPr>
          <p:cNvPr id="34" name="Shape 27"/>
          <p:cNvSpPr/>
          <p:nvPr/>
        </p:nvSpPr>
        <p:spPr>
          <a:xfrm>
            <a:off x="8046720" y="4023360"/>
            <a:ext cx="3611880" cy="2148840"/>
          </a:xfrm>
          <a:prstGeom prst="roundRect">
            <a:avLst>
              <a:gd name="adj" fmla="val 3830"/>
            </a:avLst>
          </a:prstGeom>
          <a:solidFill>
            <a:srgbClr val="FFFFFF"/>
          </a:solidFill>
          <a:ln/>
          <a:effectLst>
            <a:outerShdw sx="100000" sy="100000" kx="0" ky="0" algn="bl" rotWithShape="0" blurRad="101600" dist="38100" dir="2700000">
              <a:srgbClr val="0B2A20">
                <a:alpha val="12000"/>
              </a:srgbClr>
            </a:outerShdw>
          </a:effectLst>
        </p:spPr>
      </p:sp>
      <p:sp>
        <p:nvSpPr>
          <p:cNvPr id="35" name="Shape 28"/>
          <p:cNvSpPr/>
          <p:nvPr/>
        </p:nvSpPr>
        <p:spPr>
          <a:xfrm>
            <a:off x="8275320" y="4251960"/>
            <a:ext cx="548640" cy="54864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36" name="Image 5" descr="preencoded.png">    </p:cNvPr>
          <p:cNvPicPr>
            <a:picLocks noChangeAspect="1"/>
          </p:cNvPicPr>
          <p:nvPr/>
        </p:nvPicPr>
        <p:blipFill>
          <a:blip r:embed="rId6"/>
          <a:stretch>
            <a:fillRect/>
          </a:stretch>
        </p:blipFill>
        <p:spPr>
          <a:xfrm>
            <a:off x="8346643" y="4323283"/>
            <a:ext cx="405994" cy="405994"/>
          </a:xfrm>
          <a:prstGeom prst="rect">
            <a:avLst/>
          </a:prstGeom>
        </p:spPr>
      </p:pic>
      <p:sp>
        <p:nvSpPr>
          <p:cNvPr id="37" name="Text 29"/>
          <p:cNvSpPr/>
          <p:nvPr/>
        </p:nvSpPr>
        <p:spPr>
          <a:xfrm>
            <a:off x="11155680" y="4187952"/>
            <a:ext cx="365760" cy="320040"/>
          </a:xfrm>
          <a:prstGeom prst="rect">
            <a:avLst/>
          </a:prstGeom>
          <a:noFill/>
          <a:ln/>
        </p:spPr>
        <p:txBody>
          <a:bodyPr wrap="square" lIns="0" tIns="0" rIns="0" bIns="0" rtlCol="0" anchor="ctr"/>
          <a:lstStyle/>
          <a:p>
            <a:pPr algn="r" indent="0" marL="0">
              <a:buNone/>
            </a:pPr>
            <a:r>
              <a:rPr lang="en-US" sz="1600" b="1" dirty="0">
                <a:solidFill>
                  <a:srgbClr val="5B6E64"/>
                </a:solidFill>
                <a:latin typeface="Cambria" pitchFamily="34" charset="0"/>
                <a:ea typeface="Cambria" pitchFamily="34" charset="-122"/>
                <a:cs typeface="Cambria" pitchFamily="34" charset="-120"/>
              </a:rPr>
              <a:t>6</a:t>
            </a:r>
            <a:endParaRPr lang="en-US" sz="1600" dirty="0"/>
          </a:p>
        </p:txBody>
      </p:sp>
      <p:sp>
        <p:nvSpPr>
          <p:cNvPr id="38" name="Text 30"/>
          <p:cNvSpPr/>
          <p:nvPr/>
        </p:nvSpPr>
        <p:spPr>
          <a:xfrm>
            <a:off x="8275320" y="4919472"/>
            <a:ext cx="3154680" cy="320040"/>
          </a:xfrm>
          <a:prstGeom prst="rect">
            <a:avLst/>
          </a:prstGeom>
          <a:noFill/>
          <a:ln/>
        </p:spPr>
        <p:txBody>
          <a:bodyPr wrap="square" lIns="0" tIns="0" rIns="0" bIns="0" rtlCol="0" anchor="ctr"/>
          <a:lstStyle/>
          <a:p>
            <a:pPr indent="0" marL="0">
              <a:buNone/>
            </a:pPr>
            <a:r>
              <a:rPr lang="en-US" sz="1450" b="1" dirty="0">
                <a:solidFill>
                  <a:srgbClr val="16241F"/>
                </a:solidFill>
                <a:latin typeface="Cambria" pitchFamily="34" charset="0"/>
                <a:ea typeface="Cambria" pitchFamily="34" charset="-122"/>
                <a:cs typeface="Cambria" pitchFamily="34" charset="-120"/>
              </a:rPr>
              <a:t>Power Restored</a:t>
            </a:r>
            <a:endParaRPr lang="en-US" sz="1450" dirty="0"/>
          </a:p>
        </p:txBody>
      </p:sp>
      <p:sp>
        <p:nvSpPr>
          <p:cNvPr id="39" name="Text 31"/>
          <p:cNvSpPr/>
          <p:nvPr/>
        </p:nvSpPr>
        <p:spPr>
          <a:xfrm>
            <a:off x="8275320" y="5257800"/>
            <a:ext cx="3154680" cy="822960"/>
          </a:xfrm>
          <a:prstGeom prst="rect">
            <a:avLst/>
          </a:prstGeom>
          <a:noFill/>
          <a:ln/>
        </p:spPr>
        <p:txBody>
          <a:bodyPr wrap="square" lIns="0" tIns="0" rIns="0" bIns="0" rtlCol="0" anchor="ctr"/>
          <a:lstStyle/>
          <a:p>
            <a:pPr indent="0" marL="0">
              <a:buNone/>
            </a:pPr>
            <a:r>
              <a:rPr lang="en-US" sz="1150" dirty="0">
                <a:solidFill>
                  <a:srgbClr val="5B6E64"/>
                </a:solidFill>
                <a:latin typeface="Calibri" pitchFamily="34" charset="0"/>
                <a:ea typeface="Calibri" pitchFamily="34" charset="-122"/>
                <a:cs typeface="Calibri" pitchFamily="34" charset="-120"/>
              </a:rPr>
              <a:t>Return through the portal — lights and TV switch on.</a:t>
            </a:r>
            <a:endParaRPr lang="en-US" sz="1150" dirty="0"/>
          </a:p>
        </p:txBody>
      </p:sp>
      <p:sp>
        <p:nvSpPr>
          <p:cNvPr id="41" name="Text 3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42" name="Text 3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2E8B57"/>
                </a:solidFill>
                <a:latin typeface="Calibri" pitchFamily="34" charset="0"/>
                <a:ea typeface="Calibri" pitchFamily="34" charset="-122"/>
                <a:cs typeface="Calibri" pitchFamily="34" charset="-120"/>
              </a:rPr>
              <a:t>ENVIRONMENT 1</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The Smart Home</a:t>
            </a:r>
            <a:endParaRPr lang="en-US" sz="3000" dirty="0"/>
          </a:p>
        </p:txBody>
      </p:sp>
      <p:sp>
        <p:nvSpPr>
          <p:cNvPr id="4" name="Shape 2"/>
          <p:cNvSpPr/>
          <p:nvPr/>
        </p:nvSpPr>
        <p:spPr>
          <a:xfrm>
            <a:off x="548640" y="1691640"/>
            <a:ext cx="5029200" cy="4434840"/>
          </a:xfrm>
          <a:prstGeom prst="roundRect">
            <a:avLst>
              <a:gd name="adj" fmla="val 1856"/>
            </a:avLst>
          </a:prstGeom>
          <a:solidFill>
            <a:srgbClr val="134D3B"/>
          </a:solidFill>
          <a:ln/>
          <a:effectLst>
            <a:outerShdw sx="100000" sy="100000" kx="0" ky="0" algn="bl" rotWithShape="0" blurRad="101600" dist="38100" dir="2700000">
              <a:srgbClr val="0B2A20">
                <a:alpha val="12000"/>
              </a:srgbClr>
            </a:outerShdw>
          </a:effectLst>
        </p:spPr>
      </p:sp>
      <p:sp>
        <p:nvSpPr>
          <p:cNvPr id="5" name="Text 3"/>
          <p:cNvSpPr/>
          <p:nvPr/>
        </p:nvSpPr>
        <p:spPr>
          <a:xfrm>
            <a:off x="822960" y="3291840"/>
            <a:ext cx="4480560" cy="1371600"/>
          </a:xfrm>
          <a:prstGeom prst="rect">
            <a:avLst/>
          </a:prstGeom>
          <a:noFill/>
          <a:ln/>
        </p:spPr>
        <p:txBody>
          <a:bodyPr wrap="square" lIns="0" tIns="0" rIns="0" bIns="0" rtlCol="0" anchor="ctr"/>
          <a:lstStyle/>
          <a:p>
            <a:pPr algn="ctr" indent="0" marL="0">
              <a:buNone/>
            </a:pPr>
            <a:r>
              <a:rPr lang="en-US" sz="1300" i="1" dirty="0">
                <a:solidFill>
                  <a:srgbClr val="9FD9C6"/>
                </a:solidFill>
                <a:latin typeface="Calibri" pitchFamily="34" charset="0"/>
                <a:ea typeface="Calibri" pitchFamily="34" charset="-122"/>
                <a:cs typeface="Calibri" pitchFamily="34" charset="-120"/>
              </a:rPr>
              <a:t>[ SCREENSHOT ]</a:t>
            </a:r>
            <a:endParaRPr lang="en-US" sz="1300" dirty="0"/>
          </a:p>
          <a:p>
            <a:pPr algn="ctr" indent="0" marL="0">
              <a:buNone/>
            </a:pPr>
            <a:r>
              <a:rPr lang="en-US" sz="1300" i="1" dirty="0">
                <a:solidFill>
                  <a:srgbClr val="9FD9C6"/>
                </a:solidFill>
                <a:latin typeface="Calibri" pitchFamily="34" charset="0"/>
                <a:ea typeface="Calibri" pitchFamily="34" charset="-122"/>
                <a:cs typeface="Calibri" pitchFamily="34" charset="-120"/>
              </a:rPr>
              <a:t>Wide shot of the Living Room</a:t>
            </a:r>
            <a:endParaRPr lang="en-US" sz="1300" dirty="0"/>
          </a:p>
          <a:p>
            <a:pPr algn="ctr" indent="0" marL="0">
              <a:buNone/>
            </a:pPr>
            <a:r>
              <a:rPr lang="en-US" sz="1300" i="1" dirty="0">
                <a:solidFill>
                  <a:srgbClr val="9FD9C6"/>
                </a:solidFill>
                <a:latin typeface="Calibri" pitchFamily="34" charset="0"/>
                <a:ea typeface="Calibri" pitchFamily="34" charset="-122"/>
                <a:cs typeface="Calibri" pitchFamily="34" charset="-120"/>
              </a:rPr>
              <a:t>showing furniture &amp; main switch</a:t>
            </a:r>
            <a:endParaRPr lang="en-US" sz="1300" dirty="0"/>
          </a:p>
        </p:txBody>
      </p:sp>
      <p:sp>
        <p:nvSpPr>
          <p:cNvPr id="6" name="Shape 4"/>
          <p:cNvSpPr/>
          <p:nvPr/>
        </p:nvSpPr>
        <p:spPr>
          <a:xfrm>
            <a:off x="822960" y="1920240"/>
            <a:ext cx="548640" cy="54864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7" name="Image 0" descr="preencoded.png">    </p:cNvPr>
          <p:cNvPicPr>
            <a:picLocks noChangeAspect="1"/>
          </p:cNvPicPr>
          <p:nvPr/>
        </p:nvPicPr>
        <p:blipFill>
          <a:blip r:embed="rId1"/>
          <a:stretch>
            <a:fillRect/>
          </a:stretch>
        </p:blipFill>
        <p:spPr>
          <a:xfrm>
            <a:off x="894283" y="1991563"/>
            <a:ext cx="405994" cy="405994"/>
          </a:xfrm>
          <a:prstGeom prst="rect">
            <a:avLst/>
          </a:prstGeom>
        </p:spPr>
      </p:pic>
      <p:sp>
        <p:nvSpPr>
          <p:cNvPr id="8" name="Text 5"/>
          <p:cNvSpPr/>
          <p:nvPr/>
        </p:nvSpPr>
        <p:spPr>
          <a:xfrm>
            <a:off x="1508760" y="1993392"/>
            <a:ext cx="3657600" cy="411480"/>
          </a:xfrm>
          <a:prstGeom prst="rect">
            <a:avLst/>
          </a:prstGeom>
          <a:noFill/>
          <a:ln/>
        </p:spPr>
        <p:txBody>
          <a:bodyPr wrap="square" lIns="0" tIns="0" rIns="0" bIns="0" rtlCol="0" anchor="ctr"/>
          <a:lstStyle/>
          <a:p>
            <a:pPr indent="0" marL="0">
              <a:buNone/>
            </a:pPr>
            <a:r>
              <a:rPr lang="en-US" sz="1200" dirty="0">
                <a:solidFill>
                  <a:srgbClr val="BFE7D8"/>
                </a:solidFill>
                <a:latin typeface="Calibri" pitchFamily="34" charset="0"/>
                <a:ea typeface="Calibri" pitchFamily="34" charset="-122"/>
                <a:cs typeface="Calibri" pitchFamily="34" charset="-120"/>
              </a:rPr>
              <a:t>Environment Anchor Render</a:t>
            </a:r>
            <a:endParaRPr lang="en-US" sz="1200" dirty="0"/>
          </a:p>
        </p:txBody>
      </p:sp>
      <p:sp>
        <p:nvSpPr>
          <p:cNvPr id="9" name="Shape 6"/>
          <p:cNvSpPr/>
          <p:nvPr/>
        </p:nvSpPr>
        <p:spPr>
          <a:xfrm>
            <a:off x="5806440" y="1691640"/>
            <a:ext cx="5852160" cy="1024128"/>
          </a:xfrm>
          <a:prstGeom prst="roundRect">
            <a:avLst>
              <a:gd name="adj" fmla="val 8036"/>
            </a:avLst>
          </a:prstGeom>
          <a:solidFill>
            <a:srgbClr val="FFFFFF"/>
          </a:solidFill>
          <a:ln/>
          <a:effectLst>
            <a:outerShdw sx="100000" sy="100000" kx="0" ky="0" algn="bl" rotWithShape="0" blurRad="101600" dist="38100" dir="2700000">
              <a:srgbClr val="0B2A20">
                <a:alpha val="12000"/>
              </a:srgbClr>
            </a:outerShdw>
          </a:effectLst>
        </p:spPr>
      </p:sp>
      <p:sp>
        <p:nvSpPr>
          <p:cNvPr id="10" name="Shape 7"/>
          <p:cNvSpPr/>
          <p:nvPr/>
        </p:nvSpPr>
        <p:spPr>
          <a:xfrm>
            <a:off x="5989320" y="1874520"/>
            <a:ext cx="658368" cy="658368"/>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11" name="Image 1" descr="preencoded.png">    </p:cNvPr>
          <p:cNvPicPr>
            <a:picLocks noChangeAspect="1"/>
          </p:cNvPicPr>
          <p:nvPr/>
        </p:nvPicPr>
        <p:blipFill>
          <a:blip r:embed="rId2"/>
          <a:stretch>
            <a:fillRect/>
          </a:stretch>
        </p:blipFill>
        <p:spPr>
          <a:xfrm>
            <a:off x="6074908" y="1960108"/>
            <a:ext cx="487192" cy="487192"/>
          </a:xfrm>
          <a:prstGeom prst="rect">
            <a:avLst/>
          </a:prstGeom>
        </p:spPr>
      </p:pic>
      <p:sp>
        <p:nvSpPr>
          <p:cNvPr id="12" name="Text 8"/>
          <p:cNvSpPr/>
          <p:nvPr/>
        </p:nvSpPr>
        <p:spPr>
          <a:xfrm>
            <a:off x="6812280" y="1810512"/>
            <a:ext cx="4663440" cy="32004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Living Room</a:t>
            </a:r>
            <a:endParaRPr lang="en-US" sz="1500" dirty="0"/>
          </a:p>
        </p:txBody>
      </p:sp>
      <p:sp>
        <p:nvSpPr>
          <p:cNvPr id="13" name="Text 9"/>
          <p:cNvSpPr/>
          <p:nvPr/>
        </p:nvSpPr>
        <p:spPr>
          <a:xfrm>
            <a:off x="6812280" y="2148840"/>
            <a:ext cx="4663440" cy="457200"/>
          </a:xfrm>
          <a:prstGeom prst="rect">
            <a:avLst/>
          </a:prstGeom>
          <a:noFill/>
          <a:ln/>
        </p:spPr>
        <p:txBody>
          <a:bodyPr wrap="square" lIns="0" tIns="0" rIns="0" bIns="0" rtlCol="0" anchor="ctr"/>
          <a:lstStyle/>
          <a:p>
            <a:pPr indent="0" marL="0">
              <a:buNone/>
            </a:pPr>
            <a:r>
              <a:rPr lang="en-US" sz="1200" dirty="0">
                <a:solidFill>
                  <a:srgbClr val="5B6E64"/>
                </a:solidFill>
                <a:latin typeface="Calibri" pitchFamily="34" charset="0"/>
                <a:ea typeface="Calibri" pitchFamily="34" charset="-122"/>
                <a:cs typeface="Calibri" pitchFamily="34" charset="-120"/>
              </a:rPr>
              <a:t>Furniture, main switch, and starting area.</a:t>
            </a:r>
            <a:endParaRPr lang="en-US" sz="1200" dirty="0"/>
          </a:p>
        </p:txBody>
      </p:sp>
      <p:sp>
        <p:nvSpPr>
          <p:cNvPr id="14" name="Shape 10"/>
          <p:cNvSpPr/>
          <p:nvPr/>
        </p:nvSpPr>
        <p:spPr>
          <a:xfrm>
            <a:off x="5806440" y="2852928"/>
            <a:ext cx="5852160" cy="1024128"/>
          </a:xfrm>
          <a:prstGeom prst="roundRect">
            <a:avLst>
              <a:gd name="adj" fmla="val 8036"/>
            </a:avLst>
          </a:prstGeom>
          <a:solidFill>
            <a:srgbClr val="FFFFFF"/>
          </a:solidFill>
          <a:ln/>
          <a:effectLst>
            <a:outerShdw sx="100000" sy="100000" kx="0" ky="0" algn="bl" rotWithShape="0" blurRad="101600" dist="38100" dir="2700000">
              <a:srgbClr val="0B2A20">
                <a:alpha val="12000"/>
              </a:srgbClr>
            </a:outerShdw>
          </a:effectLst>
        </p:spPr>
      </p:sp>
      <p:sp>
        <p:nvSpPr>
          <p:cNvPr id="15" name="Shape 11"/>
          <p:cNvSpPr/>
          <p:nvPr/>
        </p:nvSpPr>
        <p:spPr>
          <a:xfrm>
            <a:off x="5989320" y="3035808"/>
            <a:ext cx="658368" cy="658368"/>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16" name="Image 2" descr="preencoded.png">    </p:cNvPr>
          <p:cNvPicPr>
            <a:picLocks noChangeAspect="1"/>
          </p:cNvPicPr>
          <p:nvPr/>
        </p:nvPicPr>
        <p:blipFill>
          <a:blip r:embed="rId3"/>
          <a:stretch>
            <a:fillRect/>
          </a:stretch>
        </p:blipFill>
        <p:spPr>
          <a:xfrm>
            <a:off x="6074908" y="3121396"/>
            <a:ext cx="487192" cy="487192"/>
          </a:xfrm>
          <a:prstGeom prst="rect">
            <a:avLst/>
          </a:prstGeom>
        </p:spPr>
      </p:pic>
      <p:sp>
        <p:nvSpPr>
          <p:cNvPr id="17" name="Text 12"/>
          <p:cNvSpPr/>
          <p:nvPr/>
        </p:nvSpPr>
        <p:spPr>
          <a:xfrm>
            <a:off x="6812280" y="2971800"/>
            <a:ext cx="4663440" cy="32004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Television</a:t>
            </a:r>
            <a:endParaRPr lang="en-US" sz="1500" dirty="0"/>
          </a:p>
        </p:txBody>
      </p:sp>
      <p:sp>
        <p:nvSpPr>
          <p:cNvPr id="18" name="Text 13"/>
          <p:cNvSpPr/>
          <p:nvPr/>
        </p:nvSpPr>
        <p:spPr>
          <a:xfrm>
            <a:off x="6812280" y="3310128"/>
            <a:ext cx="4663440" cy="457200"/>
          </a:xfrm>
          <a:prstGeom prst="rect">
            <a:avLst/>
          </a:prstGeom>
          <a:noFill/>
          <a:ln/>
        </p:spPr>
        <p:txBody>
          <a:bodyPr wrap="square" lIns="0" tIns="0" rIns="0" bIns="0" rtlCol="0" anchor="ctr"/>
          <a:lstStyle/>
          <a:p>
            <a:pPr indent="0" marL="0">
              <a:buNone/>
            </a:pPr>
            <a:r>
              <a:rPr lang="en-US" sz="1200" dirty="0">
                <a:solidFill>
                  <a:srgbClr val="5B6E64"/>
                </a:solidFill>
                <a:latin typeface="Calibri" pitchFamily="34" charset="0"/>
                <a:ea typeface="Calibri" pitchFamily="34" charset="-122"/>
                <a:cs typeface="Calibri" pitchFamily="34" charset="-120"/>
              </a:rPr>
              <a:t>Powers on once electricity is restored.</a:t>
            </a:r>
            <a:endParaRPr lang="en-US" sz="1200" dirty="0"/>
          </a:p>
        </p:txBody>
      </p:sp>
      <p:sp>
        <p:nvSpPr>
          <p:cNvPr id="19" name="Shape 14"/>
          <p:cNvSpPr/>
          <p:nvPr/>
        </p:nvSpPr>
        <p:spPr>
          <a:xfrm>
            <a:off x="5806440" y="4014216"/>
            <a:ext cx="5852160" cy="1024128"/>
          </a:xfrm>
          <a:prstGeom prst="roundRect">
            <a:avLst>
              <a:gd name="adj" fmla="val 8036"/>
            </a:avLst>
          </a:prstGeom>
          <a:solidFill>
            <a:srgbClr val="FFFFFF"/>
          </a:solidFill>
          <a:ln/>
          <a:effectLst>
            <a:outerShdw sx="100000" sy="100000" kx="0" ky="0" algn="bl" rotWithShape="0" blurRad="101600" dist="38100" dir="2700000">
              <a:srgbClr val="0B2A20">
                <a:alpha val="12000"/>
              </a:srgbClr>
            </a:outerShdw>
          </a:effectLst>
        </p:spPr>
      </p:sp>
      <p:sp>
        <p:nvSpPr>
          <p:cNvPr id="20" name="Shape 15"/>
          <p:cNvSpPr/>
          <p:nvPr/>
        </p:nvSpPr>
        <p:spPr>
          <a:xfrm>
            <a:off x="5989320" y="4197096"/>
            <a:ext cx="658368" cy="658368"/>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21" name="Image 3" descr="preencoded.png">    </p:cNvPr>
          <p:cNvPicPr>
            <a:picLocks noChangeAspect="1"/>
          </p:cNvPicPr>
          <p:nvPr/>
        </p:nvPicPr>
        <p:blipFill>
          <a:blip r:embed="rId4"/>
          <a:stretch>
            <a:fillRect/>
          </a:stretch>
        </p:blipFill>
        <p:spPr>
          <a:xfrm>
            <a:off x="6074908" y="4282684"/>
            <a:ext cx="487192" cy="487192"/>
          </a:xfrm>
          <a:prstGeom prst="rect">
            <a:avLst/>
          </a:prstGeom>
        </p:spPr>
      </p:pic>
      <p:sp>
        <p:nvSpPr>
          <p:cNvPr id="22" name="Text 16"/>
          <p:cNvSpPr/>
          <p:nvPr/>
        </p:nvSpPr>
        <p:spPr>
          <a:xfrm>
            <a:off x="6812280" y="4133088"/>
            <a:ext cx="4663440" cy="32004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Bedroom</a:t>
            </a:r>
            <a:endParaRPr lang="en-US" sz="1500" dirty="0"/>
          </a:p>
        </p:txBody>
      </p:sp>
      <p:sp>
        <p:nvSpPr>
          <p:cNvPr id="23" name="Text 17"/>
          <p:cNvSpPr/>
          <p:nvPr/>
        </p:nvSpPr>
        <p:spPr>
          <a:xfrm>
            <a:off x="6812280" y="4471416"/>
            <a:ext cx="4663440" cy="457200"/>
          </a:xfrm>
          <a:prstGeom prst="rect">
            <a:avLst/>
          </a:prstGeom>
          <a:noFill/>
          <a:ln/>
        </p:spPr>
        <p:txBody>
          <a:bodyPr wrap="square" lIns="0" tIns="0" rIns="0" bIns="0" rtlCol="0" anchor="ctr"/>
          <a:lstStyle/>
          <a:p>
            <a:pPr indent="0" marL="0">
              <a:buNone/>
            </a:pPr>
            <a:r>
              <a:rPr lang="en-US" sz="1200" dirty="0">
                <a:solidFill>
                  <a:srgbClr val="5B6E64"/>
                </a:solidFill>
                <a:latin typeface="Calibri" pitchFamily="34" charset="0"/>
                <a:ea typeface="Calibri" pitchFamily="34" charset="-122"/>
                <a:cs typeface="Calibri" pitchFamily="34" charset="-120"/>
              </a:rPr>
              <a:t>Explorable room with household objects.</a:t>
            </a:r>
            <a:endParaRPr lang="en-US" sz="1200" dirty="0"/>
          </a:p>
        </p:txBody>
      </p:sp>
      <p:sp>
        <p:nvSpPr>
          <p:cNvPr id="24" name="Shape 18"/>
          <p:cNvSpPr/>
          <p:nvPr/>
        </p:nvSpPr>
        <p:spPr>
          <a:xfrm>
            <a:off x="5806440" y="5175504"/>
            <a:ext cx="5852160" cy="1024128"/>
          </a:xfrm>
          <a:prstGeom prst="roundRect">
            <a:avLst>
              <a:gd name="adj" fmla="val 8036"/>
            </a:avLst>
          </a:prstGeom>
          <a:solidFill>
            <a:srgbClr val="FFFFFF"/>
          </a:solidFill>
          <a:ln/>
          <a:effectLst>
            <a:outerShdw sx="100000" sy="100000" kx="0" ky="0" algn="bl" rotWithShape="0" blurRad="101600" dist="38100" dir="2700000">
              <a:srgbClr val="0B2A20">
                <a:alpha val="12000"/>
              </a:srgbClr>
            </a:outerShdw>
          </a:effectLst>
        </p:spPr>
      </p:sp>
      <p:sp>
        <p:nvSpPr>
          <p:cNvPr id="25" name="Shape 19"/>
          <p:cNvSpPr/>
          <p:nvPr/>
        </p:nvSpPr>
        <p:spPr>
          <a:xfrm>
            <a:off x="5989320" y="5358384"/>
            <a:ext cx="658368" cy="658368"/>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26" name="Image 4" descr="preencoded.png">    </p:cNvPr>
          <p:cNvPicPr>
            <a:picLocks noChangeAspect="1"/>
          </p:cNvPicPr>
          <p:nvPr/>
        </p:nvPicPr>
        <p:blipFill>
          <a:blip r:embed="rId5"/>
          <a:stretch>
            <a:fillRect/>
          </a:stretch>
        </p:blipFill>
        <p:spPr>
          <a:xfrm>
            <a:off x="6074908" y="5443972"/>
            <a:ext cx="487192" cy="487192"/>
          </a:xfrm>
          <a:prstGeom prst="rect">
            <a:avLst/>
          </a:prstGeom>
        </p:spPr>
      </p:pic>
      <p:sp>
        <p:nvSpPr>
          <p:cNvPr id="27" name="Text 20"/>
          <p:cNvSpPr/>
          <p:nvPr/>
        </p:nvSpPr>
        <p:spPr>
          <a:xfrm>
            <a:off x="6812280" y="5294376"/>
            <a:ext cx="4663440" cy="32004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Kitchen</a:t>
            </a:r>
            <a:endParaRPr lang="en-US" sz="1500" dirty="0"/>
          </a:p>
        </p:txBody>
      </p:sp>
      <p:sp>
        <p:nvSpPr>
          <p:cNvPr id="28" name="Text 21"/>
          <p:cNvSpPr/>
          <p:nvPr/>
        </p:nvSpPr>
        <p:spPr>
          <a:xfrm>
            <a:off x="6812280" y="5632704"/>
            <a:ext cx="4663440" cy="457200"/>
          </a:xfrm>
          <a:prstGeom prst="rect">
            <a:avLst/>
          </a:prstGeom>
          <a:noFill/>
          <a:ln/>
        </p:spPr>
        <p:txBody>
          <a:bodyPr wrap="square" lIns="0" tIns="0" rIns="0" bIns="0" rtlCol="0" anchor="ctr"/>
          <a:lstStyle/>
          <a:p>
            <a:pPr indent="0" marL="0">
              <a:buNone/>
            </a:pPr>
            <a:r>
              <a:rPr lang="en-US" sz="1200" dirty="0">
                <a:solidFill>
                  <a:srgbClr val="5B6E64"/>
                </a:solidFill>
                <a:latin typeface="Calibri" pitchFamily="34" charset="0"/>
                <a:ea typeface="Calibri" pitchFamily="34" charset="-122"/>
                <a:cs typeface="Calibri" pitchFamily="34" charset="-120"/>
              </a:rPr>
              <a:t>Additional interactive household objects.</a:t>
            </a:r>
            <a:endParaRPr lang="en-US" sz="1200" dirty="0"/>
          </a:p>
        </p:txBody>
      </p:sp>
      <p:sp>
        <p:nvSpPr>
          <p:cNvPr id="30"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31"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ENVIRONMENT 2</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The Rooftop Solar Station</a:t>
            </a:r>
            <a:endParaRPr lang="en-US" sz="3000" dirty="0"/>
          </a:p>
        </p:txBody>
      </p:sp>
      <p:sp>
        <p:nvSpPr>
          <p:cNvPr id="4" name="Shape 2"/>
          <p:cNvSpPr/>
          <p:nvPr/>
        </p:nvSpPr>
        <p:spPr>
          <a:xfrm>
            <a:off x="6583680" y="1691640"/>
            <a:ext cx="5074920" cy="4434840"/>
          </a:xfrm>
          <a:prstGeom prst="roundRect">
            <a:avLst>
              <a:gd name="adj" fmla="val 1856"/>
            </a:avLst>
          </a:prstGeom>
          <a:solidFill>
            <a:srgbClr val="134D3B"/>
          </a:solidFill>
          <a:ln/>
          <a:effectLst>
            <a:outerShdw sx="100000" sy="100000" kx="0" ky="0" algn="bl" rotWithShape="0" blurRad="101600" dist="38100" dir="2700000">
              <a:srgbClr val="0B2A20">
                <a:alpha val="12000"/>
              </a:srgbClr>
            </a:outerShdw>
          </a:effectLst>
        </p:spPr>
      </p:sp>
      <p:sp>
        <p:nvSpPr>
          <p:cNvPr id="5" name="Text 3"/>
          <p:cNvSpPr/>
          <p:nvPr/>
        </p:nvSpPr>
        <p:spPr>
          <a:xfrm>
            <a:off x="6858000" y="3291840"/>
            <a:ext cx="4526280" cy="1371600"/>
          </a:xfrm>
          <a:prstGeom prst="rect">
            <a:avLst/>
          </a:prstGeom>
          <a:noFill/>
          <a:ln/>
        </p:spPr>
        <p:txBody>
          <a:bodyPr wrap="square" lIns="0" tIns="0" rIns="0" bIns="0" rtlCol="0" anchor="ctr"/>
          <a:lstStyle/>
          <a:p>
            <a:pPr algn="ctr" indent="0" marL="0">
              <a:buNone/>
            </a:pPr>
            <a:r>
              <a:rPr lang="en-US" sz="1300" i="1" dirty="0">
                <a:solidFill>
                  <a:srgbClr val="9FD9C6"/>
                </a:solidFill>
                <a:latin typeface="Calibri" pitchFamily="34" charset="0"/>
                <a:ea typeface="Calibri" pitchFamily="34" charset="-122"/>
                <a:cs typeface="Calibri" pitchFamily="34" charset="-120"/>
              </a:rPr>
              <a:t>[ SCREENSHOT ]</a:t>
            </a:r>
            <a:endParaRPr lang="en-US" sz="1300" dirty="0"/>
          </a:p>
          <a:p>
            <a:pPr algn="ctr" indent="0" marL="0">
              <a:buNone/>
            </a:pPr>
            <a:r>
              <a:rPr lang="en-US" sz="1300" i="1" dirty="0">
                <a:solidFill>
                  <a:srgbClr val="9FD9C6"/>
                </a:solidFill>
                <a:latin typeface="Calibri" pitchFamily="34" charset="0"/>
                <a:ea typeface="Calibri" pitchFamily="34" charset="-122"/>
                <a:cs typeface="Calibri" pitchFamily="34" charset="-120"/>
              </a:rPr>
              <a:t>Rooftop view of solar panels,</a:t>
            </a:r>
            <a:endParaRPr lang="en-US" sz="1300" dirty="0"/>
          </a:p>
          <a:p>
            <a:pPr algn="ctr" indent="0" marL="0">
              <a:buNone/>
            </a:pPr>
            <a:r>
              <a:rPr lang="en-US" sz="1300" i="1" dirty="0">
                <a:solidFill>
                  <a:srgbClr val="9FD9C6"/>
                </a:solidFill>
                <a:latin typeface="Calibri" pitchFamily="34" charset="0"/>
                <a:ea typeface="Calibri" pitchFamily="34" charset="-122"/>
                <a:cs typeface="Calibri" pitchFamily="34" charset="-120"/>
              </a:rPr>
              <a:t>trees, and storage area</a:t>
            </a:r>
            <a:endParaRPr lang="en-US" sz="1300" dirty="0"/>
          </a:p>
        </p:txBody>
      </p:sp>
      <p:sp>
        <p:nvSpPr>
          <p:cNvPr id="6" name="Shape 4"/>
          <p:cNvSpPr/>
          <p:nvPr/>
        </p:nvSpPr>
        <p:spPr>
          <a:xfrm>
            <a:off x="6858000" y="1920240"/>
            <a:ext cx="548640" cy="54864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7" name="Image 0" descr="preencoded.png">    </p:cNvPr>
          <p:cNvPicPr>
            <a:picLocks noChangeAspect="1"/>
          </p:cNvPicPr>
          <p:nvPr/>
        </p:nvPicPr>
        <p:blipFill>
          <a:blip r:embed="rId1"/>
          <a:stretch>
            <a:fillRect/>
          </a:stretch>
        </p:blipFill>
        <p:spPr>
          <a:xfrm>
            <a:off x="6929323" y="1991563"/>
            <a:ext cx="405994" cy="405994"/>
          </a:xfrm>
          <a:prstGeom prst="rect">
            <a:avLst/>
          </a:prstGeom>
        </p:spPr>
      </p:pic>
      <p:sp>
        <p:nvSpPr>
          <p:cNvPr id="8" name="Text 5"/>
          <p:cNvSpPr/>
          <p:nvPr/>
        </p:nvSpPr>
        <p:spPr>
          <a:xfrm>
            <a:off x="7543800" y="1993392"/>
            <a:ext cx="3657600" cy="411480"/>
          </a:xfrm>
          <a:prstGeom prst="rect">
            <a:avLst/>
          </a:prstGeom>
          <a:noFill/>
          <a:ln/>
        </p:spPr>
        <p:txBody>
          <a:bodyPr wrap="square" lIns="0" tIns="0" rIns="0" bIns="0" rtlCol="0" anchor="ctr"/>
          <a:lstStyle/>
          <a:p>
            <a:pPr indent="0" marL="0">
              <a:buNone/>
            </a:pPr>
            <a:r>
              <a:rPr lang="en-US" sz="1200" dirty="0">
                <a:solidFill>
                  <a:srgbClr val="BFE7D8"/>
                </a:solidFill>
                <a:latin typeface="Calibri" pitchFamily="34" charset="0"/>
                <a:ea typeface="Calibri" pitchFamily="34" charset="-122"/>
                <a:cs typeface="Calibri" pitchFamily="34" charset="-120"/>
              </a:rPr>
              <a:t>Rooftop Anchor Render</a:t>
            </a:r>
            <a:endParaRPr lang="en-US" sz="1200" dirty="0"/>
          </a:p>
        </p:txBody>
      </p:sp>
      <p:sp>
        <p:nvSpPr>
          <p:cNvPr id="9" name="Shape 6"/>
          <p:cNvSpPr/>
          <p:nvPr/>
        </p:nvSpPr>
        <p:spPr>
          <a:xfrm>
            <a:off x="548640" y="1691640"/>
            <a:ext cx="5806440" cy="1024128"/>
          </a:xfrm>
          <a:prstGeom prst="roundRect">
            <a:avLst>
              <a:gd name="adj" fmla="val 8036"/>
            </a:avLst>
          </a:prstGeom>
          <a:solidFill>
            <a:srgbClr val="FFFFFF"/>
          </a:solidFill>
          <a:ln/>
          <a:effectLst>
            <a:outerShdw sx="100000" sy="100000" kx="0" ky="0" algn="bl" rotWithShape="0" blurRad="101600" dist="38100" dir="2700000">
              <a:srgbClr val="0B2A20">
                <a:alpha val="12000"/>
              </a:srgbClr>
            </a:outerShdw>
          </a:effectLst>
        </p:spPr>
      </p:sp>
      <p:sp>
        <p:nvSpPr>
          <p:cNvPr id="10" name="Shape 7"/>
          <p:cNvSpPr/>
          <p:nvPr/>
        </p:nvSpPr>
        <p:spPr>
          <a:xfrm>
            <a:off x="731520" y="1874520"/>
            <a:ext cx="658368" cy="658368"/>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1" name="Image 1" descr="preencoded.png">    </p:cNvPr>
          <p:cNvPicPr>
            <a:picLocks noChangeAspect="1"/>
          </p:cNvPicPr>
          <p:nvPr/>
        </p:nvPicPr>
        <p:blipFill>
          <a:blip r:embed="rId2"/>
          <a:stretch>
            <a:fillRect/>
          </a:stretch>
        </p:blipFill>
        <p:spPr>
          <a:xfrm>
            <a:off x="817108" y="1960108"/>
            <a:ext cx="487192" cy="487192"/>
          </a:xfrm>
          <a:prstGeom prst="rect">
            <a:avLst/>
          </a:prstGeom>
        </p:spPr>
      </p:pic>
      <p:sp>
        <p:nvSpPr>
          <p:cNvPr id="12" name="Text 8"/>
          <p:cNvSpPr/>
          <p:nvPr/>
        </p:nvSpPr>
        <p:spPr>
          <a:xfrm>
            <a:off x="1554480" y="1810512"/>
            <a:ext cx="4663440" cy="32004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Solar Panels</a:t>
            </a:r>
            <a:endParaRPr lang="en-US" sz="1500" dirty="0"/>
          </a:p>
        </p:txBody>
      </p:sp>
      <p:sp>
        <p:nvSpPr>
          <p:cNvPr id="13" name="Text 9"/>
          <p:cNvSpPr/>
          <p:nvPr/>
        </p:nvSpPr>
        <p:spPr>
          <a:xfrm>
            <a:off x="1554480" y="2148840"/>
            <a:ext cx="4663440" cy="457200"/>
          </a:xfrm>
          <a:prstGeom prst="rect">
            <a:avLst/>
          </a:prstGeom>
          <a:noFill/>
          <a:ln/>
        </p:spPr>
        <p:txBody>
          <a:bodyPr wrap="square" lIns="0" tIns="0" rIns="0" bIns="0" rtlCol="0" anchor="ctr"/>
          <a:lstStyle/>
          <a:p>
            <a:pPr indent="0" marL="0">
              <a:buNone/>
            </a:pPr>
            <a:r>
              <a:rPr lang="en-US" sz="1200" dirty="0">
                <a:solidFill>
                  <a:srgbClr val="5B6E64"/>
                </a:solidFill>
                <a:latin typeface="Calibri" pitchFamily="34" charset="0"/>
                <a:ea typeface="Calibri" pitchFamily="34" charset="-122"/>
                <a:cs typeface="Calibri" pitchFamily="34" charset="-120"/>
              </a:rPr>
              <a:t>Main repair objective — restores renewable energy generation.</a:t>
            </a:r>
            <a:endParaRPr lang="en-US" sz="1200" dirty="0"/>
          </a:p>
        </p:txBody>
      </p:sp>
      <p:sp>
        <p:nvSpPr>
          <p:cNvPr id="14" name="Shape 10"/>
          <p:cNvSpPr/>
          <p:nvPr/>
        </p:nvSpPr>
        <p:spPr>
          <a:xfrm>
            <a:off x="548640" y="2852928"/>
            <a:ext cx="5806440" cy="1024128"/>
          </a:xfrm>
          <a:prstGeom prst="roundRect">
            <a:avLst>
              <a:gd name="adj" fmla="val 8036"/>
            </a:avLst>
          </a:prstGeom>
          <a:solidFill>
            <a:srgbClr val="FFFFFF"/>
          </a:solidFill>
          <a:ln/>
          <a:effectLst>
            <a:outerShdw sx="100000" sy="100000" kx="0" ky="0" algn="bl" rotWithShape="0" blurRad="101600" dist="38100" dir="2700000">
              <a:srgbClr val="0B2A20">
                <a:alpha val="12000"/>
              </a:srgbClr>
            </a:outerShdw>
          </a:effectLst>
        </p:spPr>
      </p:sp>
      <p:sp>
        <p:nvSpPr>
          <p:cNvPr id="15" name="Shape 11"/>
          <p:cNvSpPr/>
          <p:nvPr/>
        </p:nvSpPr>
        <p:spPr>
          <a:xfrm>
            <a:off x="731520" y="3035808"/>
            <a:ext cx="658368" cy="658368"/>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6" name="Image 2" descr="preencoded.png">    </p:cNvPr>
          <p:cNvPicPr>
            <a:picLocks noChangeAspect="1"/>
          </p:cNvPicPr>
          <p:nvPr/>
        </p:nvPicPr>
        <p:blipFill>
          <a:blip r:embed="rId3"/>
          <a:stretch>
            <a:fillRect/>
          </a:stretch>
        </p:blipFill>
        <p:spPr>
          <a:xfrm>
            <a:off x="817108" y="3121396"/>
            <a:ext cx="487192" cy="487192"/>
          </a:xfrm>
          <a:prstGeom prst="rect">
            <a:avLst/>
          </a:prstGeom>
        </p:spPr>
      </p:pic>
      <p:sp>
        <p:nvSpPr>
          <p:cNvPr id="17" name="Text 12"/>
          <p:cNvSpPr/>
          <p:nvPr/>
        </p:nvSpPr>
        <p:spPr>
          <a:xfrm>
            <a:off x="1554480" y="2971800"/>
            <a:ext cx="4663440" cy="32004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Key Collection Area</a:t>
            </a:r>
            <a:endParaRPr lang="en-US" sz="1500" dirty="0"/>
          </a:p>
        </p:txBody>
      </p:sp>
      <p:sp>
        <p:nvSpPr>
          <p:cNvPr id="18" name="Text 13"/>
          <p:cNvSpPr/>
          <p:nvPr/>
        </p:nvSpPr>
        <p:spPr>
          <a:xfrm>
            <a:off x="1554480" y="3310128"/>
            <a:ext cx="4663440" cy="457200"/>
          </a:xfrm>
          <a:prstGeom prst="rect">
            <a:avLst/>
          </a:prstGeom>
          <a:noFill/>
          <a:ln/>
        </p:spPr>
        <p:txBody>
          <a:bodyPr wrap="square" lIns="0" tIns="0" rIns="0" bIns="0" rtlCol="0" anchor="ctr"/>
          <a:lstStyle/>
          <a:p>
            <a:pPr indent="0" marL="0">
              <a:buNone/>
            </a:pPr>
            <a:r>
              <a:rPr lang="en-US" sz="1200" dirty="0">
                <a:solidFill>
                  <a:srgbClr val="5B6E64"/>
                </a:solidFill>
                <a:latin typeface="Calibri" pitchFamily="34" charset="0"/>
                <a:ea typeface="Calibri" pitchFamily="34" charset="-122"/>
                <a:cs typeface="Calibri" pitchFamily="34" charset="-120"/>
              </a:rPr>
              <a:t>Player locates the key needed to access storage.</a:t>
            </a:r>
            <a:endParaRPr lang="en-US" sz="1200" dirty="0"/>
          </a:p>
        </p:txBody>
      </p:sp>
      <p:sp>
        <p:nvSpPr>
          <p:cNvPr id="19" name="Shape 14"/>
          <p:cNvSpPr/>
          <p:nvPr/>
        </p:nvSpPr>
        <p:spPr>
          <a:xfrm>
            <a:off x="548640" y="4014216"/>
            <a:ext cx="5806440" cy="1024128"/>
          </a:xfrm>
          <a:prstGeom prst="roundRect">
            <a:avLst>
              <a:gd name="adj" fmla="val 8036"/>
            </a:avLst>
          </a:prstGeom>
          <a:solidFill>
            <a:srgbClr val="FFFFFF"/>
          </a:solidFill>
          <a:ln/>
          <a:effectLst>
            <a:outerShdw sx="100000" sy="100000" kx="0" ky="0" algn="bl" rotWithShape="0" blurRad="101600" dist="38100" dir="2700000">
              <a:srgbClr val="0B2A20">
                <a:alpha val="12000"/>
              </a:srgbClr>
            </a:outerShdw>
          </a:effectLst>
        </p:spPr>
      </p:sp>
      <p:sp>
        <p:nvSpPr>
          <p:cNvPr id="20" name="Shape 15"/>
          <p:cNvSpPr/>
          <p:nvPr/>
        </p:nvSpPr>
        <p:spPr>
          <a:xfrm>
            <a:off x="731520" y="4197096"/>
            <a:ext cx="658368" cy="658368"/>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21" name="Image 3" descr="preencoded.png">    </p:cNvPr>
          <p:cNvPicPr>
            <a:picLocks noChangeAspect="1"/>
          </p:cNvPicPr>
          <p:nvPr/>
        </p:nvPicPr>
        <p:blipFill>
          <a:blip r:embed="rId4"/>
          <a:stretch>
            <a:fillRect/>
          </a:stretch>
        </p:blipFill>
        <p:spPr>
          <a:xfrm>
            <a:off x="817108" y="4282684"/>
            <a:ext cx="487192" cy="487192"/>
          </a:xfrm>
          <a:prstGeom prst="rect">
            <a:avLst/>
          </a:prstGeom>
        </p:spPr>
      </p:pic>
      <p:sp>
        <p:nvSpPr>
          <p:cNvPr id="22" name="Text 16"/>
          <p:cNvSpPr/>
          <p:nvPr/>
        </p:nvSpPr>
        <p:spPr>
          <a:xfrm>
            <a:off x="1554480" y="4133088"/>
            <a:ext cx="4663440" cy="32004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Trees &amp; Flowers</a:t>
            </a:r>
            <a:endParaRPr lang="en-US" sz="1500" dirty="0"/>
          </a:p>
        </p:txBody>
      </p:sp>
      <p:sp>
        <p:nvSpPr>
          <p:cNvPr id="23" name="Text 17"/>
          <p:cNvSpPr/>
          <p:nvPr/>
        </p:nvSpPr>
        <p:spPr>
          <a:xfrm>
            <a:off x="1554480" y="4471416"/>
            <a:ext cx="4663440" cy="457200"/>
          </a:xfrm>
          <a:prstGeom prst="rect">
            <a:avLst/>
          </a:prstGeom>
          <a:noFill/>
          <a:ln/>
        </p:spPr>
        <p:txBody>
          <a:bodyPr wrap="square" lIns="0" tIns="0" rIns="0" bIns="0" rtlCol="0" anchor="ctr"/>
          <a:lstStyle/>
          <a:p>
            <a:pPr indent="0" marL="0">
              <a:buNone/>
            </a:pPr>
            <a:r>
              <a:rPr lang="en-US" sz="1200" dirty="0">
                <a:solidFill>
                  <a:srgbClr val="5B6E64"/>
                </a:solidFill>
                <a:latin typeface="Calibri" pitchFamily="34" charset="0"/>
                <a:ea typeface="Calibri" pitchFamily="34" charset="-122"/>
                <a:cs typeface="Calibri" pitchFamily="34" charset="-120"/>
              </a:rPr>
              <a:t>Green, low-poly landscaping reinforces the eco theme.</a:t>
            </a:r>
            <a:endParaRPr lang="en-US" sz="1200" dirty="0"/>
          </a:p>
        </p:txBody>
      </p:sp>
      <p:sp>
        <p:nvSpPr>
          <p:cNvPr id="24" name="Shape 18"/>
          <p:cNvSpPr/>
          <p:nvPr/>
        </p:nvSpPr>
        <p:spPr>
          <a:xfrm>
            <a:off x="548640" y="5175504"/>
            <a:ext cx="5806440" cy="1024128"/>
          </a:xfrm>
          <a:prstGeom prst="roundRect">
            <a:avLst>
              <a:gd name="adj" fmla="val 8036"/>
            </a:avLst>
          </a:prstGeom>
          <a:solidFill>
            <a:srgbClr val="FFFFFF"/>
          </a:solidFill>
          <a:ln/>
          <a:effectLst>
            <a:outerShdw sx="100000" sy="100000" kx="0" ky="0" algn="bl" rotWithShape="0" blurRad="101600" dist="38100" dir="2700000">
              <a:srgbClr val="0B2A20">
                <a:alpha val="12000"/>
              </a:srgbClr>
            </a:outerShdw>
          </a:effectLst>
        </p:spPr>
      </p:sp>
      <p:sp>
        <p:nvSpPr>
          <p:cNvPr id="25" name="Shape 19"/>
          <p:cNvSpPr/>
          <p:nvPr/>
        </p:nvSpPr>
        <p:spPr>
          <a:xfrm>
            <a:off x="731520" y="5358384"/>
            <a:ext cx="658368" cy="658368"/>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26" name="Image 4" descr="preencoded.png">    </p:cNvPr>
          <p:cNvPicPr>
            <a:picLocks noChangeAspect="1"/>
          </p:cNvPicPr>
          <p:nvPr/>
        </p:nvPicPr>
        <p:blipFill>
          <a:blip r:embed="rId5"/>
          <a:stretch>
            <a:fillRect/>
          </a:stretch>
        </p:blipFill>
        <p:spPr>
          <a:xfrm>
            <a:off x="817108" y="5443972"/>
            <a:ext cx="487192" cy="487192"/>
          </a:xfrm>
          <a:prstGeom prst="rect">
            <a:avLst/>
          </a:prstGeom>
        </p:spPr>
      </p:pic>
      <p:sp>
        <p:nvSpPr>
          <p:cNvPr id="27" name="Text 20"/>
          <p:cNvSpPr/>
          <p:nvPr/>
        </p:nvSpPr>
        <p:spPr>
          <a:xfrm>
            <a:off x="1554480" y="5294376"/>
            <a:ext cx="4663440" cy="32004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Storage Area</a:t>
            </a:r>
            <a:endParaRPr lang="en-US" sz="1500" dirty="0"/>
          </a:p>
        </p:txBody>
      </p:sp>
      <p:sp>
        <p:nvSpPr>
          <p:cNvPr id="28" name="Text 21"/>
          <p:cNvSpPr/>
          <p:nvPr/>
        </p:nvSpPr>
        <p:spPr>
          <a:xfrm>
            <a:off x="1554480" y="5632704"/>
            <a:ext cx="4663440" cy="457200"/>
          </a:xfrm>
          <a:prstGeom prst="rect">
            <a:avLst/>
          </a:prstGeom>
          <a:noFill/>
          <a:ln/>
        </p:spPr>
        <p:txBody>
          <a:bodyPr wrap="square" lIns="0" tIns="0" rIns="0" bIns="0" rtlCol="0" anchor="ctr"/>
          <a:lstStyle/>
          <a:p>
            <a:pPr indent="0" marL="0">
              <a:buNone/>
            </a:pPr>
            <a:r>
              <a:rPr lang="en-US" sz="1200" dirty="0">
                <a:solidFill>
                  <a:srgbClr val="5B6E64"/>
                </a:solidFill>
                <a:latin typeface="Calibri" pitchFamily="34" charset="0"/>
                <a:ea typeface="Calibri" pitchFamily="34" charset="-122"/>
                <a:cs typeface="Calibri" pitchFamily="34" charset="-120"/>
              </a:rPr>
              <a:t>Holds items required to complete repair objectives.</a:t>
            </a:r>
            <a:endParaRPr lang="en-US" sz="1200" dirty="0"/>
          </a:p>
        </p:txBody>
      </p:sp>
      <p:sp>
        <p:nvSpPr>
          <p:cNvPr id="30"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31"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PORTAL SYSTEM</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Connecting Two Worlds</a:t>
            </a:r>
            <a:endParaRPr lang="en-US" sz="3000" dirty="0"/>
          </a:p>
        </p:txBody>
      </p:sp>
      <p:sp>
        <p:nvSpPr>
          <p:cNvPr id="4" name="Shape 2"/>
          <p:cNvSpPr/>
          <p:nvPr/>
        </p:nvSpPr>
        <p:spPr>
          <a:xfrm>
            <a:off x="548640" y="1737360"/>
            <a:ext cx="11109960" cy="1554480"/>
          </a:xfrm>
          <a:prstGeom prst="roundRect">
            <a:avLst>
              <a:gd name="adj" fmla="val 5294"/>
            </a:avLst>
          </a:prstGeom>
          <a:solidFill>
            <a:srgbClr val="FFFFFF"/>
          </a:solidFill>
          <a:ln/>
          <a:effectLst>
            <a:outerShdw sx="100000" sy="100000" kx="0" ky="0" algn="bl" rotWithShape="0" blurRad="101600" dist="38100" dir="2700000">
              <a:srgbClr val="0B2A20">
                <a:alpha val="12000"/>
              </a:srgbClr>
            </a:outerShdw>
          </a:effectLst>
        </p:spPr>
      </p:sp>
      <p:sp>
        <p:nvSpPr>
          <p:cNvPr id="5" name="Shape 3"/>
          <p:cNvSpPr/>
          <p:nvPr/>
        </p:nvSpPr>
        <p:spPr>
          <a:xfrm>
            <a:off x="1293876" y="1920240"/>
            <a:ext cx="731520" cy="73152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6" name="Image 0" descr="preencoded.png">    </p:cNvPr>
          <p:cNvPicPr>
            <a:picLocks noChangeAspect="1"/>
          </p:cNvPicPr>
          <p:nvPr/>
        </p:nvPicPr>
        <p:blipFill>
          <a:blip r:embed="rId1"/>
          <a:stretch>
            <a:fillRect/>
          </a:stretch>
        </p:blipFill>
        <p:spPr>
          <a:xfrm>
            <a:off x="1388974" y="2015338"/>
            <a:ext cx="541325" cy="541325"/>
          </a:xfrm>
          <a:prstGeom prst="rect">
            <a:avLst/>
          </a:prstGeom>
        </p:spPr>
      </p:pic>
      <p:sp>
        <p:nvSpPr>
          <p:cNvPr id="7" name="Text 4"/>
          <p:cNvSpPr/>
          <p:nvPr/>
        </p:nvSpPr>
        <p:spPr>
          <a:xfrm>
            <a:off x="640080" y="2743200"/>
            <a:ext cx="2039112" cy="457200"/>
          </a:xfrm>
          <a:prstGeom prst="rect">
            <a:avLst/>
          </a:prstGeom>
          <a:noFill/>
          <a:ln/>
        </p:spPr>
        <p:txBody>
          <a:bodyPr wrap="square" lIns="0" tIns="0" rIns="0" bIns="0" rtlCol="0" anchor="ctr"/>
          <a:lstStyle/>
          <a:p>
            <a:pPr algn="ctr" indent="0" marL="0">
              <a:buNone/>
            </a:pPr>
            <a:r>
              <a:rPr lang="en-US" sz="1150" b="1" dirty="0">
                <a:solidFill>
                  <a:srgbClr val="16241F"/>
                </a:solidFill>
                <a:latin typeface="Calibri" pitchFamily="34" charset="0"/>
                <a:ea typeface="Calibri" pitchFamily="34" charset="-122"/>
                <a:cs typeface="Calibri" pitchFamily="34" charset="-120"/>
              </a:rPr>
              <a:t>Scene 1</a:t>
            </a:r>
            <a:endParaRPr lang="en-US" sz="1150" dirty="0"/>
          </a:p>
          <a:p>
            <a:pPr algn="ctr" indent="0" marL="0">
              <a:buNone/>
            </a:pPr>
            <a:r>
              <a:rPr lang="en-US" sz="1150" b="1" dirty="0">
                <a:solidFill>
                  <a:srgbClr val="16241F"/>
                </a:solidFill>
                <a:latin typeface="Calibri" pitchFamily="34" charset="0"/>
                <a:ea typeface="Calibri" pitchFamily="34" charset="-122"/>
                <a:cs typeface="Calibri" pitchFamily="34" charset="-120"/>
              </a:rPr>
              <a:t>Smart Home</a:t>
            </a:r>
            <a:endParaRPr lang="en-US" sz="1150" dirty="0"/>
          </a:p>
        </p:txBody>
      </p:sp>
      <p:sp>
        <p:nvSpPr>
          <p:cNvPr id="8" name="Text 5"/>
          <p:cNvSpPr/>
          <p:nvPr/>
        </p:nvSpPr>
        <p:spPr>
          <a:xfrm>
            <a:off x="2514600" y="2084832"/>
            <a:ext cx="457200" cy="365760"/>
          </a:xfrm>
          <a:prstGeom prst="rect">
            <a:avLst/>
          </a:prstGeom>
          <a:noFill/>
          <a:ln/>
        </p:spPr>
        <p:txBody>
          <a:bodyPr wrap="square" lIns="0" tIns="0" rIns="0" bIns="0" rtlCol="0" anchor="ctr"/>
          <a:lstStyle/>
          <a:p>
            <a:pPr algn="ctr" indent="0" marL="0">
              <a:buNone/>
            </a:pPr>
            <a:r>
              <a:rPr lang="en-US" sz="2000" dirty="0">
                <a:solidFill>
                  <a:srgbClr val="5B6E64"/>
                </a:solidFill>
              </a:rPr>
              <a:t>→</a:t>
            </a:r>
            <a:endParaRPr lang="en-US" sz="2000" dirty="0"/>
          </a:p>
        </p:txBody>
      </p:sp>
      <p:sp>
        <p:nvSpPr>
          <p:cNvPr id="9" name="Shape 6"/>
          <p:cNvSpPr/>
          <p:nvPr/>
        </p:nvSpPr>
        <p:spPr>
          <a:xfrm>
            <a:off x="3515868" y="1920240"/>
            <a:ext cx="731520" cy="73152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0" name="Image 1" descr="preencoded.png">    </p:cNvPr>
          <p:cNvPicPr>
            <a:picLocks noChangeAspect="1"/>
          </p:cNvPicPr>
          <p:nvPr/>
        </p:nvPicPr>
        <p:blipFill>
          <a:blip r:embed="rId2"/>
          <a:stretch>
            <a:fillRect/>
          </a:stretch>
        </p:blipFill>
        <p:spPr>
          <a:xfrm>
            <a:off x="3610966" y="2015338"/>
            <a:ext cx="541325" cy="541325"/>
          </a:xfrm>
          <a:prstGeom prst="rect">
            <a:avLst/>
          </a:prstGeom>
        </p:spPr>
      </p:pic>
      <p:sp>
        <p:nvSpPr>
          <p:cNvPr id="11" name="Text 7"/>
          <p:cNvSpPr/>
          <p:nvPr/>
        </p:nvSpPr>
        <p:spPr>
          <a:xfrm>
            <a:off x="2862072" y="2743200"/>
            <a:ext cx="2039112" cy="457200"/>
          </a:xfrm>
          <a:prstGeom prst="rect">
            <a:avLst/>
          </a:prstGeom>
          <a:noFill/>
          <a:ln/>
        </p:spPr>
        <p:txBody>
          <a:bodyPr wrap="square" lIns="0" tIns="0" rIns="0" bIns="0" rtlCol="0" anchor="ctr"/>
          <a:lstStyle/>
          <a:p>
            <a:pPr algn="ctr" indent="0" marL="0">
              <a:buNone/>
            </a:pPr>
            <a:r>
              <a:rPr lang="en-US" sz="1150" b="1" dirty="0">
                <a:solidFill>
                  <a:srgbClr val="16241F"/>
                </a:solidFill>
                <a:latin typeface="Calibri" pitchFamily="34" charset="0"/>
                <a:ea typeface="Calibri" pitchFamily="34" charset="-122"/>
                <a:cs typeface="Calibri" pitchFamily="34" charset="-120"/>
              </a:rPr>
              <a:t>Portal</a:t>
            </a:r>
            <a:endParaRPr lang="en-US" sz="1150" dirty="0"/>
          </a:p>
          <a:p>
            <a:pPr algn="ctr" indent="0" marL="0">
              <a:buNone/>
            </a:pPr>
            <a:r>
              <a:rPr lang="en-US" sz="1150" b="1" dirty="0">
                <a:solidFill>
                  <a:srgbClr val="16241F"/>
                </a:solidFill>
                <a:latin typeface="Calibri" pitchFamily="34" charset="0"/>
                <a:ea typeface="Calibri" pitchFamily="34" charset="-122"/>
                <a:cs typeface="Calibri" pitchFamily="34" charset="-120"/>
              </a:rPr>
              <a:t>Transition</a:t>
            </a:r>
            <a:endParaRPr lang="en-US" sz="1150" dirty="0"/>
          </a:p>
        </p:txBody>
      </p:sp>
      <p:sp>
        <p:nvSpPr>
          <p:cNvPr id="12" name="Text 8"/>
          <p:cNvSpPr/>
          <p:nvPr/>
        </p:nvSpPr>
        <p:spPr>
          <a:xfrm>
            <a:off x="4736592" y="2084832"/>
            <a:ext cx="457200" cy="365760"/>
          </a:xfrm>
          <a:prstGeom prst="rect">
            <a:avLst/>
          </a:prstGeom>
          <a:noFill/>
          <a:ln/>
        </p:spPr>
        <p:txBody>
          <a:bodyPr wrap="square" lIns="0" tIns="0" rIns="0" bIns="0" rtlCol="0" anchor="ctr"/>
          <a:lstStyle/>
          <a:p>
            <a:pPr algn="ctr" indent="0" marL="0">
              <a:buNone/>
            </a:pPr>
            <a:r>
              <a:rPr lang="en-US" sz="2000" dirty="0">
                <a:solidFill>
                  <a:srgbClr val="5B6E64"/>
                </a:solidFill>
              </a:rPr>
              <a:t>→</a:t>
            </a:r>
            <a:endParaRPr lang="en-US" sz="2000" dirty="0"/>
          </a:p>
        </p:txBody>
      </p:sp>
      <p:sp>
        <p:nvSpPr>
          <p:cNvPr id="13" name="Shape 9"/>
          <p:cNvSpPr/>
          <p:nvPr/>
        </p:nvSpPr>
        <p:spPr>
          <a:xfrm>
            <a:off x="5737860" y="1920240"/>
            <a:ext cx="731520" cy="73152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14" name="Image 2" descr="preencoded.png">    </p:cNvPr>
          <p:cNvPicPr>
            <a:picLocks noChangeAspect="1"/>
          </p:cNvPicPr>
          <p:nvPr/>
        </p:nvPicPr>
        <p:blipFill>
          <a:blip r:embed="rId3"/>
          <a:stretch>
            <a:fillRect/>
          </a:stretch>
        </p:blipFill>
        <p:spPr>
          <a:xfrm>
            <a:off x="5832958" y="2015338"/>
            <a:ext cx="541325" cy="541325"/>
          </a:xfrm>
          <a:prstGeom prst="rect">
            <a:avLst/>
          </a:prstGeom>
        </p:spPr>
      </p:pic>
      <p:sp>
        <p:nvSpPr>
          <p:cNvPr id="15" name="Text 10"/>
          <p:cNvSpPr/>
          <p:nvPr/>
        </p:nvSpPr>
        <p:spPr>
          <a:xfrm>
            <a:off x="5084064" y="2743200"/>
            <a:ext cx="2039112" cy="457200"/>
          </a:xfrm>
          <a:prstGeom prst="rect">
            <a:avLst/>
          </a:prstGeom>
          <a:noFill/>
          <a:ln/>
        </p:spPr>
        <p:txBody>
          <a:bodyPr wrap="square" lIns="0" tIns="0" rIns="0" bIns="0" rtlCol="0" anchor="ctr"/>
          <a:lstStyle/>
          <a:p>
            <a:pPr algn="ctr" indent="0" marL="0">
              <a:buNone/>
            </a:pPr>
            <a:r>
              <a:rPr lang="en-US" sz="1150" b="1" dirty="0">
                <a:solidFill>
                  <a:srgbClr val="16241F"/>
                </a:solidFill>
                <a:latin typeface="Calibri" pitchFamily="34" charset="0"/>
                <a:ea typeface="Calibri" pitchFamily="34" charset="-122"/>
                <a:cs typeface="Calibri" pitchFamily="34" charset="-120"/>
              </a:rPr>
              <a:t>Scene 2</a:t>
            </a:r>
            <a:endParaRPr lang="en-US" sz="1150" dirty="0"/>
          </a:p>
          <a:p>
            <a:pPr algn="ctr" indent="0" marL="0">
              <a:buNone/>
            </a:pPr>
            <a:r>
              <a:rPr lang="en-US" sz="1150" b="1" dirty="0">
                <a:solidFill>
                  <a:srgbClr val="16241F"/>
                </a:solidFill>
                <a:latin typeface="Calibri" pitchFamily="34" charset="0"/>
                <a:ea typeface="Calibri" pitchFamily="34" charset="-122"/>
                <a:cs typeface="Calibri" pitchFamily="34" charset="-120"/>
              </a:rPr>
              <a:t>Solar Station</a:t>
            </a:r>
            <a:endParaRPr lang="en-US" sz="1150" dirty="0"/>
          </a:p>
        </p:txBody>
      </p:sp>
      <p:sp>
        <p:nvSpPr>
          <p:cNvPr id="16" name="Text 11"/>
          <p:cNvSpPr/>
          <p:nvPr/>
        </p:nvSpPr>
        <p:spPr>
          <a:xfrm>
            <a:off x="6958584" y="2084832"/>
            <a:ext cx="457200" cy="365760"/>
          </a:xfrm>
          <a:prstGeom prst="rect">
            <a:avLst/>
          </a:prstGeom>
          <a:noFill/>
          <a:ln/>
        </p:spPr>
        <p:txBody>
          <a:bodyPr wrap="square" lIns="0" tIns="0" rIns="0" bIns="0" rtlCol="0" anchor="ctr"/>
          <a:lstStyle/>
          <a:p>
            <a:pPr algn="ctr" indent="0" marL="0">
              <a:buNone/>
            </a:pPr>
            <a:r>
              <a:rPr lang="en-US" sz="2000" dirty="0">
                <a:solidFill>
                  <a:srgbClr val="5B6E64"/>
                </a:solidFill>
              </a:rPr>
              <a:t>→</a:t>
            </a:r>
            <a:endParaRPr lang="en-US" sz="2000" dirty="0"/>
          </a:p>
        </p:txBody>
      </p:sp>
      <p:sp>
        <p:nvSpPr>
          <p:cNvPr id="17" name="Shape 12"/>
          <p:cNvSpPr/>
          <p:nvPr/>
        </p:nvSpPr>
        <p:spPr>
          <a:xfrm>
            <a:off x="7959852" y="1920240"/>
            <a:ext cx="731520" cy="73152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8" name="Image 3" descr="preencoded.png">    </p:cNvPr>
          <p:cNvPicPr>
            <a:picLocks noChangeAspect="1"/>
          </p:cNvPicPr>
          <p:nvPr/>
        </p:nvPicPr>
        <p:blipFill>
          <a:blip r:embed="rId4"/>
          <a:stretch>
            <a:fillRect/>
          </a:stretch>
        </p:blipFill>
        <p:spPr>
          <a:xfrm>
            <a:off x="8054950" y="2015338"/>
            <a:ext cx="541325" cy="541325"/>
          </a:xfrm>
          <a:prstGeom prst="rect">
            <a:avLst/>
          </a:prstGeom>
        </p:spPr>
      </p:pic>
      <p:sp>
        <p:nvSpPr>
          <p:cNvPr id="19" name="Text 13"/>
          <p:cNvSpPr/>
          <p:nvPr/>
        </p:nvSpPr>
        <p:spPr>
          <a:xfrm>
            <a:off x="7306056" y="2743200"/>
            <a:ext cx="2039112" cy="457200"/>
          </a:xfrm>
          <a:prstGeom prst="rect">
            <a:avLst/>
          </a:prstGeom>
          <a:noFill/>
          <a:ln/>
        </p:spPr>
        <p:txBody>
          <a:bodyPr wrap="square" lIns="0" tIns="0" rIns="0" bIns="0" rtlCol="0" anchor="ctr"/>
          <a:lstStyle/>
          <a:p>
            <a:pPr algn="ctr" indent="0" marL="0">
              <a:buNone/>
            </a:pPr>
            <a:r>
              <a:rPr lang="en-US" sz="1150" b="1" dirty="0">
                <a:solidFill>
                  <a:srgbClr val="16241F"/>
                </a:solidFill>
                <a:latin typeface="Calibri" pitchFamily="34" charset="0"/>
                <a:ea typeface="Calibri" pitchFamily="34" charset="-122"/>
                <a:cs typeface="Calibri" pitchFamily="34" charset="-120"/>
              </a:rPr>
              <a:t>Portal</a:t>
            </a:r>
            <a:endParaRPr lang="en-US" sz="1150" dirty="0"/>
          </a:p>
          <a:p>
            <a:pPr algn="ctr" indent="0" marL="0">
              <a:buNone/>
            </a:pPr>
            <a:r>
              <a:rPr lang="en-US" sz="1150" b="1" dirty="0">
                <a:solidFill>
                  <a:srgbClr val="16241F"/>
                </a:solidFill>
                <a:latin typeface="Calibri" pitchFamily="34" charset="0"/>
                <a:ea typeface="Calibri" pitchFamily="34" charset="-122"/>
                <a:cs typeface="Calibri" pitchFamily="34" charset="-120"/>
              </a:rPr>
              <a:t>Transition</a:t>
            </a:r>
            <a:endParaRPr lang="en-US" sz="1150" dirty="0"/>
          </a:p>
        </p:txBody>
      </p:sp>
      <p:sp>
        <p:nvSpPr>
          <p:cNvPr id="20" name="Text 14"/>
          <p:cNvSpPr/>
          <p:nvPr/>
        </p:nvSpPr>
        <p:spPr>
          <a:xfrm>
            <a:off x="9180576" y="2084832"/>
            <a:ext cx="457200" cy="365760"/>
          </a:xfrm>
          <a:prstGeom prst="rect">
            <a:avLst/>
          </a:prstGeom>
          <a:noFill/>
          <a:ln/>
        </p:spPr>
        <p:txBody>
          <a:bodyPr wrap="square" lIns="0" tIns="0" rIns="0" bIns="0" rtlCol="0" anchor="ctr"/>
          <a:lstStyle/>
          <a:p>
            <a:pPr algn="ctr" indent="0" marL="0">
              <a:buNone/>
            </a:pPr>
            <a:r>
              <a:rPr lang="en-US" sz="2000" dirty="0">
                <a:solidFill>
                  <a:srgbClr val="5B6E64"/>
                </a:solidFill>
              </a:rPr>
              <a:t>→</a:t>
            </a:r>
            <a:endParaRPr lang="en-US" sz="2000" dirty="0"/>
          </a:p>
        </p:txBody>
      </p:sp>
      <p:sp>
        <p:nvSpPr>
          <p:cNvPr id="21" name="Shape 15"/>
          <p:cNvSpPr/>
          <p:nvPr/>
        </p:nvSpPr>
        <p:spPr>
          <a:xfrm>
            <a:off x="10181844" y="1920240"/>
            <a:ext cx="731520" cy="73152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22" name="Image 4" descr="preencoded.png">    </p:cNvPr>
          <p:cNvPicPr>
            <a:picLocks noChangeAspect="1"/>
          </p:cNvPicPr>
          <p:nvPr/>
        </p:nvPicPr>
        <p:blipFill>
          <a:blip r:embed="rId5"/>
          <a:stretch>
            <a:fillRect/>
          </a:stretch>
        </p:blipFill>
        <p:spPr>
          <a:xfrm>
            <a:off x="10276942" y="2015338"/>
            <a:ext cx="541325" cy="541325"/>
          </a:xfrm>
          <a:prstGeom prst="rect">
            <a:avLst/>
          </a:prstGeom>
        </p:spPr>
      </p:pic>
      <p:sp>
        <p:nvSpPr>
          <p:cNvPr id="23" name="Text 16"/>
          <p:cNvSpPr/>
          <p:nvPr/>
        </p:nvSpPr>
        <p:spPr>
          <a:xfrm>
            <a:off x="9528048" y="2743200"/>
            <a:ext cx="2039112" cy="457200"/>
          </a:xfrm>
          <a:prstGeom prst="rect">
            <a:avLst/>
          </a:prstGeom>
          <a:noFill/>
          <a:ln/>
        </p:spPr>
        <p:txBody>
          <a:bodyPr wrap="square" lIns="0" tIns="0" rIns="0" bIns="0" rtlCol="0" anchor="ctr"/>
          <a:lstStyle/>
          <a:p>
            <a:pPr algn="ctr" indent="0" marL="0">
              <a:buNone/>
            </a:pPr>
            <a:r>
              <a:rPr lang="en-US" sz="1150" b="1" dirty="0">
                <a:solidFill>
                  <a:srgbClr val="16241F"/>
                </a:solidFill>
                <a:latin typeface="Calibri" pitchFamily="34" charset="0"/>
                <a:ea typeface="Calibri" pitchFamily="34" charset="-122"/>
                <a:cs typeface="Calibri" pitchFamily="34" charset="-120"/>
              </a:rPr>
              <a:t>Scene 1</a:t>
            </a:r>
            <a:endParaRPr lang="en-US" sz="1150" dirty="0"/>
          </a:p>
          <a:p>
            <a:pPr algn="ctr" indent="0" marL="0">
              <a:buNone/>
            </a:pPr>
            <a:r>
              <a:rPr lang="en-US" sz="1150" b="1" dirty="0">
                <a:solidFill>
                  <a:srgbClr val="16241F"/>
                </a:solidFill>
                <a:latin typeface="Calibri" pitchFamily="34" charset="0"/>
                <a:ea typeface="Calibri" pitchFamily="34" charset="-122"/>
                <a:cs typeface="Calibri" pitchFamily="34" charset="-120"/>
              </a:rPr>
              <a:t>Smart Home</a:t>
            </a:r>
            <a:endParaRPr lang="en-US" sz="1150" dirty="0"/>
          </a:p>
        </p:txBody>
      </p:sp>
      <p:sp>
        <p:nvSpPr>
          <p:cNvPr id="24" name="Shape 17"/>
          <p:cNvSpPr/>
          <p:nvPr/>
        </p:nvSpPr>
        <p:spPr>
          <a:xfrm>
            <a:off x="548640" y="3611880"/>
            <a:ext cx="5440680" cy="2514600"/>
          </a:xfrm>
          <a:prstGeom prst="roundRect">
            <a:avLst>
              <a:gd name="adj" fmla="val 3273"/>
            </a:avLst>
          </a:prstGeom>
          <a:solidFill>
            <a:srgbClr val="134D3B"/>
          </a:solidFill>
          <a:ln/>
          <a:effectLst>
            <a:outerShdw sx="100000" sy="100000" kx="0" ky="0" algn="bl" rotWithShape="0" blurRad="101600" dist="38100" dir="2700000">
              <a:srgbClr val="0B2A20">
                <a:alpha val="12000"/>
              </a:srgbClr>
            </a:outerShdw>
          </a:effectLst>
        </p:spPr>
      </p:sp>
      <p:sp>
        <p:nvSpPr>
          <p:cNvPr id="25" name="Text 18"/>
          <p:cNvSpPr/>
          <p:nvPr/>
        </p:nvSpPr>
        <p:spPr>
          <a:xfrm>
            <a:off x="822960" y="3794760"/>
            <a:ext cx="3657600" cy="274320"/>
          </a:xfrm>
          <a:prstGeom prst="rect">
            <a:avLst/>
          </a:prstGeom>
          <a:noFill/>
          <a:ln/>
        </p:spPr>
        <p:txBody>
          <a:bodyPr wrap="square" lIns="0" tIns="0" rIns="0" bIns="0"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HOW IT WORKS</a:t>
            </a:r>
            <a:endParaRPr lang="en-US" sz="1100" dirty="0"/>
          </a:p>
        </p:txBody>
      </p:sp>
      <p:sp>
        <p:nvSpPr>
          <p:cNvPr id="26" name="Text 19"/>
          <p:cNvSpPr/>
          <p:nvPr/>
        </p:nvSpPr>
        <p:spPr>
          <a:xfrm>
            <a:off x="822960" y="4114800"/>
            <a:ext cx="4937760" cy="192024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300" dirty="0">
                <a:solidFill>
                  <a:srgbClr val="E8F5EF"/>
                </a:solidFill>
                <a:latin typeface="Calibri" pitchFamily="34" charset="0"/>
                <a:ea typeface="Calibri" pitchFamily="34" charset="-122"/>
                <a:cs typeface="Calibri" pitchFamily="34" charset="-120"/>
              </a:rPr>
              <a:t>Trigger collider detects player entry into the portal zone</a:t>
            </a:r>
            <a:endParaRPr lang="en-US" sz="1300" dirty="0"/>
          </a:p>
          <a:p>
            <a:pPr marL="228600" indent="-228600">
              <a:lnSpc>
                <a:spcPct val="108000"/>
              </a:lnSpc>
              <a:spcAft>
                <a:spcPts val="1000"/>
              </a:spcAft>
              <a:buSzPct val="100000"/>
              <a:buChar char="●"/>
            </a:pPr>
            <a:r>
              <a:rPr lang="en-US" sz="1300" dirty="0">
                <a:solidFill>
                  <a:srgbClr val="E8F5EF"/>
                </a:solidFill>
                <a:latin typeface="Calibri" pitchFamily="34" charset="0"/>
                <a:ea typeface="Calibri" pitchFamily="34" charset="-122"/>
                <a:cs typeface="Calibri" pitchFamily="34" charset="-120"/>
              </a:rPr>
              <a:t>Scene Management loads the destination scene asynchronously</a:t>
            </a:r>
            <a:endParaRPr lang="en-US" sz="1300" dirty="0"/>
          </a:p>
          <a:p>
            <a:pPr marL="228600" indent="-228600">
              <a:lnSpc>
                <a:spcPct val="108000"/>
              </a:lnSpc>
              <a:spcAft>
                <a:spcPts val="1000"/>
              </a:spcAft>
              <a:buSzPct val="100000"/>
              <a:buChar char="●"/>
            </a:pPr>
            <a:r>
              <a:rPr lang="en-US" sz="1300" dirty="0">
                <a:solidFill>
                  <a:srgbClr val="E8F5EF"/>
                </a:solidFill>
                <a:latin typeface="Calibri" pitchFamily="34" charset="0"/>
                <a:ea typeface="Calibri" pitchFamily="34" charset="-122"/>
                <a:cs typeface="Calibri" pitchFamily="34" charset="-120"/>
              </a:rPr>
              <a:t>Correct spawn points keep player orientation consistent</a:t>
            </a:r>
            <a:endParaRPr lang="en-US" sz="1300" dirty="0"/>
          </a:p>
          <a:p>
            <a:pPr marL="228600" indent="-228600">
              <a:lnSpc>
                <a:spcPct val="108000"/>
              </a:lnSpc>
              <a:spcAft>
                <a:spcPts val="1000"/>
              </a:spcAft>
              <a:buSzPct val="100000"/>
              <a:buChar char="●"/>
            </a:pPr>
            <a:r>
              <a:rPr lang="en-US" sz="1300" dirty="0">
                <a:solidFill>
                  <a:srgbClr val="E8F5EF"/>
                </a:solidFill>
                <a:latin typeface="Calibri" pitchFamily="34" charset="0"/>
                <a:ea typeface="Calibri" pitchFamily="34" charset="-122"/>
                <a:cs typeface="Calibri" pitchFamily="34" charset="-120"/>
              </a:rPr>
              <a:t>Player state (objectives, inventory) persists across the transition</a:t>
            </a:r>
            <a:endParaRPr lang="en-US" sz="1300" dirty="0"/>
          </a:p>
        </p:txBody>
      </p:sp>
      <p:sp>
        <p:nvSpPr>
          <p:cNvPr id="27" name="Shape 20"/>
          <p:cNvSpPr/>
          <p:nvPr/>
        </p:nvSpPr>
        <p:spPr>
          <a:xfrm>
            <a:off x="6217920" y="3611880"/>
            <a:ext cx="5440680" cy="2514600"/>
          </a:xfrm>
          <a:prstGeom prst="roundRect">
            <a:avLst>
              <a:gd name="adj" fmla="val 3273"/>
            </a:avLst>
          </a:prstGeom>
          <a:solidFill>
            <a:srgbClr val="FFFFFF"/>
          </a:solidFill>
          <a:ln/>
          <a:effectLst>
            <a:outerShdw sx="100000" sy="100000" kx="0" ky="0" algn="bl" rotWithShape="0" blurRad="101600" dist="38100" dir="2700000">
              <a:srgbClr val="0B2A20">
                <a:alpha val="12000"/>
              </a:srgbClr>
            </a:outerShdw>
          </a:effectLst>
        </p:spPr>
      </p:sp>
      <p:sp>
        <p:nvSpPr>
          <p:cNvPr id="28" name="Text 21"/>
          <p:cNvSpPr/>
          <p:nvPr/>
        </p:nvSpPr>
        <p:spPr>
          <a:xfrm>
            <a:off x="6492240" y="3794760"/>
            <a:ext cx="3657600" cy="274320"/>
          </a:xfrm>
          <a:prstGeom prst="rect">
            <a:avLst/>
          </a:prstGeom>
          <a:noFill/>
          <a:ln/>
        </p:spPr>
        <p:txBody>
          <a:bodyPr wrap="square" lIns="0" tIns="0" rIns="0" bIns="0" rtlCol="0" anchor="ctr"/>
          <a:lstStyle/>
          <a:p>
            <a:pPr indent="0" marL="0">
              <a:buNone/>
            </a:pPr>
            <a:r>
              <a:rPr lang="en-US" sz="1100" b="1" spc="200" kern="0" dirty="0">
                <a:solidFill>
                  <a:srgbClr val="2E8B57"/>
                </a:solidFill>
                <a:latin typeface="Calibri" pitchFamily="34" charset="0"/>
                <a:ea typeface="Calibri" pitchFamily="34" charset="-122"/>
                <a:cs typeface="Calibri" pitchFamily="34" charset="-120"/>
              </a:rPr>
              <a:t>WHY A PORTAL?</a:t>
            </a:r>
            <a:endParaRPr lang="en-US" sz="1100" dirty="0"/>
          </a:p>
        </p:txBody>
      </p:sp>
      <p:sp>
        <p:nvSpPr>
          <p:cNvPr id="29" name="Text 22"/>
          <p:cNvSpPr/>
          <p:nvPr/>
        </p:nvSpPr>
        <p:spPr>
          <a:xfrm>
            <a:off x="6492240" y="4114800"/>
            <a:ext cx="4937760" cy="1920240"/>
          </a:xfrm>
          <a:prstGeom prst="rect">
            <a:avLst/>
          </a:prstGeom>
          <a:noFill/>
          <a:ln/>
        </p:spPr>
        <p:txBody>
          <a:bodyPr wrap="square" lIns="0" tIns="0" rIns="0" bIns="0" rtlCol="0" anchor="t"/>
          <a:lstStyle/>
          <a:p>
            <a:pPr marL="228600" indent="-228600">
              <a:lnSpc>
                <a:spcPct val="108000"/>
              </a:lnSpc>
              <a:spcAft>
                <a:spcPts val="1200"/>
              </a:spcAft>
              <a:buSzPct val="100000"/>
              <a:buChar char="●"/>
            </a:pPr>
            <a:r>
              <a:rPr lang="en-US" sz="1300" dirty="0">
                <a:solidFill>
                  <a:srgbClr val="16241F"/>
                </a:solidFill>
                <a:latin typeface="Calibri" pitchFamily="34" charset="0"/>
                <a:ea typeface="Calibri" pitchFamily="34" charset="-122"/>
                <a:cs typeface="Calibri" pitchFamily="34" charset="-120"/>
              </a:rPr>
              <a:t>Keeps indoor and outdoor environments as separate, optimised scenes</a:t>
            </a:r>
            <a:endParaRPr lang="en-US" sz="1300" dirty="0"/>
          </a:p>
          <a:p>
            <a:pPr marL="228600" indent="-228600">
              <a:lnSpc>
                <a:spcPct val="108000"/>
              </a:lnSpc>
              <a:spcAft>
                <a:spcPts val="1200"/>
              </a:spcAft>
              <a:buSzPct val="100000"/>
              <a:buChar char="●"/>
            </a:pPr>
            <a:r>
              <a:rPr lang="en-US" sz="1300" dirty="0">
                <a:solidFill>
                  <a:srgbClr val="16241F"/>
                </a:solidFill>
                <a:latin typeface="Calibri" pitchFamily="34" charset="0"/>
                <a:ea typeface="Calibri" pitchFamily="34" charset="-122"/>
                <a:cs typeface="Calibri" pitchFamily="34" charset="-120"/>
              </a:rPr>
              <a:t>Mirrors the real relationship between a home and its energy source</a:t>
            </a:r>
            <a:endParaRPr lang="en-US" sz="1300" dirty="0"/>
          </a:p>
          <a:p>
            <a:pPr marL="228600" indent="-228600">
              <a:lnSpc>
                <a:spcPct val="108000"/>
              </a:lnSpc>
              <a:spcAft>
                <a:spcPts val="1200"/>
              </a:spcAft>
              <a:buSzPct val="100000"/>
              <a:buChar char="●"/>
            </a:pPr>
            <a:r>
              <a:rPr lang="en-US" sz="1300" dirty="0">
                <a:solidFill>
                  <a:srgbClr val="16241F"/>
                </a:solidFill>
                <a:latin typeface="Calibri" pitchFamily="34" charset="0"/>
                <a:ea typeface="Calibri" pitchFamily="34" charset="-122"/>
                <a:cs typeface="Calibri" pitchFamily="34" charset="-120"/>
              </a:rPr>
              <a:t>Creates a clear narrative beat: leaving the house to fix the problem</a:t>
            </a:r>
            <a:endParaRPr lang="en-US" sz="1300" dirty="0"/>
          </a:p>
        </p:txBody>
      </p:sp>
      <p:sp>
        <p:nvSpPr>
          <p:cNvPr id="31" name="Text 2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32" name="Text 2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GRAPHICAL USER INTERFACE</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Guiding the Player's Mission</a:t>
            </a:r>
            <a:endParaRPr lang="en-US" sz="3000" dirty="0"/>
          </a:p>
        </p:txBody>
      </p:sp>
      <p:sp>
        <p:nvSpPr>
          <p:cNvPr id="4" name="Shape 2"/>
          <p:cNvSpPr/>
          <p:nvPr/>
        </p:nvSpPr>
        <p:spPr>
          <a:xfrm>
            <a:off x="548640" y="1783080"/>
            <a:ext cx="2075688" cy="3931920"/>
          </a:xfrm>
          <a:prstGeom prst="roundRect">
            <a:avLst>
              <a:gd name="adj" fmla="val 3965"/>
            </a:avLst>
          </a:prstGeom>
          <a:solidFill>
            <a:srgbClr val="FFFFFF"/>
          </a:solidFill>
          <a:ln/>
          <a:effectLst>
            <a:outerShdw sx="100000" sy="100000" kx="0" ky="0" algn="bl" rotWithShape="0" blurRad="101600" dist="38100" dir="2700000">
              <a:srgbClr val="0B2A20">
                <a:alpha val="12000"/>
              </a:srgbClr>
            </a:outerShdw>
          </a:effectLst>
        </p:spPr>
      </p:sp>
      <p:sp>
        <p:nvSpPr>
          <p:cNvPr id="5" name="Shape 3"/>
          <p:cNvSpPr/>
          <p:nvPr/>
        </p:nvSpPr>
        <p:spPr>
          <a:xfrm>
            <a:off x="1275588" y="2057400"/>
            <a:ext cx="621792" cy="621792"/>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6" name="Image 0" descr="preencoded.png">    </p:cNvPr>
          <p:cNvPicPr>
            <a:picLocks noChangeAspect="1"/>
          </p:cNvPicPr>
          <p:nvPr/>
        </p:nvPicPr>
        <p:blipFill>
          <a:blip r:embed="rId1"/>
          <a:stretch>
            <a:fillRect/>
          </a:stretch>
        </p:blipFill>
        <p:spPr>
          <a:xfrm>
            <a:off x="1356421" y="2138233"/>
            <a:ext cx="460126" cy="460126"/>
          </a:xfrm>
          <a:prstGeom prst="rect">
            <a:avLst/>
          </a:prstGeom>
        </p:spPr>
      </p:pic>
      <p:sp>
        <p:nvSpPr>
          <p:cNvPr id="7" name="Text 4"/>
          <p:cNvSpPr/>
          <p:nvPr/>
        </p:nvSpPr>
        <p:spPr>
          <a:xfrm>
            <a:off x="685800" y="2880360"/>
            <a:ext cx="1801368" cy="502920"/>
          </a:xfrm>
          <a:prstGeom prst="rect">
            <a:avLst/>
          </a:prstGeom>
          <a:noFill/>
          <a:ln/>
        </p:spPr>
        <p:txBody>
          <a:bodyPr wrap="square" lIns="0" tIns="0" rIns="0" bIns="0" rtlCol="0" anchor="ctr"/>
          <a:lstStyle/>
          <a:p>
            <a:pPr algn="ctr" indent="0" marL="0">
              <a:buNone/>
            </a:pPr>
            <a:r>
              <a:rPr lang="en-US" sz="1350" b="1" dirty="0">
                <a:solidFill>
                  <a:srgbClr val="16241F"/>
                </a:solidFill>
                <a:latin typeface="Cambria" pitchFamily="34" charset="0"/>
                <a:ea typeface="Cambria" pitchFamily="34" charset="-122"/>
                <a:cs typeface="Cambria" pitchFamily="34" charset="-120"/>
              </a:rPr>
              <a:t>Main Menu</a:t>
            </a:r>
            <a:endParaRPr lang="en-US" sz="1350" dirty="0"/>
          </a:p>
        </p:txBody>
      </p:sp>
      <p:sp>
        <p:nvSpPr>
          <p:cNvPr id="8" name="Text 5"/>
          <p:cNvSpPr/>
          <p:nvPr/>
        </p:nvSpPr>
        <p:spPr>
          <a:xfrm>
            <a:off x="685800" y="3429000"/>
            <a:ext cx="1801368" cy="2103120"/>
          </a:xfrm>
          <a:prstGeom prst="rect">
            <a:avLst/>
          </a:prstGeom>
          <a:noFill/>
          <a:ln/>
        </p:spPr>
        <p:txBody>
          <a:bodyPr wrap="square" lIns="0" tIns="0" rIns="0" bIns="0" rtlCol="0" anchor="ctr"/>
          <a:lstStyle/>
          <a:p>
            <a:pPr algn="ctr" indent="0" marL="0">
              <a:buNone/>
            </a:pPr>
            <a:r>
              <a:rPr lang="en-US" sz="1150" dirty="0">
                <a:solidFill>
                  <a:srgbClr val="5B6E64"/>
                </a:solidFill>
                <a:latin typeface="Calibri" pitchFamily="34" charset="0"/>
                <a:ea typeface="Calibri" pitchFamily="34" charset="-122"/>
                <a:cs typeface="Calibri" pitchFamily="34" charset="-120"/>
              </a:rPr>
              <a:t>Entry point with Start / Quit and project branding.</a:t>
            </a:r>
            <a:endParaRPr lang="en-US" sz="1150" dirty="0"/>
          </a:p>
        </p:txBody>
      </p:sp>
      <p:sp>
        <p:nvSpPr>
          <p:cNvPr id="9" name="Shape 6"/>
          <p:cNvSpPr/>
          <p:nvPr/>
        </p:nvSpPr>
        <p:spPr>
          <a:xfrm>
            <a:off x="2807208" y="1783080"/>
            <a:ext cx="2075688" cy="3931920"/>
          </a:xfrm>
          <a:prstGeom prst="roundRect">
            <a:avLst>
              <a:gd name="adj" fmla="val 3965"/>
            </a:avLst>
          </a:prstGeom>
          <a:solidFill>
            <a:srgbClr val="FFFFFF"/>
          </a:solidFill>
          <a:ln/>
          <a:effectLst>
            <a:outerShdw sx="100000" sy="100000" kx="0" ky="0" algn="bl" rotWithShape="0" blurRad="101600" dist="38100" dir="2700000">
              <a:srgbClr val="0B2A20">
                <a:alpha val="12000"/>
              </a:srgbClr>
            </a:outerShdw>
          </a:effectLst>
        </p:spPr>
      </p:sp>
      <p:sp>
        <p:nvSpPr>
          <p:cNvPr id="10" name="Shape 7"/>
          <p:cNvSpPr/>
          <p:nvPr/>
        </p:nvSpPr>
        <p:spPr>
          <a:xfrm>
            <a:off x="3534156" y="2057400"/>
            <a:ext cx="621792" cy="621792"/>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1" name="Image 1" descr="preencoded.png">    </p:cNvPr>
          <p:cNvPicPr>
            <a:picLocks noChangeAspect="1"/>
          </p:cNvPicPr>
          <p:nvPr/>
        </p:nvPicPr>
        <p:blipFill>
          <a:blip r:embed="rId2"/>
          <a:stretch>
            <a:fillRect/>
          </a:stretch>
        </p:blipFill>
        <p:spPr>
          <a:xfrm>
            <a:off x="3614989" y="2138233"/>
            <a:ext cx="460126" cy="460126"/>
          </a:xfrm>
          <a:prstGeom prst="rect">
            <a:avLst/>
          </a:prstGeom>
        </p:spPr>
      </p:pic>
      <p:sp>
        <p:nvSpPr>
          <p:cNvPr id="12" name="Text 8"/>
          <p:cNvSpPr/>
          <p:nvPr/>
        </p:nvSpPr>
        <p:spPr>
          <a:xfrm>
            <a:off x="2944368" y="2880360"/>
            <a:ext cx="1801368" cy="502920"/>
          </a:xfrm>
          <a:prstGeom prst="rect">
            <a:avLst/>
          </a:prstGeom>
          <a:noFill/>
          <a:ln/>
        </p:spPr>
        <p:txBody>
          <a:bodyPr wrap="square" lIns="0" tIns="0" rIns="0" bIns="0" rtlCol="0" anchor="ctr"/>
          <a:lstStyle/>
          <a:p>
            <a:pPr algn="ctr" indent="0" marL="0">
              <a:buNone/>
            </a:pPr>
            <a:r>
              <a:rPr lang="en-US" sz="1350" b="1" dirty="0">
                <a:solidFill>
                  <a:srgbClr val="16241F"/>
                </a:solidFill>
                <a:latin typeface="Cambria" pitchFamily="34" charset="0"/>
                <a:ea typeface="Cambria" pitchFamily="34" charset="-122"/>
                <a:cs typeface="Cambria" pitchFamily="34" charset="-120"/>
              </a:rPr>
              <a:t>Mission HUD</a:t>
            </a:r>
            <a:endParaRPr lang="en-US" sz="1350" dirty="0"/>
          </a:p>
        </p:txBody>
      </p:sp>
      <p:sp>
        <p:nvSpPr>
          <p:cNvPr id="13" name="Text 9"/>
          <p:cNvSpPr/>
          <p:nvPr/>
        </p:nvSpPr>
        <p:spPr>
          <a:xfrm>
            <a:off x="2944368" y="3429000"/>
            <a:ext cx="1801368" cy="2103120"/>
          </a:xfrm>
          <a:prstGeom prst="rect">
            <a:avLst/>
          </a:prstGeom>
          <a:noFill/>
          <a:ln/>
        </p:spPr>
        <p:txBody>
          <a:bodyPr wrap="square" lIns="0" tIns="0" rIns="0" bIns="0" rtlCol="0" anchor="ctr"/>
          <a:lstStyle/>
          <a:p>
            <a:pPr algn="ctr" indent="0" marL="0">
              <a:buNone/>
            </a:pPr>
            <a:r>
              <a:rPr lang="en-US" sz="1150" dirty="0">
                <a:solidFill>
                  <a:srgbClr val="5B6E64"/>
                </a:solidFill>
                <a:latin typeface="Calibri" pitchFamily="34" charset="0"/>
                <a:ea typeface="Calibri" pitchFamily="34" charset="-122"/>
                <a:cs typeface="Calibri" pitchFamily="34" charset="-120"/>
              </a:rPr>
              <a:t>Always-visible objective tracker during gameplay.</a:t>
            </a:r>
            <a:endParaRPr lang="en-US" sz="1150" dirty="0"/>
          </a:p>
        </p:txBody>
      </p:sp>
      <p:sp>
        <p:nvSpPr>
          <p:cNvPr id="14" name="Shape 10"/>
          <p:cNvSpPr/>
          <p:nvPr/>
        </p:nvSpPr>
        <p:spPr>
          <a:xfrm>
            <a:off x="5065776" y="1783080"/>
            <a:ext cx="2075688" cy="3931920"/>
          </a:xfrm>
          <a:prstGeom prst="roundRect">
            <a:avLst>
              <a:gd name="adj" fmla="val 3965"/>
            </a:avLst>
          </a:prstGeom>
          <a:solidFill>
            <a:srgbClr val="FFFFFF"/>
          </a:solidFill>
          <a:ln/>
          <a:effectLst>
            <a:outerShdw sx="100000" sy="100000" kx="0" ky="0" algn="bl" rotWithShape="0" blurRad="101600" dist="38100" dir="2700000">
              <a:srgbClr val="0B2A20">
                <a:alpha val="12000"/>
              </a:srgbClr>
            </a:outerShdw>
          </a:effectLst>
        </p:spPr>
      </p:sp>
      <p:sp>
        <p:nvSpPr>
          <p:cNvPr id="15" name="Shape 11"/>
          <p:cNvSpPr/>
          <p:nvPr/>
        </p:nvSpPr>
        <p:spPr>
          <a:xfrm>
            <a:off x="5792724" y="2057400"/>
            <a:ext cx="621792" cy="621792"/>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6" name="Image 2" descr="preencoded.png">    </p:cNvPr>
          <p:cNvPicPr>
            <a:picLocks noChangeAspect="1"/>
          </p:cNvPicPr>
          <p:nvPr/>
        </p:nvPicPr>
        <p:blipFill>
          <a:blip r:embed="rId3"/>
          <a:stretch>
            <a:fillRect/>
          </a:stretch>
        </p:blipFill>
        <p:spPr>
          <a:xfrm>
            <a:off x="5873557" y="2138233"/>
            <a:ext cx="460126" cy="460126"/>
          </a:xfrm>
          <a:prstGeom prst="rect">
            <a:avLst/>
          </a:prstGeom>
        </p:spPr>
      </p:pic>
      <p:sp>
        <p:nvSpPr>
          <p:cNvPr id="17" name="Text 12"/>
          <p:cNvSpPr/>
          <p:nvPr/>
        </p:nvSpPr>
        <p:spPr>
          <a:xfrm>
            <a:off x="5202936" y="2880360"/>
            <a:ext cx="1801368" cy="502920"/>
          </a:xfrm>
          <a:prstGeom prst="rect">
            <a:avLst/>
          </a:prstGeom>
          <a:noFill/>
          <a:ln/>
        </p:spPr>
        <p:txBody>
          <a:bodyPr wrap="square" lIns="0" tIns="0" rIns="0" bIns="0" rtlCol="0" anchor="ctr"/>
          <a:lstStyle/>
          <a:p>
            <a:pPr algn="ctr" indent="0" marL="0">
              <a:buNone/>
            </a:pPr>
            <a:r>
              <a:rPr lang="en-US" sz="1350" b="1" dirty="0">
                <a:solidFill>
                  <a:srgbClr val="16241F"/>
                </a:solidFill>
                <a:latin typeface="Cambria" pitchFamily="34" charset="0"/>
                <a:ea typeface="Cambria" pitchFamily="34" charset="-122"/>
                <a:cs typeface="Cambria" pitchFamily="34" charset="-120"/>
              </a:rPr>
              <a:t>Objective List</a:t>
            </a:r>
            <a:endParaRPr lang="en-US" sz="1350" dirty="0"/>
          </a:p>
        </p:txBody>
      </p:sp>
      <p:sp>
        <p:nvSpPr>
          <p:cNvPr id="18" name="Text 13"/>
          <p:cNvSpPr/>
          <p:nvPr/>
        </p:nvSpPr>
        <p:spPr>
          <a:xfrm>
            <a:off x="5202936" y="3429000"/>
            <a:ext cx="1801368" cy="2103120"/>
          </a:xfrm>
          <a:prstGeom prst="rect">
            <a:avLst/>
          </a:prstGeom>
          <a:noFill/>
          <a:ln/>
        </p:spPr>
        <p:txBody>
          <a:bodyPr wrap="square" lIns="0" tIns="0" rIns="0" bIns="0" rtlCol="0" anchor="ctr"/>
          <a:lstStyle/>
          <a:p>
            <a:pPr algn="ctr" indent="0" marL="0">
              <a:buNone/>
            </a:pPr>
            <a:r>
              <a:rPr lang="en-US" sz="1150" dirty="0">
                <a:solidFill>
                  <a:srgbClr val="5B6E64"/>
                </a:solidFill>
                <a:latin typeface="Calibri" pitchFamily="34" charset="0"/>
                <a:ea typeface="Calibri" pitchFamily="34" charset="-122"/>
                <a:cs typeface="Calibri" pitchFamily="34" charset="-120"/>
              </a:rPr>
              <a:t>Obtain Key · Repair Solar Panels · Activate Main Switch.</a:t>
            </a:r>
            <a:endParaRPr lang="en-US" sz="1150" dirty="0"/>
          </a:p>
        </p:txBody>
      </p:sp>
      <p:sp>
        <p:nvSpPr>
          <p:cNvPr id="19" name="Shape 14"/>
          <p:cNvSpPr/>
          <p:nvPr/>
        </p:nvSpPr>
        <p:spPr>
          <a:xfrm>
            <a:off x="7324344" y="1783080"/>
            <a:ext cx="2075688" cy="3931920"/>
          </a:xfrm>
          <a:prstGeom prst="roundRect">
            <a:avLst>
              <a:gd name="adj" fmla="val 3965"/>
            </a:avLst>
          </a:prstGeom>
          <a:solidFill>
            <a:srgbClr val="FFFFFF"/>
          </a:solidFill>
          <a:ln/>
          <a:effectLst>
            <a:outerShdw sx="100000" sy="100000" kx="0" ky="0" algn="bl" rotWithShape="0" blurRad="101600" dist="38100" dir="2700000">
              <a:srgbClr val="0B2A20">
                <a:alpha val="12000"/>
              </a:srgbClr>
            </a:outerShdw>
          </a:effectLst>
        </p:spPr>
      </p:sp>
      <p:sp>
        <p:nvSpPr>
          <p:cNvPr id="20" name="Shape 15"/>
          <p:cNvSpPr/>
          <p:nvPr/>
        </p:nvSpPr>
        <p:spPr>
          <a:xfrm>
            <a:off x="8051292" y="2057400"/>
            <a:ext cx="621792" cy="621792"/>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21" name="Image 3" descr="preencoded.png">    </p:cNvPr>
          <p:cNvPicPr>
            <a:picLocks noChangeAspect="1"/>
          </p:cNvPicPr>
          <p:nvPr/>
        </p:nvPicPr>
        <p:blipFill>
          <a:blip r:embed="rId4"/>
          <a:stretch>
            <a:fillRect/>
          </a:stretch>
        </p:blipFill>
        <p:spPr>
          <a:xfrm>
            <a:off x="8132125" y="2138233"/>
            <a:ext cx="460126" cy="460126"/>
          </a:xfrm>
          <a:prstGeom prst="rect">
            <a:avLst/>
          </a:prstGeom>
        </p:spPr>
      </p:pic>
      <p:sp>
        <p:nvSpPr>
          <p:cNvPr id="22" name="Text 16"/>
          <p:cNvSpPr/>
          <p:nvPr/>
        </p:nvSpPr>
        <p:spPr>
          <a:xfrm>
            <a:off x="7461504" y="2880360"/>
            <a:ext cx="1801368" cy="502920"/>
          </a:xfrm>
          <a:prstGeom prst="rect">
            <a:avLst/>
          </a:prstGeom>
          <a:noFill/>
          <a:ln/>
        </p:spPr>
        <p:txBody>
          <a:bodyPr wrap="square" lIns="0" tIns="0" rIns="0" bIns="0" rtlCol="0" anchor="ctr"/>
          <a:lstStyle/>
          <a:p>
            <a:pPr algn="ctr" indent="0" marL="0">
              <a:buNone/>
            </a:pPr>
            <a:r>
              <a:rPr lang="en-US" sz="1350" b="1" dirty="0">
                <a:solidFill>
                  <a:srgbClr val="16241F"/>
                </a:solidFill>
                <a:latin typeface="Cambria" pitchFamily="34" charset="0"/>
                <a:ea typeface="Cambria" pitchFamily="34" charset="-122"/>
                <a:cs typeface="Cambria" pitchFamily="34" charset="-120"/>
              </a:rPr>
              <a:t>Loading Screen</a:t>
            </a:r>
            <a:endParaRPr lang="en-US" sz="1350" dirty="0"/>
          </a:p>
        </p:txBody>
      </p:sp>
      <p:sp>
        <p:nvSpPr>
          <p:cNvPr id="23" name="Text 17"/>
          <p:cNvSpPr/>
          <p:nvPr/>
        </p:nvSpPr>
        <p:spPr>
          <a:xfrm>
            <a:off x="7461504" y="3429000"/>
            <a:ext cx="1801368" cy="2103120"/>
          </a:xfrm>
          <a:prstGeom prst="rect">
            <a:avLst/>
          </a:prstGeom>
          <a:noFill/>
          <a:ln/>
        </p:spPr>
        <p:txBody>
          <a:bodyPr wrap="square" lIns="0" tIns="0" rIns="0" bIns="0" rtlCol="0" anchor="ctr"/>
          <a:lstStyle/>
          <a:p>
            <a:pPr algn="ctr" indent="0" marL="0">
              <a:buNone/>
            </a:pPr>
            <a:r>
              <a:rPr lang="en-US" sz="1150" dirty="0">
                <a:solidFill>
                  <a:srgbClr val="5B6E64"/>
                </a:solidFill>
                <a:latin typeface="Calibri" pitchFamily="34" charset="0"/>
                <a:ea typeface="Calibri" pitchFamily="34" charset="-122"/>
                <a:cs typeface="Calibri" pitchFamily="34" charset="-120"/>
              </a:rPr>
              <a:t>Displayed during scene and portal transitions.</a:t>
            </a:r>
            <a:endParaRPr lang="en-US" sz="1150" dirty="0"/>
          </a:p>
        </p:txBody>
      </p:sp>
      <p:sp>
        <p:nvSpPr>
          <p:cNvPr id="24" name="Shape 18"/>
          <p:cNvSpPr/>
          <p:nvPr/>
        </p:nvSpPr>
        <p:spPr>
          <a:xfrm>
            <a:off x="9582912" y="1783080"/>
            <a:ext cx="2075688" cy="3931920"/>
          </a:xfrm>
          <a:prstGeom prst="roundRect">
            <a:avLst>
              <a:gd name="adj" fmla="val 3965"/>
            </a:avLst>
          </a:prstGeom>
          <a:solidFill>
            <a:srgbClr val="FFFFFF"/>
          </a:solidFill>
          <a:ln/>
          <a:effectLst>
            <a:outerShdw sx="100000" sy="100000" kx="0" ky="0" algn="bl" rotWithShape="0" blurRad="101600" dist="38100" dir="2700000">
              <a:srgbClr val="0B2A20">
                <a:alpha val="12000"/>
              </a:srgbClr>
            </a:outerShdw>
          </a:effectLst>
        </p:spPr>
      </p:sp>
      <p:sp>
        <p:nvSpPr>
          <p:cNvPr id="25" name="Shape 19"/>
          <p:cNvSpPr/>
          <p:nvPr/>
        </p:nvSpPr>
        <p:spPr>
          <a:xfrm>
            <a:off x="10309860" y="2057400"/>
            <a:ext cx="621792" cy="621792"/>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26" name="Image 4" descr="preencoded.png">    </p:cNvPr>
          <p:cNvPicPr>
            <a:picLocks noChangeAspect="1"/>
          </p:cNvPicPr>
          <p:nvPr/>
        </p:nvPicPr>
        <p:blipFill>
          <a:blip r:embed="rId5"/>
          <a:stretch>
            <a:fillRect/>
          </a:stretch>
        </p:blipFill>
        <p:spPr>
          <a:xfrm>
            <a:off x="10390693" y="2138233"/>
            <a:ext cx="460126" cy="460126"/>
          </a:xfrm>
          <a:prstGeom prst="rect">
            <a:avLst/>
          </a:prstGeom>
        </p:spPr>
      </p:pic>
      <p:sp>
        <p:nvSpPr>
          <p:cNvPr id="27" name="Text 20"/>
          <p:cNvSpPr/>
          <p:nvPr/>
        </p:nvSpPr>
        <p:spPr>
          <a:xfrm>
            <a:off x="9720072" y="2880360"/>
            <a:ext cx="1801368" cy="502920"/>
          </a:xfrm>
          <a:prstGeom prst="rect">
            <a:avLst/>
          </a:prstGeom>
          <a:noFill/>
          <a:ln/>
        </p:spPr>
        <p:txBody>
          <a:bodyPr wrap="square" lIns="0" tIns="0" rIns="0" bIns="0" rtlCol="0" anchor="ctr"/>
          <a:lstStyle/>
          <a:p>
            <a:pPr algn="ctr" indent="0" marL="0">
              <a:buNone/>
            </a:pPr>
            <a:r>
              <a:rPr lang="en-US" sz="1350" b="1" dirty="0">
                <a:solidFill>
                  <a:srgbClr val="16241F"/>
                </a:solidFill>
                <a:latin typeface="Cambria" pitchFamily="34" charset="0"/>
                <a:ea typeface="Cambria" pitchFamily="34" charset="-122"/>
                <a:cs typeface="Cambria" pitchFamily="34" charset="-120"/>
              </a:rPr>
              <a:t>End Screen</a:t>
            </a:r>
            <a:endParaRPr lang="en-US" sz="1350" dirty="0"/>
          </a:p>
        </p:txBody>
      </p:sp>
      <p:sp>
        <p:nvSpPr>
          <p:cNvPr id="28" name="Text 21"/>
          <p:cNvSpPr/>
          <p:nvPr/>
        </p:nvSpPr>
        <p:spPr>
          <a:xfrm>
            <a:off x="9720072" y="3429000"/>
            <a:ext cx="1801368" cy="2103120"/>
          </a:xfrm>
          <a:prstGeom prst="rect">
            <a:avLst/>
          </a:prstGeom>
          <a:noFill/>
          <a:ln/>
        </p:spPr>
        <p:txBody>
          <a:bodyPr wrap="square" lIns="0" tIns="0" rIns="0" bIns="0" rtlCol="0" anchor="ctr"/>
          <a:lstStyle/>
          <a:p>
            <a:pPr algn="ctr" indent="0" marL="0">
              <a:buNone/>
            </a:pPr>
            <a:r>
              <a:rPr lang="en-US" sz="1150" dirty="0">
                <a:solidFill>
                  <a:srgbClr val="5B6E64"/>
                </a:solidFill>
                <a:latin typeface="Calibri" pitchFamily="34" charset="0"/>
                <a:ea typeface="Calibri" pitchFamily="34" charset="-122"/>
                <a:cs typeface="Calibri" pitchFamily="34" charset="-120"/>
              </a:rPr>
              <a:t>Congratulations screen once power is fully restored.</a:t>
            </a:r>
            <a:endParaRPr lang="en-US" sz="1150" dirty="0"/>
          </a:p>
        </p:txBody>
      </p:sp>
      <p:sp>
        <p:nvSpPr>
          <p:cNvPr id="30"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31"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GAMEPLAY &amp; INTERACTIVITY</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What the Player Can Do</a:t>
            </a:r>
            <a:endParaRPr lang="en-US" sz="3000" dirty="0"/>
          </a:p>
        </p:txBody>
      </p:sp>
      <p:sp>
        <p:nvSpPr>
          <p:cNvPr id="4" name="Shape 2"/>
          <p:cNvSpPr/>
          <p:nvPr/>
        </p:nvSpPr>
        <p:spPr>
          <a:xfrm>
            <a:off x="548640" y="1737360"/>
            <a:ext cx="2651760" cy="1417320"/>
          </a:xfrm>
          <a:prstGeom prst="roundRect">
            <a:avLst>
              <a:gd name="adj" fmla="val 5806"/>
            </a:avLst>
          </a:prstGeom>
          <a:solidFill>
            <a:srgbClr val="FFFFFF"/>
          </a:solidFill>
          <a:ln/>
          <a:effectLst>
            <a:outerShdw sx="100000" sy="100000" kx="0" ky="0" algn="bl" rotWithShape="0" blurRad="101600" dist="38100" dir="2700000">
              <a:srgbClr val="0B2A20">
                <a:alpha val="12000"/>
              </a:srgbClr>
            </a:outerShdw>
          </a:effectLst>
        </p:spPr>
      </p:sp>
      <p:sp>
        <p:nvSpPr>
          <p:cNvPr id="5" name="Shape 3"/>
          <p:cNvSpPr/>
          <p:nvPr/>
        </p:nvSpPr>
        <p:spPr>
          <a:xfrm>
            <a:off x="749808" y="1993392"/>
            <a:ext cx="502920" cy="50292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6" name="Image 0" descr="preencoded.png">    </p:cNvPr>
          <p:cNvPicPr>
            <a:picLocks noChangeAspect="1"/>
          </p:cNvPicPr>
          <p:nvPr/>
        </p:nvPicPr>
        <p:blipFill>
          <a:blip r:embed="rId1"/>
          <a:stretch>
            <a:fillRect/>
          </a:stretch>
        </p:blipFill>
        <p:spPr>
          <a:xfrm>
            <a:off x="815188" y="2058772"/>
            <a:ext cx="372161" cy="372161"/>
          </a:xfrm>
          <a:prstGeom prst="rect">
            <a:avLst/>
          </a:prstGeom>
        </p:spPr>
      </p:pic>
      <p:sp>
        <p:nvSpPr>
          <p:cNvPr id="7" name="Text 4"/>
          <p:cNvSpPr/>
          <p:nvPr/>
        </p:nvSpPr>
        <p:spPr>
          <a:xfrm>
            <a:off x="749808" y="2633472"/>
            <a:ext cx="2286000" cy="457200"/>
          </a:xfrm>
          <a:prstGeom prst="rect">
            <a:avLst/>
          </a:prstGeom>
          <a:noFill/>
          <a:ln/>
        </p:spPr>
        <p:txBody>
          <a:bodyPr wrap="square" lIns="0" tIns="0" rIns="0" bIns="0" rtlCol="0" anchor="ctr"/>
          <a:lstStyle/>
          <a:p>
            <a:pPr indent="0" marL="0">
              <a:buNone/>
            </a:pPr>
            <a:r>
              <a:rPr lang="en-US" sz="1250" b="1" dirty="0">
                <a:solidFill>
                  <a:srgbClr val="16241F"/>
                </a:solidFill>
                <a:latin typeface="Calibri" pitchFamily="34" charset="0"/>
                <a:ea typeface="Calibri" pitchFamily="34" charset="-122"/>
                <a:cs typeface="Calibri" pitchFamily="34" charset="-120"/>
              </a:rPr>
              <a:t>Walk Around</a:t>
            </a:r>
            <a:endParaRPr lang="en-US" sz="1250" dirty="0"/>
          </a:p>
        </p:txBody>
      </p:sp>
      <p:sp>
        <p:nvSpPr>
          <p:cNvPr id="8" name="Shape 5"/>
          <p:cNvSpPr/>
          <p:nvPr/>
        </p:nvSpPr>
        <p:spPr>
          <a:xfrm>
            <a:off x="3383280" y="1737360"/>
            <a:ext cx="2651760" cy="1417320"/>
          </a:xfrm>
          <a:prstGeom prst="roundRect">
            <a:avLst>
              <a:gd name="adj" fmla="val 5806"/>
            </a:avLst>
          </a:prstGeom>
          <a:solidFill>
            <a:srgbClr val="FFFFFF"/>
          </a:solidFill>
          <a:ln/>
          <a:effectLst>
            <a:outerShdw sx="100000" sy="100000" kx="0" ky="0" algn="bl" rotWithShape="0" blurRad="101600" dist="38100" dir="2700000">
              <a:srgbClr val="0B2A20">
                <a:alpha val="12000"/>
              </a:srgbClr>
            </a:outerShdw>
          </a:effectLst>
        </p:spPr>
      </p:sp>
      <p:sp>
        <p:nvSpPr>
          <p:cNvPr id="9" name="Shape 6"/>
          <p:cNvSpPr/>
          <p:nvPr/>
        </p:nvSpPr>
        <p:spPr>
          <a:xfrm>
            <a:off x="3584448" y="1993392"/>
            <a:ext cx="502920" cy="50292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0" name="Image 1" descr="preencoded.png">    </p:cNvPr>
          <p:cNvPicPr>
            <a:picLocks noChangeAspect="1"/>
          </p:cNvPicPr>
          <p:nvPr/>
        </p:nvPicPr>
        <p:blipFill>
          <a:blip r:embed="rId2"/>
          <a:stretch>
            <a:fillRect/>
          </a:stretch>
        </p:blipFill>
        <p:spPr>
          <a:xfrm>
            <a:off x="3649828" y="2058772"/>
            <a:ext cx="372161" cy="372161"/>
          </a:xfrm>
          <a:prstGeom prst="rect">
            <a:avLst/>
          </a:prstGeom>
        </p:spPr>
      </p:pic>
      <p:sp>
        <p:nvSpPr>
          <p:cNvPr id="11" name="Text 7"/>
          <p:cNvSpPr/>
          <p:nvPr/>
        </p:nvSpPr>
        <p:spPr>
          <a:xfrm>
            <a:off x="3584448" y="2633472"/>
            <a:ext cx="2286000" cy="457200"/>
          </a:xfrm>
          <a:prstGeom prst="rect">
            <a:avLst/>
          </a:prstGeom>
          <a:noFill/>
          <a:ln/>
        </p:spPr>
        <p:txBody>
          <a:bodyPr wrap="square" lIns="0" tIns="0" rIns="0" bIns="0" rtlCol="0" anchor="ctr"/>
          <a:lstStyle/>
          <a:p>
            <a:pPr indent="0" marL="0">
              <a:buNone/>
            </a:pPr>
            <a:r>
              <a:rPr lang="en-US" sz="1250" b="1" dirty="0">
                <a:solidFill>
                  <a:srgbClr val="16241F"/>
                </a:solidFill>
                <a:latin typeface="Calibri" pitchFamily="34" charset="0"/>
                <a:ea typeface="Calibri" pitchFamily="34" charset="-122"/>
                <a:cs typeface="Calibri" pitchFamily="34" charset="-120"/>
              </a:rPr>
              <a:t>Explore Rooms</a:t>
            </a:r>
            <a:endParaRPr lang="en-US" sz="1250" dirty="0"/>
          </a:p>
        </p:txBody>
      </p:sp>
      <p:sp>
        <p:nvSpPr>
          <p:cNvPr id="12" name="Shape 8"/>
          <p:cNvSpPr/>
          <p:nvPr/>
        </p:nvSpPr>
        <p:spPr>
          <a:xfrm>
            <a:off x="6217920" y="1737360"/>
            <a:ext cx="2651760" cy="1417320"/>
          </a:xfrm>
          <a:prstGeom prst="roundRect">
            <a:avLst>
              <a:gd name="adj" fmla="val 5806"/>
            </a:avLst>
          </a:prstGeom>
          <a:solidFill>
            <a:srgbClr val="FFFFFF"/>
          </a:solidFill>
          <a:ln/>
          <a:effectLst>
            <a:outerShdw sx="100000" sy="100000" kx="0" ky="0" algn="bl" rotWithShape="0" blurRad="101600" dist="38100" dir="2700000">
              <a:srgbClr val="0B2A20">
                <a:alpha val="12000"/>
              </a:srgbClr>
            </a:outerShdw>
          </a:effectLst>
        </p:spPr>
      </p:sp>
      <p:sp>
        <p:nvSpPr>
          <p:cNvPr id="13" name="Shape 9"/>
          <p:cNvSpPr/>
          <p:nvPr/>
        </p:nvSpPr>
        <p:spPr>
          <a:xfrm>
            <a:off x="6419088" y="1993392"/>
            <a:ext cx="502920" cy="50292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14" name="Image 2" descr="preencoded.png">    </p:cNvPr>
          <p:cNvPicPr>
            <a:picLocks noChangeAspect="1"/>
          </p:cNvPicPr>
          <p:nvPr/>
        </p:nvPicPr>
        <p:blipFill>
          <a:blip r:embed="rId3"/>
          <a:stretch>
            <a:fillRect/>
          </a:stretch>
        </p:blipFill>
        <p:spPr>
          <a:xfrm>
            <a:off x="6484468" y="2058772"/>
            <a:ext cx="372161" cy="372161"/>
          </a:xfrm>
          <a:prstGeom prst="rect">
            <a:avLst/>
          </a:prstGeom>
        </p:spPr>
      </p:pic>
      <p:sp>
        <p:nvSpPr>
          <p:cNvPr id="15" name="Text 10"/>
          <p:cNvSpPr/>
          <p:nvPr/>
        </p:nvSpPr>
        <p:spPr>
          <a:xfrm>
            <a:off x="6419088" y="2633472"/>
            <a:ext cx="2286000" cy="457200"/>
          </a:xfrm>
          <a:prstGeom prst="rect">
            <a:avLst/>
          </a:prstGeom>
          <a:noFill/>
          <a:ln/>
        </p:spPr>
        <p:txBody>
          <a:bodyPr wrap="square" lIns="0" tIns="0" rIns="0" bIns="0" rtlCol="0" anchor="ctr"/>
          <a:lstStyle/>
          <a:p>
            <a:pPr indent="0" marL="0">
              <a:buNone/>
            </a:pPr>
            <a:r>
              <a:rPr lang="en-US" sz="1250" b="1" dirty="0">
                <a:solidFill>
                  <a:srgbClr val="16241F"/>
                </a:solidFill>
                <a:latin typeface="Calibri" pitchFamily="34" charset="0"/>
                <a:ea typeface="Calibri" pitchFamily="34" charset="-122"/>
                <a:cs typeface="Calibri" pitchFamily="34" charset="-120"/>
              </a:rPr>
              <a:t>Explore Rooftop</a:t>
            </a:r>
            <a:endParaRPr lang="en-US" sz="1250" dirty="0"/>
          </a:p>
        </p:txBody>
      </p:sp>
      <p:sp>
        <p:nvSpPr>
          <p:cNvPr id="16" name="Shape 11"/>
          <p:cNvSpPr/>
          <p:nvPr/>
        </p:nvSpPr>
        <p:spPr>
          <a:xfrm>
            <a:off x="9052560" y="1737360"/>
            <a:ext cx="2651760" cy="1417320"/>
          </a:xfrm>
          <a:prstGeom prst="roundRect">
            <a:avLst>
              <a:gd name="adj" fmla="val 5806"/>
            </a:avLst>
          </a:prstGeom>
          <a:solidFill>
            <a:srgbClr val="FFFFFF"/>
          </a:solidFill>
          <a:ln/>
          <a:effectLst>
            <a:outerShdw sx="100000" sy="100000" kx="0" ky="0" algn="bl" rotWithShape="0" blurRad="101600" dist="38100" dir="2700000">
              <a:srgbClr val="0B2A20">
                <a:alpha val="12000"/>
              </a:srgbClr>
            </a:outerShdw>
          </a:effectLst>
        </p:spPr>
      </p:sp>
      <p:sp>
        <p:nvSpPr>
          <p:cNvPr id="17" name="Shape 12"/>
          <p:cNvSpPr/>
          <p:nvPr/>
        </p:nvSpPr>
        <p:spPr>
          <a:xfrm>
            <a:off x="9253728" y="1993392"/>
            <a:ext cx="502920" cy="50292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8" name="Image 3" descr="preencoded.png">    </p:cNvPr>
          <p:cNvPicPr>
            <a:picLocks noChangeAspect="1"/>
          </p:cNvPicPr>
          <p:nvPr/>
        </p:nvPicPr>
        <p:blipFill>
          <a:blip r:embed="rId4"/>
          <a:stretch>
            <a:fillRect/>
          </a:stretch>
        </p:blipFill>
        <p:spPr>
          <a:xfrm>
            <a:off x="9319108" y="2058772"/>
            <a:ext cx="372161" cy="372161"/>
          </a:xfrm>
          <a:prstGeom prst="rect">
            <a:avLst/>
          </a:prstGeom>
        </p:spPr>
      </p:pic>
      <p:sp>
        <p:nvSpPr>
          <p:cNvPr id="19" name="Text 13"/>
          <p:cNvSpPr/>
          <p:nvPr/>
        </p:nvSpPr>
        <p:spPr>
          <a:xfrm>
            <a:off x="9253728" y="2633472"/>
            <a:ext cx="2286000" cy="457200"/>
          </a:xfrm>
          <a:prstGeom prst="rect">
            <a:avLst/>
          </a:prstGeom>
          <a:noFill/>
          <a:ln/>
        </p:spPr>
        <p:txBody>
          <a:bodyPr wrap="square" lIns="0" tIns="0" rIns="0" bIns="0" rtlCol="0" anchor="ctr"/>
          <a:lstStyle/>
          <a:p>
            <a:pPr indent="0" marL="0">
              <a:buNone/>
            </a:pPr>
            <a:r>
              <a:rPr lang="en-US" sz="1250" b="1" dirty="0">
                <a:solidFill>
                  <a:srgbClr val="16241F"/>
                </a:solidFill>
                <a:latin typeface="Calibri" pitchFamily="34" charset="0"/>
                <a:ea typeface="Calibri" pitchFamily="34" charset="-122"/>
                <a:cs typeface="Calibri" pitchFamily="34" charset="-120"/>
              </a:rPr>
              <a:t>Enter Portal</a:t>
            </a:r>
            <a:endParaRPr lang="en-US" sz="1250" dirty="0"/>
          </a:p>
        </p:txBody>
      </p:sp>
      <p:sp>
        <p:nvSpPr>
          <p:cNvPr id="20" name="Shape 14"/>
          <p:cNvSpPr/>
          <p:nvPr/>
        </p:nvSpPr>
        <p:spPr>
          <a:xfrm>
            <a:off x="548640" y="3337560"/>
            <a:ext cx="2651760" cy="1417320"/>
          </a:xfrm>
          <a:prstGeom prst="roundRect">
            <a:avLst>
              <a:gd name="adj" fmla="val 5806"/>
            </a:avLst>
          </a:prstGeom>
          <a:solidFill>
            <a:srgbClr val="FFFFFF"/>
          </a:solidFill>
          <a:ln/>
          <a:effectLst>
            <a:outerShdw sx="100000" sy="100000" kx="0" ky="0" algn="bl" rotWithShape="0" blurRad="101600" dist="38100" dir="2700000">
              <a:srgbClr val="0B2A20">
                <a:alpha val="12000"/>
              </a:srgbClr>
            </a:outerShdw>
          </a:effectLst>
        </p:spPr>
      </p:sp>
      <p:sp>
        <p:nvSpPr>
          <p:cNvPr id="21" name="Shape 15"/>
          <p:cNvSpPr/>
          <p:nvPr/>
        </p:nvSpPr>
        <p:spPr>
          <a:xfrm>
            <a:off x="749808" y="3593592"/>
            <a:ext cx="502920" cy="50292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22" name="Image 4" descr="preencoded.png">    </p:cNvPr>
          <p:cNvPicPr>
            <a:picLocks noChangeAspect="1"/>
          </p:cNvPicPr>
          <p:nvPr/>
        </p:nvPicPr>
        <p:blipFill>
          <a:blip r:embed="rId5"/>
          <a:stretch>
            <a:fillRect/>
          </a:stretch>
        </p:blipFill>
        <p:spPr>
          <a:xfrm>
            <a:off x="815188" y="3658972"/>
            <a:ext cx="372161" cy="372161"/>
          </a:xfrm>
          <a:prstGeom prst="rect">
            <a:avLst/>
          </a:prstGeom>
        </p:spPr>
      </p:pic>
      <p:sp>
        <p:nvSpPr>
          <p:cNvPr id="23" name="Text 16"/>
          <p:cNvSpPr/>
          <p:nvPr/>
        </p:nvSpPr>
        <p:spPr>
          <a:xfrm>
            <a:off x="749808" y="4233672"/>
            <a:ext cx="2286000" cy="457200"/>
          </a:xfrm>
          <a:prstGeom prst="rect">
            <a:avLst/>
          </a:prstGeom>
          <a:noFill/>
          <a:ln/>
        </p:spPr>
        <p:txBody>
          <a:bodyPr wrap="square" lIns="0" tIns="0" rIns="0" bIns="0" rtlCol="0" anchor="ctr"/>
          <a:lstStyle/>
          <a:p>
            <a:pPr indent="0" marL="0">
              <a:buNone/>
            </a:pPr>
            <a:r>
              <a:rPr lang="en-US" sz="1250" b="1" dirty="0">
                <a:solidFill>
                  <a:srgbClr val="16241F"/>
                </a:solidFill>
                <a:latin typeface="Calibri" pitchFamily="34" charset="0"/>
                <a:ea typeface="Calibri" pitchFamily="34" charset="-122"/>
                <a:cs typeface="Calibri" pitchFamily="34" charset="-120"/>
              </a:rPr>
              <a:t>Collect Key</a:t>
            </a:r>
            <a:endParaRPr lang="en-US" sz="1250" dirty="0"/>
          </a:p>
        </p:txBody>
      </p:sp>
      <p:sp>
        <p:nvSpPr>
          <p:cNvPr id="24" name="Shape 17"/>
          <p:cNvSpPr/>
          <p:nvPr/>
        </p:nvSpPr>
        <p:spPr>
          <a:xfrm>
            <a:off x="3383280" y="3337560"/>
            <a:ext cx="2651760" cy="1417320"/>
          </a:xfrm>
          <a:prstGeom prst="roundRect">
            <a:avLst>
              <a:gd name="adj" fmla="val 5806"/>
            </a:avLst>
          </a:prstGeom>
          <a:solidFill>
            <a:srgbClr val="FFFFFF"/>
          </a:solidFill>
          <a:ln/>
          <a:effectLst>
            <a:outerShdw sx="100000" sy="100000" kx="0" ky="0" algn="bl" rotWithShape="0" blurRad="101600" dist="38100" dir="2700000">
              <a:srgbClr val="0B2A20">
                <a:alpha val="12000"/>
              </a:srgbClr>
            </a:outerShdw>
          </a:effectLst>
        </p:spPr>
      </p:sp>
      <p:sp>
        <p:nvSpPr>
          <p:cNvPr id="25" name="Shape 18"/>
          <p:cNvSpPr/>
          <p:nvPr/>
        </p:nvSpPr>
        <p:spPr>
          <a:xfrm>
            <a:off x="3584448" y="3593592"/>
            <a:ext cx="502920" cy="50292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26" name="Image 5" descr="preencoded.png">    </p:cNvPr>
          <p:cNvPicPr>
            <a:picLocks noChangeAspect="1"/>
          </p:cNvPicPr>
          <p:nvPr/>
        </p:nvPicPr>
        <p:blipFill>
          <a:blip r:embed="rId6"/>
          <a:stretch>
            <a:fillRect/>
          </a:stretch>
        </p:blipFill>
        <p:spPr>
          <a:xfrm>
            <a:off x="3649828" y="3658972"/>
            <a:ext cx="372161" cy="372161"/>
          </a:xfrm>
          <a:prstGeom prst="rect">
            <a:avLst/>
          </a:prstGeom>
        </p:spPr>
      </p:pic>
      <p:sp>
        <p:nvSpPr>
          <p:cNvPr id="27" name="Text 19"/>
          <p:cNvSpPr/>
          <p:nvPr/>
        </p:nvSpPr>
        <p:spPr>
          <a:xfrm>
            <a:off x="3584448" y="4233672"/>
            <a:ext cx="2286000" cy="457200"/>
          </a:xfrm>
          <a:prstGeom prst="rect">
            <a:avLst/>
          </a:prstGeom>
          <a:noFill/>
          <a:ln/>
        </p:spPr>
        <p:txBody>
          <a:bodyPr wrap="square" lIns="0" tIns="0" rIns="0" bIns="0" rtlCol="0" anchor="ctr"/>
          <a:lstStyle/>
          <a:p>
            <a:pPr indent="0" marL="0">
              <a:buNone/>
            </a:pPr>
            <a:r>
              <a:rPr lang="en-US" sz="1250" b="1" dirty="0">
                <a:solidFill>
                  <a:srgbClr val="16241F"/>
                </a:solidFill>
                <a:latin typeface="Calibri" pitchFamily="34" charset="0"/>
                <a:ea typeface="Calibri" pitchFamily="34" charset="-122"/>
                <a:cs typeface="Calibri" pitchFamily="34" charset="-120"/>
              </a:rPr>
              <a:t>Repair Solar Panels</a:t>
            </a:r>
            <a:endParaRPr lang="en-US" sz="1250" dirty="0"/>
          </a:p>
        </p:txBody>
      </p:sp>
      <p:sp>
        <p:nvSpPr>
          <p:cNvPr id="28" name="Shape 20"/>
          <p:cNvSpPr/>
          <p:nvPr/>
        </p:nvSpPr>
        <p:spPr>
          <a:xfrm>
            <a:off x="6217920" y="3337560"/>
            <a:ext cx="2651760" cy="1417320"/>
          </a:xfrm>
          <a:prstGeom prst="roundRect">
            <a:avLst>
              <a:gd name="adj" fmla="val 5806"/>
            </a:avLst>
          </a:prstGeom>
          <a:solidFill>
            <a:srgbClr val="FFFFFF"/>
          </a:solidFill>
          <a:ln/>
          <a:effectLst>
            <a:outerShdw sx="100000" sy="100000" kx="0" ky="0" algn="bl" rotWithShape="0" blurRad="101600" dist="38100" dir="2700000">
              <a:srgbClr val="0B2A20">
                <a:alpha val="12000"/>
              </a:srgbClr>
            </a:outerShdw>
          </a:effectLst>
        </p:spPr>
      </p:sp>
      <p:sp>
        <p:nvSpPr>
          <p:cNvPr id="29" name="Shape 21"/>
          <p:cNvSpPr/>
          <p:nvPr/>
        </p:nvSpPr>
        <p:spPr>
          <a:xfrm>
            <a:off x="6419088" y="3593592"/>
            <a:ext cx="502920" cy="50292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30" name="Image 6" descr="preencoded.png">    </p:cNvPr>
          <p:cNvPicPr>
            <a:picLocks noChangeAspect="1"/>
          </p:cNvPicPr>
          <p:nvPr/>
        </p:nvPicPr>
        <p:blipFill>
          <a:blip r:embed="rId7"/>
          <a:stretch>
            <a:fillRect/>
          </a:stretch>
        </p:blipFill>
        <p:spPr>
          <a:xfrm>
            <a:off x="6484468" y="3658972"/>
            <a:ext cx="372161" cy="372161"/>
          </a:xfrm>
          <a:prstGeom prst="rect">
            <a:avLst/>
          </a:prstGeom>
        </p:spPr>
      </p:pic>
      <p:sp>
        <p:nvSpPr>
          <p:cNvPr id="31" name="Text 22"/>
          <p:cNvSpPr/>
          <p:nvPr/>
        </p:nvSpPr>
        <p:spPr>
          <a:xfrm>
            <a:off x="6419088" y="4233672"/>
            <a:ext cx="2286000" cy="457200"/>
          </a:xfrm>
          <a:prstGeom prst="rect">
            <a:avLst/>
          </a:prstGeom>
          <a:noFill/>
          <a:ln/>
        </p:spPr>
        <p:txBody>
          <a:bodyPr wrap="square" lIns="0" tIns="0" rIns="0" bIns="0" rtlCol="0" anchor="ctr"/>
          <a:lstStyle/>
          <a:p>
            <a:pPr indent="0" marL="0">
              <a:buNone/>
            </a:pPr>
            <a:r>
              <a:rPr lang="en-US" sz="1250" b="1" dirty="0">
                <a:solidFill>
                  <a:srgbClr val="16241F"/>
                </a:solidFill>
                <a:latin typeface="Calibri" pitchFamily="34" charset="0"/>
                <a:ea typeface="Calibri" pitchFamily="34" charset="-122"/>
                <a:cs typeface="Calibri" pitchFamily="34" charset="-120"/>
              </a:rPr>
              <a:t>Activate Switches</a:t>
            </a:r>
            <a:endParaRPr lang="en-US" sz="1250" dirty="0"/>
          </a:p>
        </p:txBody>
      </p:sp>
      <p:sp>
        <p:nvSpPr>
          <p:cNvPr id="32" name="Shape 23"/>
          <p:cNvSpPr/>
          <p:nvPr/>
        </p:nvSpPr>
        <p:spPr>
          <a:xfrm>
            <a:off x="9052560" y="3337560"/>
            <a:ext cx="2651760" cy="1417320"/>
          </a:xfrm>
          <a:prstGeom prst="roundRect">
            <a:avLst>
              <a:gd name="adj" fmla="val 5806"/>
            </a:avLst>
          </a:prstGeom>
          <a:solidFill>
            <a:srgbClr val="FFFFFF"/>
          </a:solidFill>
          <a:ln/>
          <a:effectLst>
            <a:outerShdw sx="100000" sy="100000" kx="0" ky="0" algn="bl" rotWithShape="0" blurRad="101600" dist="38100" dir="2700000">
              <a:srgbClr val="0B2A20">
                <a:alpha val="12000"/>
              </a:srgbClr>
            </a:outerShdw>
          </a:effectLst>
        </p:spPr>
      </p:sp>
      <p:sp>
        <p:nvSpPr>
          <p:cNvPr id="33" name="Shape 24"/>
          <p:cNvSpPr/>
          <p:nvPr/>
        </p:nvSpPr>
        <p:spPr>
          <a:xfrm>
            <a:off x="9253728" y="3593592"/>
            <a:ext cx="502920" cy="50292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34" name="Image 7" descr="preencoded.png">    </p:cNvPr>
          <p:cNvPicPr>
            <a:picLocks noChangeAspect="1"/>
          </p:cNvPicPr>
          <p:nvPr/>
        </p:nvPicPr>
        <p:blipFill>
          <a:blip r:embed="rId8"/>
          <a:stretch>
            <a:fillRect/>
          </a:stretch>
        </p:blipFill>
        <p:spPr>
          <a:xfrm>
            <a:off x="9319108" y="3658972"/>
            <a:ext cx="372161" cy="372161"/>
          </a:xfrm>
          <a:prstGeom prst="rect">
            <a:avLst/>
          </a:prstGeom>
        </p:spPr>
      </p:pic>
      <p:sp>
        <p:nvSpPr>
          <p:cNvPr id="35" name="Text 25"/>
          <p:cNvSpPr/>
          <p:nvPr/>
        </p:nvSpPr>
        <p:spPr>
          <a:xfrm>
            <a:off x="9253728" y="4233672"/>
            <a:ext cx="2286000" cy="457200"/>
          </a:xfrm>
          <a:prstGeom prst="rect">
            <a:avLst/>
          </a:prstGeom>
          <a:noFill/>
          <a:ln/>
        </p:spPr>
        <p:txBody>
          <a:bodyPr wrap="square" lIns="0" tIns="0" rIns="0" bIns="0" rtlCol="0" anchor="ctr"/>
          <a:lstStyle/>
          <a:p>
            <a:pPr indent="0" marL="0">
              <a:buNone/>
            </a:pPr>
            <a:r>
              <a:rPr lang="en-US" sz="1250" b="1" dirty="0">
                <a:solidFill>
                  <a:srgbClr val="16241F"/>
                </a:solidFill>
                <a:latin typeface="Calibri" pitchFamily="34" charset="0"/>
                <a:ea typeface="Calibri" pitchFamily="34" charset="-122"/>
                <a:cs typeface="Calibri" pitchFamily="34" charset="-120"/>
              </a:rPr>
              <a:t>Complete Objectives</a:t>
            </a:r>
            <a:endParaRPr lang="en-US" sz="1250" dirty="0"/>
          </a:p>
        </p:txBody>
      </p:sp>
      <p:sp>
        <p:nvSpPr>
          <p:cNvPr id="36" name="Shape 26"/>
          <p:cNvSpPr/>
          <p:nvPr/>
        </p:nvSpPr>
        <p:spPr>
          <a:xfrm>
            <a:off x="548640" y="5257800"/>
            <a:ext cx="11109960" cy="868680"/>
          </a:xfrm>
          <a:prstGeom prst="roundRect">
            <a:avLst>
              <a:gd name="adj" fmla="val 9474"/>
            </a:avLst>
          </a:prstGeom>
          <a:solidFill>
            <a:srgbClr val="134D3B"/>
          </a:solidFill>
          <a:ln/>
          <a:effectLst>
            <a:outerShdw sx="100000" sy="100000" kx="0" ky="0" algn="bl" rotWithShape="0" blurRad="101600" dist="38100" dir="2700000">
              <a:srgbClr val="0B2A20">
                <a:alpha val="12000"/>
              </a:srgbClr>
            </a:outerShdw>
          </a:effectLst>
        </p:spPr>
      </p:sp>
      <p:sp>
        <p:nvSpPr>
          <p:cNvPr id="37" name="Text 27"/>
          <p:cNvSpPr/>
          <p:nvPr/>
        </p:nvSpPr>
        <p:spPr>
          <a:xfrm>
            <a:off x="822960" y="5367528"/>
            <a:ext cx="3657600" cy="274320"/>
          </a:xfrm>
          <a:prstGeom prst="rect">
            <a:avLst/>
          </a:prstGeom>
          <a:noFill/>
          <a:ln/>
        </p:spPr>
        <p:txBody>
          <a:bodyPr wrap="square" lIns="0" tIns="0" rIns="0" bIns="0" rtlCol="0" anchor="ctr"/>
          <a:lstStyle/>
          <a:p>
            <a:pPr indent="0" marL="0">
              <a:buNone/>
            </a:pPr>
            <a:r>
              <a:rPr lang="en-US" sz="1050" b="1" spc="200" kern="0" dirty="0">
                <a:solidFill>
                  <a:srgbClr val="F2A93B"/>
                </a:solidFill>
                <a:latin typeface="Calibri" pitchFamily="34" charset="0"/>
                <a:ea typeface="Calibri" pitchFamily="34" charset="-122"/>
                <a:cs typeface="Calibri" pitchFamily="34" charset="-120"/>
              </a:rPr>
              <a:t>INTERACTION SYSTEM</a:t>
            </a:r>
            <a:endParaRPr lang="en-US" sz="1050" dirty="0"/>
          </a:p>
        </p:txBody>
      </p:sp>
      <p:sp>
        <p:nvSpPr>
          <p:cNvPr id="38" name="Text 28"/>
          <p:cNvSpPr/>
          <p:nvPr/>
        </p:nvSpPr>
        <p:spPr>
          <a:xfrm>
            <a:off x="822960" y="5605272"/>
            <a:ext cx="10607040" cy="41148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New Input System (E / F keys) triggers pickups, switches, and repairs via Trigger Colliders and dedicated C# interaction scripts.</a:t>
            </a:r>
            <a:endParaRPr lang="en-US" sz="1250" dirty="0"/>
          </a:p>
        </p:txBody>
      </p:sp>
      <p:sp>
        <p:nvSpPr>
          <p:cNvPr id="40" name="Text 29"/>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41" name="Text 3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TECHNICAL IMPLEMENTATION</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Systems Under the Hood</a:t>
            </a:r>
            <a:endParaRPr lang="en-US" sz="3000" dirty="0"/>
          </a:p>
        </p:txBody>
      </p:sp>
      <p:sp>
        <p:nvSpPr>
          <p:cNvPr id="4" name="Shape 2"/>
          <p:cNvSpPr/>
          <p:nvPr/>
        </p:nvSpPr>
        <p:spPr>
          <a:xfrm>
            <a:off x="548640" y="1737360"/>
            <a:ext cx="2651760" cy="1965960"/>
          </a:xfrm>
          <a:prstGeom prst="roundRect">
            <a:avLst>
              <a:gd name="adj" fmla="val 4186"/>
            </a:avLst>
          </a:prstGeom>
          <a:solidFill>
            <a:srgbClr val="FFFFFF"/>
          </a:solidFill>
          <a:ln/>
          <a:effectLst>
            <a:outerShdw sx="100000" sy="100000" kx="0" ky="0" algn="bl" rotWithShape="0" blurRad="101600" dist="38100" dir="2700000">
              <a:srgbClr val="0B2A20">
                <a:alpha val="12000"/>
              </a:srgbClr>
            </a:outerShdw>
          </a:effectLst>
        </p:spPr>
      </p:sp>
      <p:sp>
        <p:nvSpPr>
          <p:cNvPr id="5" name="Shape 3"/>
          <p:cNvSpPr/>
          <p:nvPr/>
        </p:nvSpPr>
        <p:spPr>
          <a:xfrm>
            <a:off x="749808" y="1938528"/>
            <a:ext cx="457200" cy="45720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6" name="Image 0" descr="preencoded.png">    </p:cNvPr>
          <p:cNvPicPr>
            <a:picLocks noChangeAspect="1"/>
          </p:cNvPicPr>
          <p:nvPr/>
        </p:nvPicPr>
        <p:blipFill>
          <a:blip r:embed="rId1"/>
          <a:stretch>
            <a:fillRect/>
          </a:stretch>
        </p:blipFill>
        <p:spPr>
          <a:xfrm>
            <a:off x="809244" y="1997964"/>
            <a:ext cx="338328" cy="338328"/>
          </a:xfrm>
          <a:prstGeom prst="rect">
            <a:avLst/>
          </a:prstGeom>
        </p:spPr>
      </p:pic>
      <p:sp>
        <p:nvSpPr>
          <p:cNvPr id="7" name="Text 4"/>
          <p:cNvSpPr/>
          <p:nvPr/>
        </p:nvSpPr>
        <p:spPr>
          <a:xfrm>
            <a:off x="749808" y="2514600"/>
            <a:ext cx="2286000" cy="365760"/>
          </a:xfrm>
          <a:prstGeom prst="rect">
            <a:avLst/>
          </a:prstGeom>
          <a:noFill/>
          <a:ln/>
        </p:spPr>
        <p:txBody>
          <a:bodyPr wrap="square" lIns="0" tIns="0" rIns="0" bIns="0" rtlCol="0" anchor="ctr"/>
          <a:lstStyle/>
          <a:p>
            <a:pPr indent="0" marL="0">
              <a:buNone/>
            </a:pPr>
            <a:r>
              <a:rPr lang="en-US" sz="1250" b="1" dirty="0">
                <a:solidFill>
                  <a:srgbClr val="16241F"/>
                </a:solidFill>
                <a:latin typeface="Cambria" pitchFamily="34" charset="0"/>
                <a:ea typeface="Cambria" pitchFamily="34" charset="-122"/>
                <a:cs typeface="Cambria" pitchFamily="34" charset="-120"/>
              </a:rPr>
              <a:t>Unity 6 + C#</a:t>
            </a:r>
            <a:endParaRPr lang="en-US" sz="1250" dirty="0"/>
          </a:p>
        </p:txBody>
      </p:sp>
      <p:sp>
        <p:nvSpPr>
          <p:cNvPr id="8" name="Text 5"/>
          <p:cNvSpPr/>
          <p:nvPr/>
        </p:nvSpPr>
        <p:spPr>
          <a:xfrm>
            <a:off x="749808" y="2880360"/>
            <a:ext cx="2286000" cy="777240"/>
          </a:xfrm>
          <a:prstGeom prst="rect">
            <a:avLst/>
          </a:prstGeom>
          <a:noFill/>
          <a:ln/>
        </p:spPr>
        <p:txBody>
          <a:bodyPr wrap="square" lIns="0" tIns="0" rIns="0" bIns="0" rtlCol="0" anchor="ctr"/>
          <a:lstStyle/>
          <a:p>
            <a:pPr indent="0" marL="0">
              <a:buNone/>
            </a:pPr>
            <a:r>
              <a:rPr lang="en-US" sz="1050" dirty="0">
                <a:solidFill>
                  <a:srgbClr val="5B6E64"/>
                </a:solidFill>
                <a:latin typeface="Calibri" pitchFamily="34" charset="0"/>
                <a:ea typeface="Calibri" pitchFamily="34" charset="-122"/>
                <a:cs typeface="Calibri" pitchFamily="34" charset="-120"/>
              </a:rPr>
              <a:t>Core engine and scripting language for all gameplay systems.</a:t>
            </a:r>
            <a:endParaRPr lang="en-US" sz="1050" dirty="0"/>
          </a:p>
        </p:txBody>
      </p:sp>
      <p:sp>
        <p:nvSpPr>
          <p:cNvPr id="9" name="Shape 6"/>
          <p:cNvSpPr/>
          <p:nvPr/>
        </p:nvSpPr>
        <p:spPr>
          <a:xfrm>
            <a:off x="3383280" y="1737360"/>
            <a:ext cx="2651760" cy="1965960"/>
          </a:xfrm>
          <a:prstGeom prst="roundRect">
            <a:avLst>
              <a:gd name="adj" fmla="val 4186"/>
            </a:avLst>
          </a:prstGeom>
          <a:solidFill>
            <a:srgbClr val="FFFFFF"/>
          </a:solidFill>
          <a:ln/>
          <a:effectLst>
            <a:outerShdw sx="100000" sy="100000" kx="0" ky="0" algn="bl" rotWithShape="0" blurRad="101600" dist="38100" dir="2700000">
              <a:srgbClr val="0B2A20">
                <a:alpha val="12000"/>
              </a:srgbClr>
            </a:outerShdw>
          </a:effectLst>
        </p:spPr>
      </p:sp>
      <p:sp>
        <p:nvSpPr>
          <p:cNvPr id="10" name="Shape 7"/>
          <p:cNvSpPr/>
          <p:nvPr/>
        </p:nvSpPr>
        <p:spPr>
          <a:xfrm>
            <a:off x="3584448" y="1938528"/>
            <a:ext cx="457200" cy="45720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11" name="Image 1" descr="preencoded.png">    </p:cNvPr>
          <p:cNvPicPr>
            <a:picLocks noChangeAspect="1"/>
          </p:cNvPicPr>
          <p:nvPr/>
        </p:nvPicPr>
        <p:blipFill>
          <a:blip r:embed="rId2"/>
          <a:stretch>
            <a:fillRect/>
          </a:stretch>
        </p:blipFill>
        <p:spPr>
          <a:xfrm>
            <a:off x="3643884" y="1997964"/>
            <a:ext cx="338328" cy="338328"/>
          </a:xfrm>
          <a:prstGeom prst="rect">
            <a:avLst/>
          </a:prstGeom>
        </p:spPr>
      </p:pic>
      <p:sp>
        <p:nvSpPr>
          <p:cNvPr id="12" name="Text 8"/>
          <p:cNvSpPr/>
          <p:nvPr/>
        </p:nvSpPr>
        <p:spPr>
          <a:xfrm>
            <a:off x="3584448" y="2514600"/>
            <a:ext cx="2286000" cy="365760"/>
          </a:xfrm>
          <a:prstGeom prst="rect">
            <a:avLst/>
          </a:prstGeom>
          <a:noFill/>
          <a:ln/>
        </p:spPr>
        <p:txBody>
          <a:bodyPr wrap="square" lIns="0" tIns="0" rIns="0" bIns="0" rtlCol="0" anchor="ctr"/>
          <a:lstStyle/>
          <a:p>
            <a:pPr indent="0" marL="0">
              <a:buNone/>
            </a:pPr>
            <a:r>
              <a:rPr lang="en-US" sz="1250" b="1" dirty="0">
                <a:solidFill>
                  <a:srgbClr val="16241F"/>
                </a:solidFill>
                <a:latin typeface="Cambria" pitchFamily="34" charset="0"/>
                <a:ea typeface="Cambria" pitchFamily="34" charset="-122"/>
                <a:cs typeface="Cambria" pitchFamily="34" charset="-120"/>
              </a:rPr>
              <a:t>Scene Management</a:t>
            </a:r>
            <a:endParaRPr lang="en-US" sz="1250" dirty="0"/>
          </a:p>
        </p:txBody>
      </p:sp>
      <p:sp>
        <p:nvSpPr>
          <p:cNvPr id="13" name="Text 9"/>
          <p:cNvSpPr/>
          <p:nvPr/>
        </p:nvSpPr>
        <p:spPr>
          <a:xfrm>
            <a:off x="3584448" y="2880360"/>
            <a:ext cx="2286000" cy="777240"/>
          </a:xfrm>
          <a:prstGeom prst="rect">
            <a:avLst/>
          </a:prstGeom>
          <a:noFill/>
          <a:ln/>
        </p:spPr>
        <p:txBody>
          <a:bodyPr wrap="square" lIns="0" tIns="0" rIns="0" bIns="0" rtlCol="0" anchor="ctr"/>
          <a:lstStyle/>
          <a:p>
            <a:pPr indent="0" marL="0">
              <a:buNone/>
            </a:pPr>
            <a:r>
              <a:rPr lang="en-US" sz="1050" dirty="0">
                <a:solidFill>
                  <a:srgbClr val="5B6E64"/>
                </a:solidFill>
                <a:latin typeface="Calibri" pitchFamily="34" charset="0"/>
                <a:ea typeface="Calibri" pitchFamily="34" charset="-122"/>
                <a:cs typeface="Calibri" pitchFamily="34" charset="-120"/>
              </a:rPr>
              <a:t>Loads and unloads Smart Home and Solar Station scenes.</a:t>
            </a:r>
            <a:endParaRPr lang="en-US" sz="1050" dirty="0"/>
          </a:p>
        </p:txBody>
      </p:sp>
      <p:sp>
        <p:nvSpPr>
          <p:cNvPr id="14" name="Shape 10"/>
          <p:cNvSpPr/>
          <p:nvPr/>
        </p:nvSpPr>
        <p:spPr>
          <a:xfrm>
            <a:off x="6217920" y="1737360"/>
            <a:ext cx="2651760" cy="1965960"/>
          </a:xfrm>
          <a:prstGeom prst="roundRect">
            <a:avLst>
              <a:gd name="adj" fmla="val 4186"/>
            </a:avLst>
          </a:prstGeom>
          <a:solidFill>
            <a:srgbClr val="FFFFFF"/>
          </a:solidFill>
          <a:ln/>
          <a:effectLst>
            <a:outerShdw sx="100000" sy="100000" kx="0" ky="0" algn="bl" rotWithShape="0" blurRad="101600" dist="38100" dir="2700000">
              <a:srgbClr val="0B2A20">
                <a:alpha val="12000"/>
              </a:srgbClr>
            </a:outerShdw>
          </a:effectLst>
        </p:spPr>
      </p:sp>
      <p:sp>
        <p:nvSpPr>
          <p:cNvPr id="15" name="Shape 11"/>
          <p:cNvSpPr/>
          <p:nvPr/>
        </p:nvSpPr>
        <p:spPr>
          <a:xfrm>
            <a:off x="6419088" y="1938528"/>
            <a:ext cx="457200" cy="45720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16" name="Image 2" descr="preencoded.png">    </p:cNvPr>
          <p:cNvPicPr>
            <a:picLocks noChangeAspect="1"/>
          </p:cNvPicPr>
          <p:nvPr/>
        </p:nvPicPr>
        <p:blipFill>
          <a:blip r:embed="rId3"/>
          <a:stretch>
            <a:fillRect/>
          </a:stretch>
        </p:blipFill>
        <p:spPr>
          <a:xfrm>
            <a:off x="6478524" y="1997964"/>
            <a:ext cx="338328" cy="338328"/>
          </a:xfrm>
          <a:prstGeom prst="rect">
            <a:avLst/>
          </a:prstGeom>
        </p:spPr>
      </p:pic>
      <p:sp>
        <p:nvSpPr>
          <p:cNvPr id="17" name="Text 12"/>
          <p:cNvSpPr/>
          <p:nvPr/>
        </p:nvSpPr>
        <p:spPr>
          <a:xfrm>
            <a:off x="6419088" y="2514600"/>
            <a:ext cx="2286000" cy="365760"/>
          </a:xfrm>
          <a:prstGeom prst="rect">
            <a:avLst/>
          </a:prstGeom>
          <a:noFill/>
          <a:ln/>
        </p:spPr>
        <p:txBody>
          <a:bodyPr wrap="square" lIns="0" tIns="0" rIns="0" bIns="0" rtlCol="0" anchor="ctr"/>
          <a:lstStyle/>
          <a:p>
            <a:pPr indent="0" marL="0">
              <a:buNone/>
            </a:pPr>
            <a:r>
              <a:rPr lang="en-US" sz="1250" b="1" dirty="0">
                <a:solidFill>
                  <a:srgbClr val="16241F"/>
                </a:solidFill>
                <a:latin typeface="Cambria" pitchFamily="34" charset="0"/>
                <a:ea typeface="Cambria" pitchFamily="34" charset="-122"/>
                <a:cs typeface="Cambria" pitchFamily="34" charset="-120"/>
              </a:rPr>
              <a:t>Portal Transition</a:t>
            </a:r>
            <a:endParaRPr lang="en-US" sz="1250" dirty="0"/>
          </a:p>
        </p:txBody>
      </p:sp>
      <p:sp>
        <p:nvSpPr>
          <p:cNvPr id="18" name="Text 13"/>
          <p:cNvSpPr/>
          <p:nvPr/>
        </p:nvSpPr>
        <p:spPr>
          <a:xfrm>
            <a:off x="6419088" y="2880360"/>
            <a:ext cx="2286000" cy="777240"/>
          </a:xfrm>
          <a:prstGeom prst="rect">
            <a:avLst/>
          </a:prstGeom>
          <a:noFill/>
          <a:ln/>
        </p:spPr>
        <p:txBody>
          <a:bodyPr wrap="square" lIns="0" tIns="0" rIns="0" bIns="0" rtlCol="0" anchor="ctr"/>
          <a:lstStyle/>
          <a:p>
            <a:pPr indent="0" marL="0">
              <a:buNone/>
            </a:pPr>
            <a:r>
              <a:rPr lang="en-US" sz="1050" dirty="0">
                <a:solidFill>
                  <a:srgbClr val="5B6E64"/>
                </a:solidFill>
                <a:latin typeface="Calibri" pitchFamily="34" charset="0"/>
                <a:ea typeface="Calibri" pitchFamily="34" charset="-122"/>
                <a:cs typeface="Calibri" pitchFamily="34" charset="-120"/>
              </a:rPr>
              <a:t>Handles trigger detection and spawn-point placement.</a:t>
            </a:r>
            <a:endParaRPr lang="en-US" sz="1050" dirty="0"/>
          </a:p>
        </p:txBody>
      </p:sp>
      <p:sp>
        <p:nvSpPr>
          <p:cNvPr id="19" name="Shape 14"/>
          <p:cNvSpPr/>
          <p:nvPr/>
        </p:nvSpPr>
        <p:spPr>
          <a:xfrm>
            <a:off x="9052560" y="1737360"/>
            <a:ext cx="2651760" cy="1965960"/>
          </a:xfrm>
          <a:prstGeom prst="roundRect">
            <a:avLst>
              <a:gd name="adj" fmla="val 4186"/>
            </a:avLst>
          </a:prstGeom>
          <a:solidFill>
            <a:srgbClr val="FFFFFF"/>
          </a:solidFill>
          <a:ln/>
          <a:effectLst>
            <a:outerShdw sx="100000" sy="100000" kx="0" ky="0" algn="bl" rotWithShape="0" blurRad="101600" dist="38100" dir="2700000">
              <a:srgbClr val="0B2A20">
                <a:alpha val="12000"/>
              </a:srgbClr>
            </a:outerShdw>
          </a:effectLst>
        </p:spPr>
      </p:sp>
      <p:sp>
        <p:nvSpPr>
          <p:cNvPr id="20" name="Shape 15"/>
          <p:cNvSpPr/>
          <p:nvPr/>
        </p:nvSpPr>
        <p:spPr>
          <a:xfrm>
            <a:off x="9253728" y="1938528"/>
            <a:ext cx="457200" cy="45720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21" name="Image 3" descr="preencoded.png">    </p:cNvPr>
          <p:cNvPicPr>
            <a:picLocks noChangeAspect="1"/>
          </p:cNvPicPr>
          <p:nvPr/>
        </p:nvPicPr>
        <p:blipFill>
          <a:blip r:embed="rId4"/>
          <a:stretch>
            <a:fillRect/>
          </a:stretch>
        </p:blipFill>
        <p:spPr>
          <a:xfrm>
            <a:off x="9313164" y="1997964"/>
            <a:ext cx="338328" cy="338328"/>
          </a:xfrm>
          <a:prstGeom prst="rect">
            <a:avLst/>
          </a:prstGeom>
        </p:spPr>
      </p:pic>
      <p:sp>
        <p:nvSpPr>
          <p:cNvPr id="22" name="Text 16"/>
          <p:cNvSpPr/>
          <p:nvPr/>
        </p:nvSpPr>
        <p:spPr>
          <a:xfrm>
            <a:off x="9253728" y="2514600"/>
            <a:ext cx="2286000" cy="365760"/>
          </a:xfrm>
          <a:prstGeom prst="rect">
            <a:avLst/>
          </a:prstGeom>
          <a:noFill/>
          <a:ln/>
        </p:spPr>
        <p:txBody>
          <a:bodyPr wrap="square" lIns="0" tIns="0" rIns="0" bIns="0" rtlCol="0" anchor="ctr"/>
          <a:lstStyle/>
          <a:p>
            <a:pPr indent="0" marL="0">
              <a:buNone/>
            </a:pPr>
            <a:r>
              <a:rPr lang="en-US" sz="1250" b="1" dirty="0">
                <a:solidFill>
                  <a:srgbClr val="16241F"/>
                </a:solidFill>
                <a:latin typeface="Cambria" pitchFamily="34" charset="0"/>
                <a:ea typeface="Cambria" pitchFamily="34" charset="-122"/>
                <a:cs typeface="Cambria" pitchFamily="34" charset="-120"/>
              </a:rPr>
              <a:t>Mission Manager</a:t>
            </a:r>
            <a:endParaRPr lang="en-US" sz="1250" dirty="0"/>
          </a:p>
        </p:txBody>
      </p:sp>
      <p:sp>
        <p:nvSpPr>
          <p:cNvPr id="23" name="Text 17"/>
          <p:cNvSpPr/>
          <p:nvPr/>
        </p:nvSpPr>
        <p:spPr>
          <a:xfrm>
            <a:off x="9253728" y="2880360"/>
            <a:ext cx="2286000" cy="777240"/>
          </a:xfrm>
          <a:prstGeom prst="rect">
            <a:avLst/>
          </a:prstGeom>
          <a:noFill/>
          <a:ln/>
        </p:spPr>
        <p:txBody>
          <a:bodyPr wrap="square" lIns="0" tIns="0" rIns="0" bIns="0" rtlCol="0" anchor="ctr"/>
          <a:lstStyle/>
          <a:p>
            <a:pPr indent="0" marL="0">
              <a:buNone/>
            </a:pPr>
            <a:r>
              <a:rPr lang="en-US" sz="1050" dirty="0">
                <a:solidFill>
                  <a:srgbClr val="5B6E64"/>
                </a:solidFill>
                <a:latin typeface="Calibri" pitchFamily="34" charset="0"/>
                <a:ea typeface="Calibri" pitchFamily="34" charset="-122"/>
                <a:cs typeface="Calibri" pitchFamily="34" charset="-120"/>
              </a:rPr>
              <a:t>Tracks objective progress and updates the HUD.</a:t>
            </a:r>
            <a:endParaRPr lang="en-US" sz="1050" dirty="0"/>
          </a:p>
        </p:txBody>
      </p:sp>
      <p:sp>
        <p:nvSpPr>
          <p:cNvPr id="24" name="Shape 18"/>
          <p:cNvSpPr/>
          <p:nvPr/>
        </p:nvSpPr>
        <p:spPr>
          <a:xfrm>
            <a:off x="548640" y="3886200"/>
            <a:ext cx="2651760" cy="1965960"/>
          </a:xfrm>
          <a:prstGeom prst="roundRect">
            <a:avLst>
              <a:gd name="adj" fmla="val 4186"/>
            </a:avLst>
          </a:prstGeom>
          <a:solidFill>
            <a:srgbClr val="FFFFFF"/>
          </a:solidFill>
          <a:ln/>
          <a:effectLst>
            <a:outerShdw sx="100000" sy="100000" kx="0" ky="0" algn="bl" rotWithShape="0" blurRad="101600" dist="38100" dir="2700000">
              <a:srgbClr val="0B2A20">
                <a:alpha val="12000"/>
              </a:srgbClr>
            </a:outerShdw>
          </a:effectLst>
        </p:spPr>
      </p:sp>
      <p:sp>
        <p:nvSpPr>
          <p:cNvPr id="25" name="Shape 19"/>
          <p:cNvSpPr/>
          <p:nvPr/>
        </p:nvSpPr>
        <p:spPr>
          <a:xfrm>
            <a:off x="749808" y="4087368"/>
            <a:ext cx="457200" cy="45720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26" name="Image 4" descr="preencoded.png">    </p:cNvPr>
          <p:cNvPicPr>
            <a:picLocks noChangeAspect="1"/>
          </p:cNvPicPr>
          <p:nvPr/>
        </p:nvPicPr>
        <p:blipFill>
          <a:blip r:embed="rId5"/>
          <a:stretch>
            <a:fillRect/>
          </a:stretch>
        </p:blipFill>
        <p:spPr>
          <a:xfrm>
            <a:off x="809244" y="4146804"/>
            <a:ext cx="338328" cy="338328"/>
          </a:xfrm>
          <a:prstGeom prst="rect">
            <a:avLst/>
          </a:prstGeom>
        </p:spPr>
      </p:pic>
      <p:sp>
        <p:nvSpPr>
          <p:cNvPr id="27" name="Text 20"/>
          <p:cNvSpPr/>
          <p:nvPr/>
        </p:nvSpPr>
        <p:spPr>
          <a:xfrm>
            <a:off x="749808" y="4663440"/>
            <a:ext cx="2286000" cy="365760"/>
          </a:xfrm>
          <a:prstGeom prst="rect">
            <a:avLst/>
          </a:prstGeom>
          <a:noFill/>
          <a:ln/>
        </p:spPr>
        <p:txBody>
          <a:bodyPr wrap="square" lIns="0" tIns="0" rIns="0" bIns="0" rtlCol="0" anchor="ctr"/>
          <a:lstStyle/>
          <a:p>
            <a:pPr indent="0" marL="0">
              <a:buNone/>
            </a:pPr>
            <a:r>
              <a:rPr lang="en-US" sz="1250" b="1" dirty="0">
                <a:solidFill>
                  <a:srgbClr val="16241F"/>
                </a:solidFill>
                <a:latin typeface="Cambria" pitchFamily="34" charset="0"/>
                <a:ea typeface="Cambria" pitchFamily="34" charset="-122"/>
                <a:cs typeface="Cambria" pitchFamily="34" charset="-120"/>
              </a:rPr>
              <a:t>Story Manager</a:t>
            </a:r>
            <a:endParaRPr lang="en-US" sz="1250" dirty="0"/>
          </a:p>
        </p:txBody>
      </p:sp>
      <p:sp>
        <p:nvSpPr>
          <p:cNvPr id="28" name="Text 21"/>
          <p:cNvSpPr/>
          <p:nvPr/>
        </p:nvSpPr>
        <p:spPr>
          <a:xfrm>
            <a:off x="749808" y="5029200"/>
            <a:ext cx="2286000" cy="777240"/>
          </a:xfrm>
          <a:prstGeom prst="rect">
            <a:avLst/>
          </a:prstGeom>
          <a:noFill/>
          <a:ln/>
        </p:spPr>
        <p:txBody>
          <a:bodyPr wrap="square" lIns="0" tIns="0" rIns="0" bIns="0" rtlCol="0" anchor="ctr"/>
          <a:lstStyle/>
          <a:p>
            <a:pPr indent="0" marL="0">
              <a:buNone/>
            </a:pPr>
            <a:r>
              <a:rPr lang="en-US" sz="1050" dirty="0">
                <a:solidFill>
                  <a:srgbClr val="5B6E64"/>
                </a:solidFill>
                <a:latin typeface="Calibri" pitchFamily="34" charset="0"/>
                <a:ea typeface="Calibri" pitchFamily="34" charset="-122"/>
                <a:cs typeface="Calibri" pitchFamily="34" charset="-120"/>
              </a:rPr>
              <a:t>Drives the blackout → repair → restoration narrative.</a:t>
            </a:r>
            <a:endParaRPr lang="en-US" sz="1050" dirty="0"/>
          </a:p>
        </p:txBody>
      </p:sp>
      <p:sp>
        <p:nvSpPr>
          <p:cNvPr id="29" name="Shape 22"/>
          <p:cNvSpPr/>
          <p:nvPr/>
        </p:nvSpPr>
        <p:spPr>
          <a:xfrm>
            <a:off x="3383280" y="3886200"/>
            <a:ext cx="2651760" cy="1965960"/>
          </a:xfrm>
          <a:prstGeom prst="roundRect">
            <a:avLst>
              <a:gd name="adj" fmla="val 4186"/>
            </a:avLst>
          </a:prstGeom>
          <a:solidFill>
            <a:srgbClr val="FFFFFF"/>
          </a:solidFill>
          <a:ln/>
          <a:effectLst>
            <a:outerShdw sx="100000" sy="100000" kx="0" ky="0" algn="bl" rotWithShape="0" blurRad="101600" dist="38100" dir="2700000">
              <a:srgbClr val="0B2A20">
                <a:alpha val="12000"/>
              </a:srgbClr>
            </a:outerShdw>
          </a:effectLst>
        </p:spPr>
      </p:sp>
      <p:sp>
        <p:nvSpPr>
          <p:cNvPr id="30" name="Shape 23"/>
          <p:cNvSpPr/>
          <p:nvPr/>
        </p:nvSpPr>
        <p:spPr>
          <a:xfrm>
            <a:off x="3584448" y="4087368"/>
            <a:ext cx="457200" cy="45720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31" name="Image 5" descr="preencoded.png">    </p:cNvPr>
          <p:cNvPicPr>
            <a:picLocks noChangeAspect="1"/>
          </p:cNvPicPr>
          <p:nvPr/>
        </p:nvPicPr>
        <p:blipFill>
          <a:blip r:embed="rId6"/>
          <a:stretch>
            <a:fillRect/>
          </a:stretch>
        </p:blipFill>
        <p:spPr>
          <a:xfrm>
            <a:off x="3643884" y="4146804"/>
            <a:ext cx="338328" cy="338328"/>
          </a:xfrm>
          <a:prstGeom prst="rect">
            <a:avLst/>
          </a:prstGeom>
        </p:spPr>
      </p:pic>
      <p:sp>
        <p:nvSpPr>
          <p:cNvPr id="32" name="Text 24"/>
          <p:cNvSpPr/>
          <p:nvPr/>
        </p:nvSpPr>
        <p:spPr>
          <a:xfrm>
            <a:off x="3584448" y="4663440"/>
            <a:ext cx="2286000" cy="365760"/>
          </a:xfrm>
          <a:prstGeom prst="rect">
            <a:avLst/>
          </a:prstGeom>
          <a:noFill/>
          <a:ln/>
        </p:spPr>
        <p:txBody>
          <a:bodyPr wrap="square" lIns="0" tIns="0" rIns="0" bIns="0" rtlCol="0" anchor="ctr"/>
          <a:lstStyle/>
          <a:p>
            <a:pPr indent="0" marL="0">
              <a:buNone/>
            </a:pPr>
            <a:r>
              <a:rPr lang="en-US" sz="1250" b="1" dirty="0">
                <a:solidFill>
                  <a:srgbClr val="16241F"/>
                </a:solidFill>
                <a:latin typeface="Cambria" pitchFamily="34" charset="0"/>
                <a:ea typeface="Cambria" pitchFamily="34" charset="-122"/>
                <a:cs typeface="Cambria" pitchFamily="34" charset="-120"/>
              </a:rPr>
              <a:t>Player Controller</a:t>
            </a:r>
            <a:endParaRPr lang="en-US" sz="1250" dirty="0"/>
          </a:p>
        </p:txBody>
      </p:sp>
      <p:sp>
        <p:nvSpPr>
          <p:cNvPr id="33" name="Text 25"/>
          <p:cNvSpPr/>
          <p:nvPr/>
        </p:nvSpPr>
        <p:spPr>
          <a:xfrm>
            <a:off x="3584448" y="5029200"/>
            <a:ext cx="2286000" cy="777240"/>
          </a:xfrm>
          <a:prstGeom prst="rect">
            <a:avLst/>
          </a:prstGeom>
          <a:noFill/>
          <a:ln/>
        </p:spPr>
        <p:txBody>
          <a:bodyPr wrap="square" lIns="0" tIns="0" rIns="0" bIns="0" rtlCol="0" anchor="ctr"/>
          <a:lstStyle/>
          <a:p>
            <a:pPr indent="0" marL="0">
              <a:buNone/>
            </a:pPr>
            <a:r>
              <a:rPr lang="en-US" sz="1050" dirty="0">
                <a:solidFill>
                  <a:srgbClr val="5B6E64"/>
                </a:solidFill>
                <a:latin typeface="Calibri" pitchFamily="34" charset="0"/>
                <a:ea typeface="Calibri" pitchFamily="34" charset="-122"/>
                <a:cs typeface="Calibri" pitchFamily="34" charset="-120"/>
              </a:rPr>
              <a:t>Third-person movement, camera follow, and input handling.</a:t>
            </a:r>
            <a:endParaRPr lang="en-US" sz="1050" dirty="0"/>
          </a:p>
        </p:txBody>
      </p:sp>
      <p:sp>
        <p:nvSpPr>
          <p:cNvPr id="34" name="Shape 26"/>
          <p:cNvSpPr/>
          <p:nvPr/>
        </p:nvSpPr>
        <p:spPr>
          <a:xfrm>
            <a:off x="6217920" y="3886200"/>
            <a:ext cx="2651760" cy="1965960"/>
          </a:xfrm>
          <a:prstGeom prst="roundRect">
            <a:avLst>
              <a:gd name="adj" fmla="val 4186"/>
            </a:avLst>
          </a:prstGeom>
          <a:solidFill>
            <a:srgbClr val="FFFFFF"/>
          </a:solidFill>
          <a:ln/>
          <a:effectLst>
            <a:outerShdw sx="100000" sy="100000" kx="0" ky="0" algn="bl" rotWithShape="0" blurRad="101600" dist="38100" dir="2700000">
              <a:srgbClr val="0B2A20">
                <a:alpha val="12000"/>
              </a:srgbClr>
            </a:outerShdw>
          </a:effectLst>
        </p:spPr>
      </p:sp>
      <p:sp>
        <p:nvSpPr>
          <p:cNvPr id="35" name="Shape 27"/>
          <p:cNvSpPr/>
          <p:nvPr/>
        </p:nvSpPr>
        <p:spPr>
          <a:xfrm>
            <a:off x="6419088" y="4087368"/>
            <a:ext cx="457200" cy="45720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36" name="Image 6" descr="preencoded.png">    </p:cNvPr>
          <p:cNvPicPr>
            <a:picLocks noChangeAspect="1"/>
          </p:cNvPicPr>
          <p:nvPr/>
        </p:nvPicPr>
        <p:blipFill>
          <a:blip r:embed="rId7"/>
          <a:stretch>
            <a:fillRect/>
          </a:stretch>
        </p:blipFill>
        <p:spPr>
          <a:xfrm>
            <a:off x="6478524" y="4146804"/>
            <a:ext cx="338328" cy="338328"/>
          </a:xfrm>
          <a:prstGeom prst="rect">
            <a:avLst/>
          </a:prstGeom>
        </p:spPr>
      </p:pic>
      <p:sp>
        <p:nvSpPr>
          <p:cNvPr id="37" name="Text 28"/>
          <p:cNvSpPr/>
          <p:nvPr/>
        </p:nvSpPr>
        <p:spPr>
          <a:xfrm>
            <a:off x="6419088" y="4663440"/>
            <a:ext cx="2286000" cy="365760"/>
          </a:xfrm>
          <a:prstGeom prst="rect">
            <a:avLst/>
          </a:prstGeom>
          <a:noFill/>
          <a:ln/>
        </p:spPr>
        <p:txBody>
          <a:bodyPr wrap="square" lIns="0" tIns="0" rIns="0" bIns="0" rtlCol="0" anchor="ctr"/>
          <a:lstStyle/>
          <a:p>
            <a:pPr indent="0" marL="0">
              <a:buNone/>
            </a:pPr>
            <a:r>
              <a:rPr lang="en-US" sz="1250" b="1" dirty="0">
                <a:solidFill>
                  <a:srgbClr val="16241F"/>
                </a:solidFill>
                <a:latin typeface="Cambria" pitchFamily="34" charset="0"/>
                <a:ea typeface="Cambria" pitchFamily="34" charset="-122"/>
                <a:cs typeface="Cambria" pitchFamily="34" charset="-120"/>
              </a:rPr>
              <a:t>Interaction System</a:t>
            </a:r>
            <a:endParaRPr lang="en-US" sz="1250" dirty="0"/>
          </a:p>
        </p:txBody>
      </p:sp>
      <p:sp>
        <p:nvSpPr>
          <p:cNvPr id="38" name="Text 29"/>
          <p:cNvSpPr/>
          <p:nvPr/>
        </p:nvSpPr>
        <p:spPr>
          <a:xfrm>
            <a:off x="6419088" y="5029200"/>
            <a:ext cx="2286000" cy="777240"/>
          </a:xfrm>
          <a:prstGeom prst="rect">
            <a:avLst/>
          </a:prstGeom>
          <a:noFill/>
          <a:ln/>
        </p:spPr>
        <p:txBody>
          <a:bodyPr wrap="square" lIns="0" tIns="0" rIns="0" bIns="0" rtlCol="0" anchor="ctr"/>
          <a:lstStyle/>
          <a:p>
            <a:pPr indent="0" marL="0">
              <a:buNone/>
            </a:pPr>
            <a:r>
              <a:rPr lang="en-US" sz="1050" dirty="0">
                <a:solidFill>
                  <a:srgbClr val="5B6E64"/>
                </a:solidFill>
                <a:latin typeface="Calibri" pitchFamily="34" charset="0"/>
                <a:ea typeface="Calibri" pitchFamily="34" charset="-122"/>
                <a:cs typeface="Calibri" pitchFamily="34" charset="-120"/>
              </a:rPr>
              <a:t>Trigger Colliders + scripts for pickups and repairs.</a:t>
            </a:r>
            <a:endParaRPr lang="en-US" sz="1050" dirty="0"/>
          </a:p>
        </p:txBody>
      </p:sp>
      <p:sp>
        <p:nvSpPr>
          <p:cNvPr id="39" name="Shape 30"/>
          <p:cNvSpPr/>
          <p:nvPr/>
        </p:nvSpPr>
        <p:spPr>
          <a:xfrm>
            <a:off x="9052560" y="3886200"/>
            <a:ext cx="2651760" cy="1965960"/>
          </a:xfrm>
          <a:prstGeom prst="roundRect">
            <a:avLst>
              <a:gd name="adj" fmla="val 4186"/>
            </a:avLst>
          </a:prstGeom>
          <a:solidFill>
            <a:srgbClr val="FFFFFF"/>
          </a:solidFill>
          <a:ln/>
          <a:effectLst>
            <a:outerShdw sx="100000" sy="100000" kx="0" ky="0" algn="bl" rotWithShape="0" blurRad="101600" dist="38100" dir="2700000">
              <a:srgbClr val="0B2A20">
                <a:alpha val="12000"/>
              </a:srgbClr>
            </a:outerShdw>
          </a:effectLst>
        </p:spPr>
      </p:sp>
      <p:sp>
        <p:nvSpPr>
          <p:cNvPr id="40" name="Shape 31"/>
          <p:cNvSpPr/>
          <p:nvPr/>
        </p:nvSpPr>
        <p:spPr>
          <a:xfrm>
            <a:off x="9253728" y="4087368"/>
            <a:ext cx="457200" cy="457200"/>
          </a:xfrm>
          <a:prstGeom prst="ellipse">
            <a:avLst/>
          </a:prstGeom>
          <a:solidFill>
            <a:srgbClr val="2E8B57"/>
          </a:solidFill>
          <a:ln/>
          <a:effectLst>
            <a:outerShdw sx="100000" sy="100000" kx="0" ky="0" algn="bl" rotWithShape="0" blurRad="63500" dist="25400" dir="2700000">
              <a:srgbClr val="0B2A20">
                <a:alpha val="18000"/>
              </a:srgbClr>
            </a:outerShdw>
          </a:effectLst>
        </p:spPr>
      </p:sp>
      <p:pic>
        <p:nvPicPr>
          <p:cNvPr id="41" name="Image 7" descr="preencoded.png">    </p:cNvPr>
          <p:cNvPicPr>
            <a:picLocks noChangeAspect="1"/>
          </p:cNvPicPr>
          <p:nvPr/>
        </p:nvPicPr>
        <p:blipFill>
          <a:blip r:embed="rId8"/>
          <a:stretch>
            <a:fillRect/>
          </a:stretch>
        </p:blipFill>
        <p:spPr>
          <a:xfrm>
            <a:off x="9313164" y="4146804"/>
            <a:ext cx="338328" cy="338328"/>
          </a:xfrm>
          <a:prstGeom prst="rect">
            <a:avLst/>
          </a:prstGeom>
        </p:spPr>
      </p:pic>
      <p:sp>
        <p:nvSpPr>
          <p:cNvPr id="42" name="Text 32"/>
          <p:cNvSpPr/>
          <p:nvPr/>
        </p:nvSpPr>
        <p:spPr>
          <a:xfrm>
            <a:off x="9253728" y="4663440"/>
            <a:ext cx="2286000" cy="365760"/>
          </a:xfrm>
          <a:prstGeom prst="rect">
            <a:avLst/>
          </a:prstGeom>
          <a:noFill/>
          <a:ln/>
        </p:spPr>
        <p:txBody>
          <a:bodyPr wrap="square" lIns="0" tIns="0" rIns="0" bIns="0" rtlCol="0" anchor="ctr"/>
          <a:lstStyle/>
          <a:p>
            <a:pPr indent="0" marL="0">
              <a:buNone/>
            </a:pPr>
            <a:r>
              <a:rPr lang="en-US" sz="1250" b="1" dirty="0">
                <a:solidFill>
                  <a:srgbClr val="16241F"/>
                </a:solidFill>
                <a:latin typeface="Cambria" pitchFamily="34" charset="0"/>
                <a:ea typeface="Cambria" pitchFamily="34" charset="-122"/>
                <a:cs typeface="Cambria" pitchFamily="34" charset="-120"/>
              </a:rPr>
              <a:t>GUI System</a:t>
            </a:r>
            <a:endParaRPr lang="en-US" sz="1250" dirty="0"/>
          </a:p>
        </p:txBody>
      </p:sp>
      <p:sp>
        <p:nvSpPr>
          <p:cNvPr id="43" name="Text 33"/>
          <p:cNvSpPr/>
          <p:nvPr/>
        </p:nvSpPr>
        <p:spPr>
          <a:xfrm>
            <a:off x="9253728" y="5029200"/>
            <a:ext cx="2286000" cy="777240"/>
          </a:xfrm>
          <a:prstGeom prst="rect">
            <a:avLst/>
          </a:prstGeom>
          <a:noFill/>
          <a:ln/>
        </p:spPr>
        <p:txBody>
          <a:bodyPr wrap="square" lIns="0" tIns="0" rIns="0" bIns="0" rtlCol="0" anchor="ctr"/>
          <a:lstStyle/>
          <a:p>
            <a:pPr indent="0" marL="0">
              <a:buNone/>
            </a:pPr>
            <a:r>
              <a:rPr lang="en-US" sz="1050" dirty="0">
                <a:solidFill>
                  <a:srgbClr val="5B6E64"/>
                </a:solidFill>
                <a:latin typeface="Calibri" pitchFamily="34" charset="0"/>
                <a:ea typeface="Calibri" pitchFamily="34" charset="-122"/>
                <a:cs typeface="Calibri" pitchFamily="34" charset="-120"/>
              </a:rPr>
              <a:t>Canvas-based menus, HUD, and end-screen management.</a:t>
            </a:r>
            <a:endParaRPr lang="en-US" sz="1050" dirty="0"/>
          </a:p>
        </p:txBody>
      </p:sp>
      <p:sp>
        <p:nvSpPr>
          <p:cNvPr id="45" name="Text 3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46" name="Text 3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KEY DESIGN DECISIONS</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Style, Story, and Structure</a:t>
            </a:r>
            <a:endParaRPr lang="en-US" sz="3000" dirty="0"/>
          </a:p>
        </p:txBody>
      </p:sp>
      <p:sp>
        <p:nvSpPr>
          <p:cNvPr id="4" name="Shape 2"/>
          <p:cNvSpPr/>
          <p:nvPr/>
        </p:nvSpPr>
        <p:spPr>
          <a:xfrm>
            <a:off x="548640" y="1737360"/>
            <a:ext cx="5349240" cy="4297680"/>
          </a:xfrm>
          <a:prstGeom prst="roundRect">
            <a:avLst>
              <a:gd name="adj" fmla="val 1915"/>
            </a:avLst>
          </a:prstGeom>
          <a:solidFill>
            <a:srgbClr val="FFFFFF"/>
          </a:solidFill>
          <a:ln/>
          <a:effectLst>
            <a:outerShdw sx="100000" sy="100000" kx="0" ky="0" algn="bl" rotWithShape="0" blurRad="101600" dist="38100" dir="2700000">
              <a:srgbClr val="0B2A20">
                <a:alpha val="12000"/>
              </a:srgbClr>
            </a:outerShdw>
          </a:effectLst>
        </p:spPr>
      </p:sp>
      <p:sp>
        <p:nvSpPr>
          <p:cNvPr id="5" name="Text 3"/>
          <p:cNvSpPr/>
          <p:nvPr/>
        </p:nvSpPr>
        <p:spPr>
          <a:xfrm>
            <a:off x="822960" y="1920240"/>
            <a:ext cx="3657600" cy="274320"/>
          </a:xfrm>
          <a:prstGeom prst="rect">
            <a:avLst/>
          </a:prstGeom>
          <a:noFill/>
          <a:ln/>
        </p:spPr>
        <p:txBody>
          <a:bodyPr wrap="square" lIns="0" tIns="0" rIns="0" bIns="0" rtlCol="0" anchor="ctr"/>
          <a:lstStyle/>
          <a:p>
            <a:pPr indent="0" marL="0">
              <a:buNone/>
            </a:pPr>
            <a:r>
              <a:rPr lang="en-US" sz="1100" b="1" spc="200" kern="0" dirty="0">
                <a:solidFill>
                  <a:srgbClr val="2E8B57"/>
                </a:solidFill>
                <a:latin typeface="Calibri" pitchFamily="34" charset="0"/>
                <a:ea typeface="Calibri" pitchFamily="34" charset="-122"/>
                <a:cs typeface="Calibri" pitchFamily="34" charset="-120"/>
              </a:rPr>
              <a:t>ART STYLE</a:t>
            </a:r>
            <a:endParaRPr lang="en-US" sz="1100" dirty="0"/>
          </a:p>
        </p:txBody>
      </p:sp>
      <p:sp>
        <p:nvSpPr>
          <p:cNvPr id="6" name="Text 4"/>
          <p:cNvSpPr/>
          <p:nvPr/>
        </p:nvSpPr>
        <p:spPr>
          <a:xfrm>
            <a:off x="822960" y="2240280"/>
            <a:ext cx="4754880" cy="1828800"/>
          </a:xfrm>
          <a:prstGeom prst="rect">
            <a:avLst/>
          </a:prstGeom>
          <a:noFill/>
          <a:ln/>
        </p:spPr>
        <p:txBody>
          <a:bodyPr wrap="square" lIns="0" tIns="0" rIns="0" bIns="0" rtlCol="0" anchor="t"/>
          <a:lstStyle/>
          <a:p>
            <a:pPr marL="228600" indent="-228600">
              <a:lnSpc>
                <a:spcPct val="108000"/>
              </a:lnSpc>
              <a:spcAft>
                <a:spcPts val="1200"/>
              </a:spcAft>
              <a:buSzPct val="100000"/>
              <a:buChar char="●"/>
            </a:pPr>
            <a:r>
              <a:rPr lang="en-US" sz="1350" dirty="0">
                <a:solidFill>
                  <a:srgbClr val="16241F"/>
                </a:solidFill>
                <a:latin typeface="Calibri" pitchFamily="34" charset="0"/>
                <a:ea typeface="Calibri" pitchFamily="34" charset="-122"/>
                <a:cs typeface="Calibri" pitchFamily="34" charset="-120"/>
              </a:rPr>
              <a:t>Low-poly modelling for clean performance and a friendly look</a:t>
            </a:r>
            <a:endParaRPr lang="en-US" sz="1350" dirty="0"/>
          </a:p>
          <a:p>
            <a:pPr marL="228600" indent="-228600">
              <a:lnSpc>
                <a:spcPct val="108000"/>
              </a:lnSpc>
              <a:spcAft>
                <a:spcPts val="1200"/>
              </a:spcAft>
              <a:buSzPct val="100000"/>
              <a:buChar char="●"/>
            </a:pPr>
            <a:r>
              <a:rPr lang="en-US" sz="1350" dirty="0">
                <a:solidFill>
                  <a:srgbClr val="16241F"/>
                </a:solidFill>
                <a:latin typeface="Calibri" pitchFamily="34" charset="0"/>
                <a:ea typeface="Calibri" pitchFamily="34" charset="-122"/>
                <a:cs typeface="Calibri" pitchFamily="34" charset="-120"/>
              </a:rPr>
              <a:t>Bright, modern colour palette suited to a smart-home setting</a:t>
            </a:r>
            <a:endParaRPr lang="en-US" sz="1350" dirty="0"/>
          </a:p>
          <a:p>
            <a:pPr marL="228600" indent="-228600">
              <a:lnSpc>
                <a:spcPct val="108000"/>
              </a:lnSpc>
              <a:spcAft>
                <a:spcPts val="1200"/>
              </a:spcAft>
              <a:buSzPct val="100000"/>
              <a:buChar char="●"/>
            </a:pPr>
            <a:r>
              <a:rPr lang="en-US" sz="1350" dirty="0">
                <a:solidFill>
                  <a:srgbClr val="16241F"/>
                </a:solidFill>
                <a:latin typeface="Calibri" pitchFamily="34" charset="0"/>
                <a:ea typeface="Calibri" pitchFamily="34" charset="-122"/>
                <a:cs typeface="Calibri" pitchFamily="34" charset="-120"/>
              </a:rPr>
              <a:t>Green energy visual theme reinforced through lighting and materials</a:t>
            </a:r>
            <a:endParaRPr lang="en-US" sz="1350" dirty="0"/>
          </a:p>
        </p:txBody>
      </p:sp>
      <p:sp>
        <p:nvSpPr>
          <p:cNvPr id="7" name="Shape 5"/>
          <p:cNvSpPr/>
          <p:nvPr/>
        </p:nvSpPr>
        <p:spPr>
          <a:xfrm>
            <a:off x="822960" y="4160520"/>
            <a:ext cx="4800600" cy="0"/>
          </a:xfrm>
          <a:prstGeom prst="line">
            <a:avLst/>
          </a:prstGeom>
          <a:noFill/>
          <a:ln w="12700">
            <a:solidFill>
              <a:srgbClr val="E2ECE4"/>
            </a:solidFill>
            <a:prstDash val="solid"/>
          </a:ln>
        </p:spPr>
      </p:sp>
      <p:sp>
        <p:nvSpPr>
          <p:cNvPr id="8" name="Text 6"/>
          <p:cNvSpPr/>
          <p:nvPr/>
        </p:nvSpPr>
        <p:spPr>
          <a:xfrm>
            <a:off x="822960" y="4297680"/>
            <a:ext cx="3657600" cy="274320"/>
          </a:xfrm>
          <a:prstGeom prst="rect">
            <a:avLst/>
          </a:prstGeom>
          <a:noFill/>
          <a:ln/>
        </p:spPr>
        <p:txBody>
          <a:bodyPr wrap="square" lIns="0" tIns="0" rIns="0" bIns="0" rtlCol="0" anchor="ctr"/>
          <a:lstStyle/>
          <a:p>
            <a:pPr indent="0" marL="0">
              <a:buNone/>
            </a:pPr>
            <a:r>
              <a:rPr lang="en-US" sz="1100" b="1" spc="200" kern="0" dirty="0">
                <a:solidFill>
                  <a:srgbClr val="2E8B57"/>
                </a:solidFill>
                <a:latin typeface="Calibri" pitchFamily="34" charset="0"/>
                <a:ea typeface="Calibri" pitchFamily="34" charset="-122"/>
                <a:cs typeface="Calibri" pitchFamily="34" charset="-120"/>
              </a:rPr>
              <a:t>STORYTELLING</a:t>
            </a:r>
            <a:endParaRPr lang="en-US" sz="1100" dirty="0"/>
          </a:p>
        </p:txBody>
      </p:sp>
      <p:sp>
        <p:nvSpPr>
          <p:cNvPr id="9" name="Text 7"/>
          <p:cNvSpPr/>
          <p:nvPr/>
        </p:nvSpPr>
        <p:spPr>
          <a:xfrm>
            <a:off x="822960" y="4617720"/>
            <a:ext cx="4754880" cy="1280160"/>
          </a:xfrm>
          <a:prstGeom prst="rect">
            <a:avLst/>
          </a:prstGeom>
          <a:noFill/>
          <a:ln/>
        </p:spPr>
        <p:txBody>
          <a:bodyPr wrap="square" lIns="0" tIns="0" rIns="0" bIns="0" rtlCol="0" anchor="t"/>
          <a:lstStyle/>
          <a:p>
            <a:pPr marL="228600" indent="-228600">
              <a:lnSpc>
                <a:spcPct val="108000"/>
              </a:lnSpc>
              <a:spcAft>
                <a:spcPts val="1200"/>
              </a:spcAft>
              <a:buSzPct val="100000"/>
              <a:buChar char="●"/>
            </a:pPr>
            <a:r>
              <a:rPr lang="en-US" sz="1350" dirty="0">
                <a:solidFill>
                  <a:srgbClr val="16241F"/>
                </a:solidFill>
                <a:latin typeface="Calibri" pitchFamily="34" charset="0"/>
                <a:ea typeface="Calibri" pitchFamily="34" charset="-122"/>
                <a:cs typeface="Calibri" pitchFamily="34" charset="-120"/>
              </a:rPr>
              <a:t>Mission-based progression gives the player a clear sense of purpose</a:t>
            </a:r>
            <a:endParaRPr lang="en-US" sz="1350" dirty="0"/>
          </a:p>
          <a:p>
            <a:pPr marL="228600" indent="-228600">
              <a:lnSpc>
                <a:spcPct val="108000"/>
              </a:lnSpc>
              <a:spcAft>
                <a:spcPts val="1200"/>
              </a:spcAft>
              <a:buSzPct val="100000"/>
              <a:buChar char="●"/>
            </a:pPr>
            <a:r>
              <a:rPr lang="en-US" sz="1350" dirty="0">
                <a:solidFill>
                  <a:srgbClr val="16241F"/>
                </a:solidFill>
                <a:latin typeface="Calibri" pitchFamily="34" charset="0"/>
                <a:ea typeface="Calibri" pitchFamily="34" charset="-122"/>
                <a:cs typeface="Calibri" pitchFamily="34" charset="-120"/>
              </a:rPr>
              <a:t>Player must restore electricity before the house becomes functional</a:t>
            </a:r>
            <a:endParaRPr lang="en-US" sz="1350" dirty="0"/>
          </a:p>
        </p:txBody>
      </p:sp>
      <p:sp>
        <p:nvSpPr>
          <p:cNvPr id="10" name="Shape 8"/>
          <p:cNvSpPr/>
          <p:nvPr/>
        </p:nvSpPr>
        <p:spPr>
          <a:xfrm>
            <a:off x="6126480" y="1737360"/>
            <a:ext cx="5532120" cy="4297680"/>
          </a:xfrm>
          <a:prstGeom prst="roundRect">
            <a:avLst>
              <a:gd name="adj" fmla="val 1915"/>
            </a:avLst>
          </a:prstGeom>
          <a:solidFill>
            <a:srgbClr val="134D3B"/>
          </a:solidFill>
          <a:ln/>
          <a:effectLst>
            <a:outerShdw sx="100000" sy="100000" kx="0" ky="0" algn="bl" rotWithShape="0" blurRad="101600" dist="38100" dir="2700000">
              <a:srgbClr val="0B2A20">
                <a:alpha val="12000"/>
              </a:srgbClr>
            </a:outerShdw>
          </a:effectLst>
        </p:spPr>
      </p:sp>
      <p:sp>
        <p:nvSpPr>
          <p:cNvPr id="11" name="Shape 9"/>
          <p:cNvSpPr/>
          <p:nvPr/>
        </p:nvSpPr>
        <p:spPr>
          <a:xfrm>
            <a:off x="6355080" y="1920240"/>
            <a:ext cx="502920" cy="50292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2" name="Image 0" descr="preencoded.png">    </p:cNvPr>
          <p:cNvPicPr>
            <a:picLocks noChangeAspect="1"/>
          </p:cNvPicPr>
          <p:nvPr/>
        </p:nvPicPr>
        <p:blipFill>
          <a:blip r:embed="rId1"/>
          <a:stretch>
            <a:fillRect/>
          </a:stretch>
        </p:blipFill>
        <p:spPr>
          <a:xfrm>
            <a:off x="6420460" y="1985620"/>
            <a:ext cx="372161" cy="372161"/>
          </a:xfrm>
          <a:prstGeom prst="rect">
            <a:avLst/>
          </a:prstGeom>
        </p:spPr>
      </p:pic>
      <p:sp>
        <p:nvSpPr>
          <p:cNvPr id="13" name="Text 10"/>
          <p:cNvSpPr/>
          <p:nvPr/>
        </p:nvSpPr>
        <p:spPr>
          <a:xfrm>
            <a:off x="6995160" y="1965960"/>
            <a:ext cx="4480560" cy="411480"/>
          </a:xfrm>
          <a:prstGeom prst="rect">
            <a:avLst/>
          </a:prstGeom>
          <a:noFill/>
          <a:ln/>
        </p:spPr>
        <p:txBody>
          <a:bodyPr wrap="square" lIns="0" tIns="0" rIns="0" bIns="0" rtlCol="0" anchor="ctr"/>
          <a:lstStyle/>
          <a:p>
            <a:pPr indent="0" marL="0">
              <a:buNone/>
            </a:pPr>
            <a:r>
              <a:rPr lang="en-US" sz="1200" b="1" spc="100" kern="0" dirty="0">
                <a:solidFill>
                  <a:srgbClr val="F2A93B"/>
                </a:solidFill>
                <a:latin typeface="Calibri" pitchFamily="34" charset="0"/>
                <a:ea typeface="Calibri" pitchFamily="34" charset="-122"/>
                <a:cs typeface="Calibri" pitchFamily="34" charset="-120"/>
              </a:rPr>
              <a:t>WHY THESE CHOICES?</a:t>
            </a:r>
            <a:endParaRPr lang="en-US" sz="1200" dirty="0"/>
          </a:p>
        </p:txBody>
      </p:sp>
      <p:sp>
        <p:nvSpPr>
          <p:cNvPr id="14" name="Text 11"/>
          <p:cNvSpPr/>
          <p:nvPr/>
        </p:nvSpPr>
        <p:spPr>
          <a:xfrm>
            <a:off x="6355080" y="2606040"/>
            <a:ext cx="5029200" cy="3291840"/>
          </a:xfrm>
          <a:prstGeom prst="rect">
            <a:avLst/>
          </a:prstGeom>
          <a:noFill/>
          <a:ln/>
        </p:spPr>
        <p:txBody>
          <a:bodyPr wrap="square" lIns="0" tIns="0" rIns="0" bIns="0" rtlCol="0" anchor="t"/>
          <a:lstStyle/>
          <a:p>
            <a:pPr marL="228600" indent="-228600">
              <a:lnSpc>
                <a:spcPct val="108000"/>
              </a:lnSpc>
              <a:spcAft>
                <a:spcPts val="1300"/>
              </a:spcAft>
              <a:buSzPct val="100000"/>
              <a:buChar char="●"/>
            </a:pPr>
            <a:r>
              <a:rPr lang="en-US" sz="1300" dirty="0">
                <a:solidFill>
                  <a:srgbClr val="E8F5EF"/>
                </a:solidFill>
                <a:latin typeface="Calibri" pitchFamily="34" charset="0"/>
                <a:ea typeface="Calibri" pitchFamily="34" charset="-122"/>
                <a:cs typeface="Calibri" pitchFamily="34" charset="-120"/>
              </a:rPr>
              <a:t>Low-poly keeps frame rates smooth for a comfortable VR-style experience</a:t>
            </a:r>
            <a:endParaRPr lang="en-US" sz="1300" dirty="0"/>
          </a:p>
          <a:p>
            <a:pPr marL="228600" indent="-228600">
              <a:lnSpc>
                <a:spcPct val="108000"/>
              </a:lnSpc>
              <a:spcAft>
                <a:spcPts val="1300"/>
              </a:spcAft>
              <a:buSzPct val="100000"/>
              <a:buChar char="●"/>
            </a:pPr>
            <a:r>
              <a:rPr lang="en-US" sz="1300" dirty="0">
                <a:solidFill>
                  <a:srgbClr val="E8F5EF"/>
                </a:solidFill>
                <a:latin typeface="Calibri" pitchFamily="34" charset="0"/>
                <a:ea typeface="Calibri" pitchFamily="34" charset="-122"/>
                <a:cs typeface="Calibri" pitchFamily="34" charset="-120"/>
              </a:rPr>
              <a:t>A bright palette avoids visual fatigue during exploration</a:t>
            </a:r>
            <a:endParaRPr lang="en-US" sz="1300" dirty="0"/>
          </a:p>
          <a:p>
            <a:pPr marL="228600" indent="-228600">
              <a:lnSpc>
                <a:spcPct val="108000"/>
              </a:lnSpc>
              <a:spcAft>
                <a:spcPts val="1300"/>
              </a:spcAft>
              <a:buSzPct val="100000"/>
              <a:buChar char="●"/>
            </a:pPr>
            <a:r>
              <a:rPr lang="en-US" sz="1300" dirty="0">
                <a:solidFill>
                  <a:srgbClr val="E8F5EF"/>
                </a:solidFill>
                <a:latin typeface="Calibri" pitchFamily="34" charset="0"/>
                <a:ea typeface="Calibri" pitchFamily="34" charset="-122"/>
                <a:cs typeface="Calibri" pitchFamily="34" charset="-120"/>
              </a:rPr>
              <a:t>Restoring power gates progression, so every task feels meaningful</a:t>
            </a:r>
            <a:endParaRPr lang="en-US" sz="1300" dirty="0"/>
          </a:p>
          <a:p>
            <a:pPr marL="228600" indent="-228600">
              <a:lnSpc>
                <a:spcPct val="108000"/>
              </a:lnSpc>
              <a:spcAft>
                <a:spcPts val="1300"/>
              </a:spcAft>
              <a:buSzPct val="100000"/>
              <a:buChar char="●"/>
            </a:pPr>
            <a:r>
              <a:rPr lang="en-US" sz="1300" dirty="0">
                <a:solidFill>
                  <a:srgbClr val="E8F5EF"/>
                </a:solidFill>
                <a:latin typeface="Calibri" pitchFamily="34" charset="0"/>
                <a:ea typeface="Calibri" pitchFamily="34" charset="-122"/>
                <a:cs typeface="Calibri" pitchFamily="34" charset="-120"/>
              </a:rPr>
              <a:t>The blackout premise creates instant stakes without lengthy exposition</a:t>
            </a:r>
            <a:endParaRPr lang="en-US" sz="1300" dirty="0"/>
          </a:p>
          <a:p>
            <a:pPr marL="228600" indent="-228600">
              <a:lnSpc>
                <a:spcPct val="108000"/>
              </a:lnSpc>
              <a:spcAft>
                <a:spcPts val="1300"/>
              </a:spcAft>
              <a:buSzPct val="100000"/>
              <a:buChar char="●"/>
            </a:pPr>
            <a:r>
              <a:rPr lang="en-US" sz="1300" dirty="0">
                <a:solidFill>
                  <a:srgbClr val="E8F5EF"/>
                </a:solidFill>
                <a:latin typeface="Calibri" pitchFamily="34" charset="0"/>
                <a:ea typeface="Calibri" pitchFamily="34" charset="-122"/>
                <a:cs typeface="Calibri" pitchFamily="34" charset="-120"/>
              </a:rPr>
              <a:t>Two contrasting environments (indoor/outdoor) keep the experience varied</a:t>
            </a:r>
            <a:endParaRPr lang="en-US" sz="1300" dirty="0"/>
          </a:p>
        </p:txBody>
      </p:sp>
      <p:sp>
        <p:nvSpPr>
          <p:cNvPr id="16" name="Text 1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17"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CHALLENGES &amp; SOLUTIONS</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Problems We Solved Along the Way</a:t>
            </a:r>
            <a:endParaRPr lang="en-US" sz="3000" dirty="0"/>
          </a:p>
        </p:txBody>
      </p:sp>
      <p:sp>
        <p:nvSpPr>
          <p:cNvPr id="4" name="Shape 2"/>
          <p:cNvSpPr/>
          <p:nvPr/>
        </p:nvSpPr>
        <p:spPr>
          <a:xfrm>
            <a:off x="548640" y="1737360"/>
            <a:ext cx="11109960" cy="1051560"/>
          </a:xfrm>
          <a:prstGeom prst="roundRect">
            <a:avLst>
              <a:gd name="adj" fmla="val 7826"/>
            </a:avLst>
          </a:prstGeom>
          <a:solidFill>
            <a:srgbClr val="FFFFFF"/>
          </a:solidFill>
          <a:ln/>
          <a:effectLst>
            <a:outerShdw sx="100000" sy="100000" kx="0" ky="0" algn="bl" rotWithShape="0" blurRad="101600" dist="38100" dir="2700000">
              <a:srgbClr val="0B2A20">
                <a:alpha val="12000"/>
              </a:srgbClr>
            </a:outerShdw>
          </a:effectLst>
        </p:spPr>
      </p:sp>
      <p:sp>
        <p:nvSpPr>
          <p:cNvPr id="5" name="Shape 3"/>
          <p:cNvSpPr/>
          <p:nvPr/>
        </p:nvSpPr>
        <p:spPr>
          <a:xfrm>
            <a:off x="777240" y="1920240"/>
            <a:ext cx="658368" cy="658368"/>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6" name="Image 0" descr="preencoded.png">    </p:cNvPr>
          <p:cNvPicPr>
            <a:picLocks noChangeAspect="1"/>
          </p:cNvPicPr>
          <p:nvPr/>
        </p:nvPicPr>
        <p:blipFill>
          <a:blip r:embed="rId1"/>
          <a:stretch>
            <a:fillRect/>
          </a:stretch>
        </p:blipFill>
        <p:spPr>
          <a:xfrm>
            <a:off x="862828" y="2005828"/>
            <a:ext cx="487192" cy="487192"/>
          </a:xfrm>
          <a:prstGeom prst="rect">
            <a:avLst/>
          </a:prstGeom>
        </p:spPr>
      </p:pic>
      <p:sp>
        <p:nvSpPr>
          <p:cNvPr id="7" name="Text 4"/>
          <p:cNvSpPr/>
          <p:nvPr/>
        </p:nvSpPr>
        <p:spPr>
          <a:xfrm>
            <a:off x="1645920" y="1856232"/>
            <a:ext cx="2926080" cy="82296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Lighting Issues</a:t>
            </a:r>
            <a:endParaRPr lang="en-US" sz="1500" dirty="0"/>
          </a:p>
        </p:txBody>
      </p:sp>
      <p:sp>
        <p:nvSpPr>
          <p:cNvPr id="8" name="Shape 5"/>
          <p:cNvSpPr/>
          <p:nvPr/>
        </p:nvSpPr>
        <p:spPr>
          <a:xfrm>
            <a:off x="4709160" y="1901952"/>
            <a:ext cx="0" cy="731520"/>
          </a:xfrm>
          <a:prstGeom prst="line">
            <a:avLst/>
          </a:prstGeom>
          <a:noFill/>
          <a:ln w="12700">
            <a:solidFill>
              <a:srgbClr val="E2ECE4"/>
            </a:solidFill>
            <a:prstDash val="solid"/>
          </a:ln>
        </p:spPr>
      </p:sp>
      <p:sp>
        <p:nvSpPr>
          <p:cNvPr id="9" name="Text 6"/>
          <p:cNvSpPr/>
          <p:nvPr/>
        </p:nvSpPr>
        <p:spPr>
          <a:xfrm>
            <a:off x="4983480" y="1856232"/>
            <a:ext cx="6446520" cy="822960"/>
          </a:xfrm>
          <a:prstGeom prst="rect">
            <a:avLst/>
          </a:prstGeom>
          <a:noFill/>
          <a:ln/>
        </p:spPr>
        <p:txBody>
          <a:bodyPr wrap="square" lIns="0" tIns="0" rIns="0" bIns="0" rtlCol="0" anchor="ctr"/>
          <a:lstStyle/>
          <a:p>
            <a:pPr indent="0" marL="0">
              <a:buNone/>
            </a:pPr>
            <a:r>
              <a:rPr lang="en-US" sz="1300" b="1" dirty="0">
                <a:solidFill>
                  <a:srgbClr val="2E8B57"/>
                </a:solidFill>
                <a:latin typeface="Calibri" pitchFamily="34" charset="0"/>
                <a:ea typeface="Calibri" pitchFamily="34" charset="-122"/>
                <a:cs typeface="Calibri" pitchFamily="34" charset="-120"/>
              </a:rPr>
              <a:t>Solution:  </a:t>
            </a:r>
            <a:pPr indent="0" marL="0">
              <a:buNone/>
            </a:pPr>
            <a:r>
              <a:rPr lang="en-US" sz="1300" dirty="0">
                <a:solidFill>
                  <a:srgbClr val="5B6E64"/>
                </a:solidFill>
                <a:latin typeface="Calibri" pitchFamily="34" charset="0"/>
                <a:ea typeface="Calibri" pitchFamily="34" charset="-122"/>
                <a:cs typeface="Calibri" pitchFamily="34" charset="-120"/>
              </a:rPr>
              <a:t>Adjusted Environment Lighting, Skybox settings, and regenerated Lighting data.</a:t>
            </a:r>
            <a:endParaRPr lang="en-US" sz="1300" dirty="0"/>
          </a:p>
        </p:txBody>
      </p:sp>
      <p:sp>
        <p:nvSpPr>
          <p:cNvPr id="10" name="Shape 7"/>
          <p:cNvSpPr/>
          <p:nvPr/>
        </p:nvSpPr>
        <p:spPr>
          <a:xfrm>
            <a:off x="548640" y="2926080"/>
            <a:ext cx="11109960" cy="1051560"/>
          </a:xfrm>
          <a:prstGeom prst="roundRect">
            <a:avLst>
              <a:gd name="adj" fmla="val 7826"/>
            </a:avLst>
          </a:prstGeom>
          <a:solidFill>
            <a:srgbClr val="FFFFFF"/>
          </a:solidFill>
          <a:ln/>
          <a:effectLst>
            <a:outerShdw sx="100000" sy="100000" kx="0" ky="0" algn="bl" rotWithShape="0" blurRad="101600" dist="38100" dir="2700000">
              <a:srgbClr val="0B2A20">
                <a:alpha val="12000"/>
              </a:srgbClr>
            </a:outerShdw>
          </a:effectLst>
        </p:spPr>
      </p:sp>
      <p:sp>
        <p:nvSpPr>
          <p:cNvPr id="11" name="Shape 8"/>
          <p:cNvSpPr/>
          <p:nvPr/>
        </p:nvSpPr>
        <p:spPr>
          <a:xfrm>
            <a:off x="777240" y="3108960"/>
            <a:ext cx="658368" cy="658368"/>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2" name="Image 1" descr="preencoded.png">    </p:cNvPr>
          <p:cNvPicPr>
            <a:picLocks noChangeAspect="1"/>
          </p:cNvPicPr>
          <p:nvPr/>
        </p:nvPicPr>
        <p:blipFill>
          <a:blip r:embed="rId2"/>
          <a:stretch>
            <a:fillRect/>
          </a:stretch>
        </p:blipFill>
        <p:spPr>
          <a:xfrm>
            <a:off x="862828" y="3194548"/>
            <a:ext cx="487192" cy="487192"/>
          </a:xfrm>
          <a:prstGeom prst="rect">
            <a:avLst/>
          </a:prstGeom>
        </p:spPr>
      </p:pic>
      <p:sp>
        <p:nvSpPr>
          <p:cNvPr id="13" name="Text 9"/>
          <p:cNvSpPr/>
          <p:nvPr/>
        </p:nvSpPr>
        <p:spPr>
          <a:xfrm>
            <a:off x="1645920" y="3044952"/>
            <a:ext cx="2926080" cy="82296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Portal Transition</a:t>
            </a:r>
            <a:endParaRPr lang="en-US" sz="1500" dirty="0"/>
          </a:p>
        </p:txBody>
      </p:sp>
      <p:sp>
        <p:nvSpPr>
          <p:cNvPr id="14" name="Shape 10"/>
          <p:cNvSpPr/>
          <p:nvPr/>
        </p:nvSpPr>
        <p:spPr>
          <a:xfrm>
            <a:off x="4709160" y="3090672"/>
            <a:ext cx="0" cy="731520"/>
          </a:xfrm>
          <a:prstGeom prst="line">
            <a:avLst/>
          </a:prstGeom>
          <a:noFill/>
          <a:ln w="12700">
            <a:solidFill>
              <a:srgbClr val="E2ECE4"/>
            </a:solidFill>
            <a:prstDash val="solid"/>
          </a:ln>
        </p:spPr>
      </p:sp>
      <p:sp>
        <p:nvSpPr>
          <p:cNvPr id="15" name="Text 11"/>
          <p:cNvSpPr/>
          <p:nvPr/>
        </p:nvSpPr>
        <p:spPr>
          <a:xfrm>
            <a:off x="4983480" y="3044952"/>
            <a:ext cx="6446520" cy="822960"/>
          </a:xfrm>
          <a:prstGeom prst="rect">
            <a:avLst/>
          </a:prstGeom>
          <a:noFill/>
          <a:ln/>
        </p:spPr>
        <p:txBody>
          <a:bodyPr wrap="square" lIns="0" tIns="0" rIns="0" bIns="0" rtlCol="0" anchor="ctr"/>
          <a:lstStyle/>
          <a:p>
            <a:pPr indent="0" marL="0">
              <a:buNone/>
            </a:pPr>
            <a:r>
              <a:rPr lang="en-US" sz="1300" b="1" dirty="0">
                <a:solidFill>
                  <a:srgbClr val="2E8B57"/>
                </a:solidFill>
                <a:latin typeface="Calibri" pitchFamily="34" charset="0"/>
                <a:ea typeface="Calibri" pitchFamily="34" charset="-122"/>
                <a:cs typeface="Calibri" pitchFamily="34" charset="-120"/>
              </a:rPr>
              <a:t>Solution:  </a:t>
            </a:r>
            <a:pPr indent="0" marL="0">
              <a:buNone/>
            </a:pPr>
            <a:r>
              <a:rPr lang="en-US" sz="1300" dirty="0">
                <a:solidFill>
                  <a:srgbClr val="5B6E64"/>
                </a:solidFill>
                <a:latin typeface="Calibri" pitchFamily="34" charset="0"/>
                <a:ea typeface="Calibri" pitchFamily="34" charset="-122"/>
                <a:cs typeface="Calibri" pitchFamily="34" charset="-120"/>
              </a:rPr>
              <a:t>Configured correct spawn points together with Scene Management.</a:t>
            </a:r>
            <a:endParaRPr lang="en-US" sz="1300" dirty="0"/>
          </a:p>
        </p:txBody>
      </p:sp>
      <p:sp>
        <p:nvSpPr>
          <p:cNvPr id="16" name="Shape 12"/>
          <p:cNvSpPr/>
          <p:nvPr/>
        </p:nvSpPr>
        <p:spPr>
          <a:xfrm>
            <a:off x="548640" y="4114800"/>
            <a:ext cx="11109960" cy="1051560"/>
          </a:xfrm>
          <a:prstGeom prst="roundRect">
            <a:avLst>
              <a:gd name="adj" fmla="val 7826"/>
            </a:avLst>
          </a:prstGeom>
          <a:solidFill>
            <a:srgbClr val="FFFFFF"/>
          </a:solidFill>
          <a:ln/>
          <a:effectLst>
            <a:outerShdw sx="100000" sy="100000" kx="0" ky="0" algn="bl" rotWithShape="0" blurRad="101600" dist="38100" dir="2700000">
              <a:srgbClr val="0B2A20">
                <a:alpha val="12000"/>
              </a:srgbClr>
            </a:outerShdw>
          </a:effectLst>
        </p:spPr>
      </p:sp>
      <p:sp>
        <p:nvSpPr>
          <p:cNvPr id="17" name="Shape 13"/>
          <p:cNvSpPr/>
          <p:nvPr/>
        </p:nvSpPr>
        <p:spPr>
          <a:xfrm>
            <a:off x="777240" y="4297680"/>
            <a:ext cx="658368" cy="658368"/>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8" name="Image 2" descr="preencoded.png">    </p:cNvPr>
          <p:cNvPicPr>
            <a:picLocks noChangeAspect="1"/>
          </p:cNvPicPr>
          <p:nvPr/>
        </p:nvPicPr>
        <p:blipFill>
          <a:blip r:embed="rId3"/>
          <a:stretch>
            <a:fillRect/>
          </a:stretch>
        </p:blipFill>
        <p:spPr>
          <a:xfrm>
            <a:off x="862828" y="4383268"/>
            <a:ext cx="487192" cy="487192"/>
          </a:xfrm>
          <a:prstGeom prst="rect">
            <a:avLst/>
          </a:prstGeom>
        </p:spPr>
      </p:pic>
      <p:sp>
        <p:nvSpPr>
          <p:cNvPr id="19" name="Text 14"/>
          <p:cNvSpPr/>
          <p:nvPr/>
        </p:nvSpPr>
        <p:spPr>
          <a:xfrm>
            <a:off x="1645920" y="4233672"/>
            <a:ext cx="2926080" cy="82296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Mission Tracking</a:t>
            </a:r>
            <a:endParaRPr lang="en-US" sz="1500" dirty="0"/>
          </a:p>
        </p:txBody>
      </p:sp>
      <p:sp>
        <p:nvSpPr>
          <p:cNvPr id="20" name="Shape 15"/>
          <p:cNvSpPr/>
          <p:nvPr/>
        </p:nvSpPr>
        <p:spPr>
          <a:xfrm>
            <a:off x="4709160" y="4279392"/>
            <a:ext cx="0" cy="731520"/>
          </a:xfrm>
          <a:prstGeom prst="line">
            <a:avLst/>
          </a:prstGeom>
          <a:noFill/>
          <a:ln w="12700">
            <a:solidFill>
              <a:srgbClr val="E2ECE4"/>
            </a:solidFill>
            <a:prstDash val="solid"/>
          </a:ln>
        </p:spPr>
      </p:sp>
      <p:sp>
        <p:nvSpPr>
          <p:cNvPr id="21" name="Text 16"/>
          <p:cNvSpPr/>
          <p:nvPr/>
        </p:nvSpPr>
        <p:spPr>
          <a:xfrm>
            <a:off x="4983480" y="4233672"/>
            <a:ext cx="6446520" cy="822960"/>
          </a:xfrm>
          <a:prstGeom prst="rect">
            <a:avLst/>
          </a:prstGeom>
          <a:noFill/>
          <a:ln/>
        </p:spPr>
        <p:txBody>
          <a:bodyPr wrap="square" lIns="0" tIns="0" rIns="0" bIns="0" rtlCol="0" anchor="ctr"/>
          <a:lstStyle/>
          <a:p>
            <a:pPr indent="0" marL="0">
              <a:buNone/>
            </a:pPr>
            <a:r>
              <a:rPr lang="en-US" sz="1300" b="1" dirty="0">
                <a:solidFill>
                  <a:srgbClr val="2E8B57"/>
                </a:solidFill>
                <a:latin typeface="Calibri" pitchFamily="34" charset="0"/>
                <a:ea typeface="Calibri" pitchFamily="34" charset="-122"/>
                <a:cs typeface="Calibri" pitchFamily="34" charset="-120"/>
              </a:rPr>
              <a:t>Solution:  </a:t>
            </a:r>
            <a:pPr indent="0" marL="0">
              <a:buNone/>
            </a:pPr>
            <a:r>
              <a:rPr lang="en-US" sz="1300" dirty="0">
                <a:solidFill>
                  <a:srgbClr val="5B6E64"/>
                </a:solidFill>
                <a:latin typeface="Calibri" pitchFamily="34" charset="0"/>
                <a:ea typeface="Calibri" pitchFamily="34" charset="-122"/>
                <a:cs typeface="Calibri" pitchFamily="34" charset="-120"/>
              </a:rPr>
              <a:t>Connected every interaction to the Mission Manager and GUI.</a:t>
            </a:r>
            <a:endParaRPr lang="en-US" sz="1300" dirty="0"/>
          </a:p>
        </p:txBody>
      </p:sp>
      <p:sp>
        <p:nvSpPr>
          <p:cNvPr id="22" name="Shape 17"/>
          <p:cNvSpPr/>
          <p:nvPr/>
        </p:nvSpPr>
        <p:spPr>
          <a:xfrm>
            <a:off x="548640" y="5303520"/>
            <a:ext cx="11109960" cy="1051560"/>
          </a:xfrm>
          <a:prstGeom prst="roundRect">
            <a:avLst>
              <a:gd name="adj" fmla="val 7826"/>
            </a:avLst>
          </a:prstGeom>
          <a:solidFill>
            <a:srgbClr val="FFFFFF"/>
          </a:solidFill>
          <a:ln/>
          <a:effectLst>
            <a:outerShdw sx="100000" sy="100000" kx="0" ky="0" algn="bl" rotWithShape="0" blurRad="101600" dist="38100" dir="2700000">
              <a:srgbClr val="0B2A20">
                <a:alpha val="12000"/>
              </a:srgbClr>
            </a:outerShdw>
          </a:effectLst>
        </p:spPr>
      </p:sp>
      <p:sp>
        <p:nvSpPr>
          <p:cNvPr id="23" name="Shape 18"/>
          <p:cNvSpPr/>
          <p:nvPr/>
        </p:nvSpPr>
        <p:spPr>
          <a:xfrm>
            <a:off x="777240" y="5486400"/>
            <a:ext cx="658368" cy="658368"/>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24" name="Image 3" descr="preencoded.png">    </p:cNvPr>
          <p:cNvPicPr>
            <a:picLocks noChangeAspect="1"/>
          </p:cNvPicPr>
          <p:nvPr/>
        </p:nvPicPr>
        <p:blipFill>
          <a:blip r:embed="rId4"/>
          <a:stretch>
            <a:fillRect/>
          </a:stretch>
        </p:blipFill>
        <p:spPr>
          <a:xfrm>
            <a:off x="862828" y="5571988"/>
            <a:ext cx="487192" cy="487192"/>
          </a:xfrm>
          <a:prstGeom prst="rect">
            <a:avLst/>
          </a:prstGeom>
        </p:spPr>
      </p:pic>
      <p:sp>
        <p:nvSpPr>
          <p:cNvPr id="25" name="Text 19"/>
          <p:cNvSpPr/>
          <p:nvPr/>
        </p:nvSpPr>
        <p:spPr>
          <a:xfrm>
            <a:off x="1645920" y="5422392"/>
            <a:ext cx="2926080" cy="822960"/>
          </a:xfrm>
          <a:prstGeom prst="rect">
            <a:avLst/>
          </a:prstGeom>
          <a:noFill/>
          <a:ln/>
        </p:spPr>
        <p:txBody>
          <a:bodyPr wrap="square" lIns="0" tIns="0" rIns="0" bIns="0" rtlCol="0" anchor="ctr"/>
          <a:lstStyle/>
          <a:p>
            <a:pPr indent="0" marL="0">
              <a:buNone/>
            </a:pPr>
            <a:r>
              <a:rPr lang="en-US" sz="1500" b="1" dirty="0">
                <a:solidFill>
                  <a:srgbClr val="16241F"/>
                </a:solidFill>
                <a:latin typeface="Cambria" pitchFamily="34" charset="0"/>
                <a:ea typeface="Cambria" pitchFamily="34" charset="-122"/>
                <a:cs typeface="Cambria" pitchFamily="34" charset="-120"/>
              </a:rPr>
              <a:t>Interactive Objects</a:t>
            </a:r>
            <a:endParaRPr lang="en-US" sz="1500" dirty="0"/>
          </a:p>
        </p:txBody>
      </p:sp>
      <p:sp>
        <p:nvSpPr>
          <p:cNvPr id="26" name="Shape 20"/>
          <p:cNvSpPr/>
          <p:nvPr/>
        </p:nvSpPr>
        <p:spPr>
          <a:xfrm>
            <a:off x="4709160" y="5468112"/>
            <a:ext cx="0" cy="731520"/>
          </a:xfrm>
          <a:prstGeom prst="line">
            <a:avLst/>
          </a:prstGeom>
          <a:noFill/>
          <a:ln w="12700">
            <a:solidFill>
              <a:srgbClr val="E2ECE4"/>
            </a:solidFill>
            <a:prstDash val="solid"/>
          </a:ln>
        </p:spPr>
      </p:sp>
      <p:sp>
        <p:nvSpPr>
          <p:cNvPr id="27" name="Text 21"/>
          <p:cNvSpPr/>
          <p:nvPr/>
        </p:nvSpPr>
        <p:spPr>
          <a:xfrm>
            <a:off x="4983480" y="5422392"/>
            <a:ext cx="6446520" cy="822960"/>
          </a:xfrm>
          <a:prstGeom prst="rect">
            <a:avLst/>
          </a:prstGeom>
          <a:noFill/>
          <a:ln/>
        </p:spPr>
        <p:txBody>
          <a:bodyPr wrap="square" lIns="0" tIns="0" rIns="0" bIns="0" rtlCol="0" anchor="ctr"/>
          <a:lstStyle/>
          <a:p>
            <a:pPr indent="0" marL="0">
              <a:buNone/>
            </a:pPr>
            <a:r>
              <a:rPr lang="en-US" sz="1300" b="1" dirty="0">
                <a:solidFill>
                  <a:srgbClr val="2E8B57"/>
                </a:solidFill>
                <a:latin typeface="Calibri" pitchFamily="34" charset="0"/>
                <a:ea typeface="Calibri" pitchFamily="34" charset="-122"/>
                <a:cs typeface="Calibri" pitchFamily="34" charset="-120"/>
              </a:rPr>
              <a:t>Solution:  </a:t>
            </a:r>
            <a:pPr indent="0" marL="0">
              <a:buNone/>
            </a:pPr>
            <a:r>
              <a:rPr lang="en-US" sz="1300" dirty="0">
                <a:solidFill>
                  <a:srgbClr val="5B6E64"/>
                </a:solidFill>
                <a:latin typeface="Calibri" pitchFamily="34" charset="0"/>
                <a:ea typeface="Calibri" pitchFamily="34" charset="-122"/>
                <a:cs typeface="Calibri" pitchFamily="34" charset="-120"/>
              </a:rPr>
              <a:t>Used Trigger Colliders paired with dedicated C# interaction scripts.</a:t>
            </a:r>
            <a:endParaRPr lang="en-US" sz="1300" dirty="0"/>
          </a:p>
        </p:txBody>
      </p:sp>
      <p:sp>
        <p:nvSpPr>
          <p:cNvPr id="29"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30"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3B2E"/>
        </a:solidFill>
      </p:bgPr>
    </p:bg>
    <p:spTree>
      <p:nvGrpSpPr>
        <p:cNvPr id="1" name=""/>
        <p:cNvGrpSpPr/>
        <p:nvPr/>
      </p:nvGrpSpPr>
      <p:grpSpPr>
        <a:xfrm>
          <a:off x="0" y="0"/>
          <a:ext cx="0" cy="0"/>
          <a:chOff x="0" y="0"/>
          <a:chExt cx="0" cy="0"/>
        </a:xfrm>
      </p:grpSpPr>
      <p:sp>
        <p:nvSpPr>
          <p:cNvPr id="2" name="Shape 0"/>
          <p:cNvSpPr/>
          <p:nvPr/>
        </p:nvSpPr>
        <p:spPr>
          <a:xfrm>
            <a:off x="9326880" y="-1280160"/>
            <a:ext cx="4389120" cy="4389120"/>
          </a:xfrm>
          <a:prstGeom prst="ellipse">
            <a:avLst/>
          </a:prstGeom>
          <a:solidFill>
            <a:srgbClr val="12503E"/>
          </a:solidFill>
          <a:ln/>
        </p:spPr>
      </p:sp>
      <p:sp>
        <p:nvSpPr>
          <p:cNvPr id="3" name="Text 1"/>
          <p:cNvSpPr/>
          <p:nvPr/>
        </p:nvSpPr>
        <p:spPr>
          <a:xfrm>
            <a:off x="548640" y="384048"/>
            <a:ext cx="54864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SDG REFLECTION</a:t>
            </a:r>
            <a:endParaRPr lang="en-US" sz="1300" dirty="0"/>
          </a:p>
        </p:txBody>
      </p:sp>
      <p:sp>
        <p:nvSpPr>
          <p:cNvPr id="4" name="Text 2"/>
          <p:cNvSpPr/>
          <p:nvPr/>
        </p:nvSpPr>
        <p:spPr>
          <a:xfrm>
            <a:off x="548640" y="658368"/>
            <a:ext cx="10789920" cy="6858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the Project Says About Sustainability</a:t>
            </a:r>
            <a:endParaRPr lang="en-US" sz="2800" dirty="0"/>
          </a:p>
        </p:txBody>
      </p:sp>
      <p:sp>
        <p:nvSpPr>
          <p:cNvPr id="5" name="Shape 3"/>
          <p:cNvSpPr/>
          <p:nvPr/>
        </p:nvSpPr>
        <p:spPr>
          <a:xfrm>
            <a:off x="548640" y="1691640"/>
            <a:ext cx="3639312" cy="4297680"/>
          </a:xfrm>
          <a:prstGeom prst="roundRect">
            <a:avLst>
              <a:gd name="adj" fmla="val 2261"/>
            </a:avLst>
          </a:prstGeom>
          <a:solidFill>
            <a:srgbClr val="0F4436"/>
          </a:solidFill>
          <a:ln/>
          <a:effectLst>
            <a:outerShdw sx="100000" sy="100000" kx="0" ky="0" algn="bl" rotWithShape="0" blurRad="101600" dist="38100" dir="2700000">
              <a:srgbClr val="0B2A20">
                <a:alpha val="12000"/>
              </a:srgbClr>
            </a:outerShdw>
          </a:effectLst>
        </p:spPr>
      </p:sp>
      <p:sp>
        <p:nvSpPr>
          <p:cNvPr id="6" name="Shape 4"/>
          <p:cNvSpPr/>
          <p:nvPr/>
        </p:nvSpPr>
        <p:spPr>
          <a:xfrm>
            <a:off x="822960" y="1920240"/>
            <a:ext cx="685800" cy="68580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7" name="Image 0" descr="preencoded.png">    </p:cNvPr>
          <p:cNvPicPr>
            <a:picLocks noChangeAspect="1"/>
          </p:cNvPicPr>
          <p:nvPr/>
        </p:nvPicPr>
        <p:blipFill>
          <a:blip r:embed="rId1"/>
          <a:stretch>
            <a:fillRect/>
          </a:stretch>
        </p:blipFill>
        <p:spPr>
          <a:xfrm>
            <a:off x="912114" y="2009394"/>
            <a:ext cx="507492" cy="507492"/>
          </a:xfrm>
          <a:prstGeom prst="rect">
            <a:avLst/>
          </a:prstGeom>
        </p:spPr>
      </p:pic>
      <p:sp>
        <p:nvSpPr>
          <p:cNvPr id="8" name="Text 5"/>
          <p:cNvSpPr/>
          <p:nvPr/>
        </p:nvSpPr>
        <p:spPr>
          <a:xfrm>
            <a:off x="822960" y="2724912"/>
            <a:ext cx="3090672" cy="365760"/>
          </a:xfrm>
          <a:prstGeom prst="rect">
            <a:avLst/>
          </a:prstGeom>
          <a:noFill/>
          <a:ln/>
        </p:spPr>
        <p:txBody>
          <a:bodyPr wrap="square" lIns="0" tIns="0" rIns="0" bIns="0" rtlCol="0" anchor="ctr"/>
          <a:lstStyle/>
          <a:p>
            <a:pPr indent="0" marL="0">
              <a:buNone/>
            </a:pPr>
            <a:r>
              <a:rPr lang="en-US" sz="1900" b="1" dirty="0">
                <a:solidFill>
                  <a:srgbClr val="F2A93B"/>
                </a:solidFill>
                <a:latin typeface="Cambria" pitchFamily="34" charset="0"/>
                <a:ea typeface="Cambria" pitchFamily="34" charset="-122"/>
                <a:cs typeface="Cambria" pitchFamily="34" charset="-120"/>
              </a:rPr>
              <a:t>SDG 7</a:t>
            </a:r>
            <a:endParaRPr lang="en-US" sz="1900" dirty="0"/>
          </a:p>
        </p:txBody>
      </p:sp>
      <p:sp>
        <p:nvSpPr>
          <p:cNvPr id="9" name="Text 6"/>
          <p:cNvSpPr/>
          <p:nvPr/>
        </p:nvSpPr>
        <p:spPr>
          <a:xfrm>
            <a:off x="822960" y="3154680"/>
            <a:ext cx="3090672" cy="2651760"/>
          </a:xfrm>
          <a:prstGeom prst="rect">
            <a:avLst/>
          </a:prstGeom>
          <a:noFill/>
          <a:ln/>
        </p:spPr>
        <p:txBody>
          <a:bodyPr wrap="square" lIns="0" tIns="0" rIns="0" bIns="0" rtlCol="0" anchor="ctr"/>
          <a:lstStyle/>
          <a:p>
            <a:pPr indent="0" marL="0">
              <a:buNone/>
            </a:pPr>
            <a:r>
              <a:rPr lang="en-US" sz="1350" dirty="0">
                <a:solidFill>
                  <a:srgbClr val="E8F5EF"/>
                </a:solidFill>
                <a:latin typeface="Calibri" pitchFamily="34" charset="0"/>
                <a:ea typeface="Calibri" pitchFamily="34" charset="-122"/>
                <a:cs typeface="Calibri" pitchFamily="34" charset="-120"/>
              </a:rPr>
              <a:t>Players must actively repair renewable energy infrastructure before power returns — making clean energy the literal condition for progress.</a:t>
            </a:r>
            <a:endParaRPr lang="en-US" sz="1350" dirty="0"/>
          </a:p>
        </p:txBody>
      </p:sp>
      <p:sp>
        <p:nvSpPr>
          <p:cNvPr id="10" name="Shape 7"/>
          <p:cNvSpPr/>
          <p:nvPr/>
        </p:nvSpPr>
        <p:spPr>
          <a:xfrm>
            <a:off x="4370832" y="1691640"/>
            <a:ext cx="3639312" cy="4297680"/>
          </a:xfrm>
          <a:prstGeom prst="roundRect">
            <a:avLst>
              <a:gd name="adj" fmla="val 2261"/>
            </a:avLst>
          </a:prstGeom>
          <a:solidFill>
            <a:srgbClr val="0F4436"/>
          </a:solidFill>
          <a:ln/>
          <a:effectLst>
            <a:outerShdw sx="100000" sy="100000" kx="0" ky="0" algn="bl" rotWithShape="0" blurRad="101600" dist="38100" dir="2700000">
              <a:srgbClr val="0B2A20">
                <a:alpha val="12000"/>
              </a:srgbClr>
            </a:outerShdw>
          </a:effectLst>
        </p:spPr>
      </p:sp>
      <p:sp>
        <p:nvSpPr>
          <p:cNvPr id="11" name="Shape 8"/>
          <p:cNvSpPr/>
          <p:nvPr/>
        </p:nvSpPr>
        <p:spPr>
          <a:xfrm>
            <a:off x="4645152" y="1920240"/>
            <a:ext cx="685800" cy="68580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2" name="Image 1" descr="preencoded.png">    </p:cNvPr>
          <p:cNvPicPr>
            <a:picLocks noChangeAspect="1"/>
          </p:cNvPicPr>
          <p:nvPr/>
        </p:nvPicPr>
        <p:blipFill>
          <a:blip r:embed="rId2"/>
          <a:stretch>
            <a:fillRect/>
          </a:stretch>
        </p:blipFill>
        <p:spPr>
          <a:xfrm>
            <a:off x="4734306" y="2009394"/>
            <a:ext cx="507492" cy="507492"/>
          </a:xfrm>
          <a:prstGeom prst="rect">
            <a:avLst/>
          </a:prstGeom>
        </p:spPr>
      </p:pic>
      <p:sp>
        <p:nvSpPr>
          <p:cNvPr id="13" name="Text 9"/>
          <p:cNvSpPr/>
          <p:nvPr/>
        </p:nvSpPr>
        <p:spPr>
          <a:xfrm>
            <a:off x="4645152" y="2724912"/>
            <a:ext cx="3090672" cy="365760"/>
          </a:xfrm>
          <a:prstGeom prst="rect">
            <a:avLst/>
          </a:prstGeom>
          <a:noFill/>
          <a:ln/>
        </p:spPr>
        <p:txBody>
          <a:bodyPr wrap="square" lIns="0" tIns="0" rIns="0" bIns="0" rtlCol="0" anchor="ctr"/>
          <a:lstStyle/>
          <a:p>
            <a:pPr indent="0" marL="0">
              <a:buNone/>
            </a:pPr>
            <a:r>
              <a:rPr lang="en-US" sz="1900" b="1" dirty="0">
                <a:solidFill>
                  <a:srgbClr val="F2A93B"/>
                </a:solidFill>
                <a:latin typeface="Cambria" pitchFamily="34" charset="0"/>
                <a:ea typeface="Cambria" pitchFamily="34" charset="-122"/>
                <a:cs typeface="Cambria" pitchFamily="34" charset="-120"/>
              </a:rPr>
              <a:t>SDG 11</a:t>
            </a:r>
            <a:endParaRPr lang="en-US" sz="1900" dirty="0"/>
          </a:p>
        </p:txBody>
      </p:sp>
      <p:sp>
        <p:nvSpPr>
          <p:cNvPr id="14" name="Text 10"/>
          <p:cNvSpPr/>
          <p:nvPr/>
        </p:nvSpPr>
        <p:spPr>
          <a:xfrm>
            <a:off x="4645152" y="3154680"/>
            <a:ext cx="3090672" cy="2651760"/>
          </a:xfrm>
          <a:prstGeom prst="rect">
            <a:avLst/>
          </a:prstGeom>
          <a:noFill/>
          <a:ln/>
        </p:spPr>
        <p:txBody>
          <a:bodyPr wrap="square" lIns="0" tIns="0" rIns="0" bIns="0" rtlCol="0" anchor="ctr"/>
          <a:lstStyle/>
          <a:p>
            <a:pPr indent="0" marL="0">
              <a:buNone/>
            </a:pPr>
            <a:r>
              <a:rPr lang="en-US" sz="1350" dirty="0">
                <a:solidFill>
                  <a:srgbClr val="E8F5EF"/>
                </a:solidFill>
                <a:latin typeface="Calibri" pitchFamily="34" charset="0"/>
                <a:ea typeface="Calibri" pitchFamily="34" charset="-122"/>
                <a:cs typeface="Calibri" pitchFamily="34" charset="-120"/>
              </a:rPr>
              <a:t>The smart home demonstrates how connected, efficient technology supports sustainable, liveable communities.</a:t>
            </a:r>
            <a:endParaRPr lang="en-US" sz="1350" dirty="0"/>
          </a:p>
        </p:txBody>
      </p:sp>
      <p:sp>
        <p:nvSpPr>
          <p:cNvPr id="15" name="Shape 11"/>
          <p:cNvSpPr/>
          <p:nvPr/>
        </p:nvSpPr>
        <p:spPr>
          <a:xfrm>
            <a:off x="8193024" y="1691640"/>
            <a:ext cx="3639312" cy="4297680"/>
          </a:xfrm>
          <a:prstGeom prst="roundRect">
            <a:avLst>
              <a:gd name="adj" fmla="val 2261"/>
            </a:avLst>
          </a:prstGeom>
          <a:solidFill>
            <a:srgbClr val="0F4436"/>
          </a:solidFill>
          <a:ln/>
          <a:effectLst>
            <a:outerShdw sx="100000" sy="100000" kx="0" ky="0" algn="bl" rotWithShape="0" blurRad="101600" dist="38100" dir="2700000">
              <a:srgbClr val="0B2A20">
                <a:alpha val="12000"/>
              </a:srgbClr>
            </a:outerShdw>
          </a:effectLst>
        </p:spPr>
      </p:sp>
      <p:sp>
        <p:nvSpPr>
          <p:cNvPr id="16" name="Shape 12"/>
          <p:cNvSpPr/>
          <p:nvPr/>
        </p:nvSpPr>
        <p:spPr>
          <a:xfrm>
            <a:off x="8467344" y="1920240"/>
            <a:ext cx="685800" cy="68580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17" name="Image 2" descr="preencoded.png">    </p:cNvPr>
          <p:cNvPicPr>
            <a:picLocks noChangeAspect="1"/>
          </p:cNvPicPr>
          <p:nvPr/>
        </p:nvPicPr>
        <p:blipFill>
          <a:blip r:embed="rId3"/>
          <a:stretch>
            <a:fillRect/>
          </a:stretch>
        </p:blipFill>
        <p:spPr>
          <a:xfrm>
            <a:off x="8556498" y="2009394"/>
            <a:ext cx="507492" cy="507492"/>
          </a:xfrm>
          <a:prstGeom prst="rect">
            <a:avLst/>
          </a:prstGeom>
        </p:spPr>
      </p:pic>
      <p:sp>
        <p:nvSpPr>
          <p:cNvPr id="18" name="Text 13"/>
          <p:cNvSpPr/>
          <p:nvPr/>
        </p:nvSpPr>
        <p:spPr>
          <a:xfrm>
            <a:off x="8467344" y="2724912"/>
            <a:ext cx="3090672" cy="365760"/>
          </a:xfrm>
          <a:prstGeom prst="rect">
            <a:avLst/>
          </a:prstGeom>
          <a:noFill/>
          <a:ln/>
        </p:spPr>
        <p:txBody>
          <a:bodyPr wrap="square" lIns="0" tIns="0" rIns="0" bIns="0" rtlCol="0" anchor="ctr"/>
          <a:lstStyle/>
          <a:p>
            <a:pPr indent="0" marL="0">
              <a:buNone/>
            </a:pPr>
            <a:r>
              <a:rPr lang="en-US" sz="1900" b="1" dirty="0">
                <a:solidFill>
                  <a:srgbClr val="F2A93B"/>
                </a:solidFill>
                <a:latin typeface="Cambria" pitchFamily="34" charset="0"/>
                <a:ea typeface="Cambria" pitchFamily="34" charset="-122"/>
                <a:cs typeface="Cambria" pitchFamily="34" charset="-120"/>
              </a:rPr>
              <a:t>SDG 12</a:t>
            </a:r>
            <a:endParaRPr lang="en-US" sz="1900" dirty="0"/>
          </a:p>
        </p:txBody>
      </p:sp>
      <p:sp>
        <p:nvSpPr>
          <p:cNvPr id="19" name="Text 14"/>
          <p:cNvSpPr/>
          <p:nvPr/>
        </p:nvSpPr>
        <p:spPr>
          <a:xfrm>
            <a:off x="8467344" y="3154680"/>
            <a:ext cx="3090672" cy="2651760"/>
          </a:xfrm>
          <a:prstGeom prst="rect">
            <a:avLst/>
          </a:prstGeom>
          <a:noFill/>
          <a:ln/>
        </p:spPr>
        <p:txBody>
          <a:bodyPr wrap="square" lIns="0" tIns="0" rIns="0" bIns="0" rtlCol="0" anchor="ctr"/>
          <a:lstStyle/>
          <a:p>
            <a:pPr indent="0" marL="0">
              <a:buNone/>
            </a:pPr>
            <a:r>
              <a:rPr lang="en-US" sz="1350" dirty="0">
                <a:solidFill>
                  <a:srgbClr val="E8F5EF"/>
                </a:solidFill>
                <a:latin typeface="Calibri" pitchFamily="34" charset="0"/>
                <a:ea typeface="Calibri" pitchFamily="34" charset="-122"/>
                <a:cs typeface="Calibri" pitchFamily="34" charset="-120"/>
              </a:rPr>
              <a:t>Restoring only what is needed and repairing rather than replacing encourages responsible consumption habits.</a:t>
            </a:r>
            <a:endParaRPr lang="en-US" sz="1350" dirty="0"/>
          </a:p>
        </p:txBody>
      </p:sp>
      <p:sp>
        <p:nvSpPr>
          <p:cNvPr id="21" name="Text 1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FD9C6"/>
                </a:solidFill>
                <a:latin typeface="Calibri" pitchFamily="34" charset="0"/>
                <a:ea typeface="Calibri" pitchFamily="34" charset="-122"/>
                <a:cs typeface="Calibri" pitchFamily="34" charset="-120"/>
              </a:rPr>
              <a:t>BITM3223 · Virtual Reality Technology</a:t>
            </a:r>
            <a:endParaRPr lang="en-US" sz="900" dirty="0"/>
          </a:p>
        </p:txBody>
      </p:sp>
      <p:sp>
        <p:nvSpPr>
          <p:cNvPr id="22" name="Text 1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FD9C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AF7"/>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GAMEPLAY WALKTHROUGH</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indent="0" marL="0">
              <a:buNone/>
            </a:pPr>
            <a:r>
              <a:rPr lang="en-US" sz="3000" b="1" dirty="0">
                <a:solidFill>
                  <a:srgbClr val="16241F"/>
                </a:solidFill>
                <a:latin typeface="Cambria" pitchFamily="34" charset="0"/>
                <a:ea typeface="Cambria" pitchFamily="34" charset="-122"/>
                <a:cs typeface="Cambria" pitchFamily="34" charset="-120"/>
              </a:rPr>
              <a:t>Live Demonstration</a:t>
            </a:r>
            <a:endParaRPr lang="en-US" sz="3000" dirty="0"/>
          </a:p>
        </p:txBody>
      </p:sp>
      <p:sp>
        <p:nvSpPr>
          <p:cNvPr id="4" name="Shape 2"/>
          <p:cNvSpPr/>
          <p:nvPr/>
        </p:nvSpPr>
        <p:spPr>
          <a:xfrm>
            <a:off x="548640" y="1737360"/>
            <a:ext cx="6675120" cy="4297680"/>
          </a:xfrm>
          <a:prstGeom prst="roundRect">
            <a:avLst>
              <a:gd name="adj" fmla="val 1915"/>
            </a:avLst>
          </a:prstGeom>
          <a:solidFill>
            <a:srgbClr val="134D3B"/>
          </a:solidFill>
          <a:ln/>
          <a:effectLst>
            <a:outerShdw sx="100000" sy="100000" kx="0" ky="0" algn="bl" rotWithShape="0" blurRad="101600" dist="38100" dir="2700000">
              <a:srgbClr val="0B2A20">
                <a:alpha val="12000"/>
              </a:srgbClr>
            </a:outerShdw>
          </a:effectLst>
        </p:spPr>
      </p:sp>
      <p:sp>
        <p:nvSpPr>
          <p:cNvPr id="5" name="Shape 3"/>
          <p:cNvSpPr/>
          <p:nvPr/>
        </p:nvSpPr>
        <p:spPr>
          <a:xfrm>
            <a:off x="822960" y="1965960"/>
            <a:ext cx="548640" cy="54864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6" name="Image 0" descr="preencoded.png">    </p:cNvPr>
          <p:cNvPicPr>
            <a:picLocks noChangeAspect="1"/>
          </p:cNvPicPr>
          <p:nvPr/>
        </p:nvPicPr>
        <p:blipFill>
          <a:blip r:embed="rId1"/>
          <a:stretch>
            <a:fillRect/>
          </a:stretch>
        </p:blipFill>
        <p:spPr>
          <a:xfrm>
            <a:off x="894283" y="2037283"/>
            <a:ext cx="405994" cy="405994"/>
          </a:xfrm>
          <a:prstGeom prst="rect">
            <a:avLst/>
          </a:prstGeom>
        </p:spPr>
      </p:pic>
      <p:sp>
        <p:nvSpPr>
          <p:cNvPr id="7" name="Text 4"/>
          <p:cNvSpPr/>
          <p:nvPr/>
        </p:nvSpPr>
        <p:spPr>
          <a:xfrm>
            <a:off x="1508760" y="2029968"/>
            <a:ext cx="5029200" cy="411480"/>
          </a:xfrm>
          <a:prstGeom prst="rect">
            <a:avLst/>
          </a:prstGeom>
          <a:noFill/>
          <a:ln/>
        </p:spPr>
        <p:txBody>
          <a:bodyPr wrap="square" lIns="0" tIns="0" rIns="0" bIns="0" rtlCol="0" anchor="ctr"/>
          <a:lstStyle/>
          <a:p>
            <a:pPr indent="0" marL="0">
              <a:buNone/>
            </a:pPr>
            <a:r>
              <a:rPr lang="en-US" sz="1300" i="1" dirty="0">
                <a:solidFill>
                  <a:srgbClr val="9FD9C6"/>
                </a:solidFill>
                <a:latin typeface="Calibri" pitchFamily="34" charset="0"/>
                <a:ea typeface="Calibri" pitchFamily="34" charset="-122"/>
                <a:cs typeface="Calibri" pitchFamily="34" charset="-120"/>
              </a:rPr>
              <a:t>[ EMBED / SCREEN RECORDING ]</a:t>
            </a:r>
            <a:endParaRPr lang="en-US" sz="1300" dirty="0"/>
          </a:p>
        </p:txBody>
      </p:sp>
      <p:sp>
        <p:nvSpPr>
          <p:cNvPr id="8" name="Shape 5"/>
          <p:cNvSpPr/>
          <p:nvPr/>
        </p:nvSpPr>
        <p:spPr>
          <a:xfrm>
            <a:off x="822960" y="2606040"/>
            <a:ext cx="6126480" cy="3200400"/>
          </a:xfrm>
          <a:prstGeom prst="roundRect">
            <a:avLst>
              <a:gd name="adj" fmla="val 1714"/>
            </a:avLst>
          </a:prstGeom>
          <a:solidFill>
            <a:srgbClr val="0B2E24"/>
          </a:solidFill>
          <a:ln/>
        </p:spPr>
      </p:sp>
      <p:sp>
        <p:nvSpPr>
          <p:cNvPr id="9" name="Shape 6"/>
          <p:cNvSpPr/>
          <p:nvPr/>
        </p:nvSpPr>
        <p:spPr>
          <a:xfrm>
            <a:off x="3520440" y="3840480"/>
            <a:ext cx="731520" cy="731520"/>
          </a:xfrm>
          <a:prstGeom prst="ellipse">
            <a:avLst/>
          </a:prstGeom>
          <a:solidFill>
            <a:srgbClr val="F2A93B"/>
          </a:solidFill>
          <a:ln/>
        </p:spPr>
      </p:sp>
      <p:sp>
        <p:nvSpPr>
          <p:cNvPr id="10" name="Text 7"/>
          <p:cNvSpPr/>
          <p:nvPr/>
        </p:nvSpPr>
        <p:spPr>
          <a:xfrm>
            <a:off x="3520440" y="3840480"/>
            <a:ext cx="731520" cy="731520"/>
          </a:xfrm>
          <a:prstGeom prst="rect">
            <a:avLst/>
          </a:prstGeom>
          <a:noFill/>
          <a:ln/>
        </p:spPr>
        <p:txBody>
          <a:bodyPr wrap="square" lIns="0" tIns="0" rIns="0" bIns="0" rtlCol="0" anchor="ctr"/>
          <a:lstStyle/>
          <a:p>
            <a:pPr algn="ctr" indent="0" marL="0">
              <a:buNone/>
            </a:pPr>
            <a:r>
              <a:rPr lang="en-US" sz="2200" dirty="0">
                <a:solidFill>
                  <a:srgbClr val="0E3B2E"/>
                </a:solidFill>
              </a:rPr>
              <a:t>▶</a:t>
            </a:r>
            <a:endParaRPr lang="en-US" sz="2200" dirty="0"/>
          </a:p>
        </p:txBody>
      </p:sp>
      <p:sp>
        <p:nvSpPr>
          <p:cNvPr id="11" name="Text 8"/>
          <p:cNvSpPr/>
          <p:nvPr/>
        </p:nvSpPr>
        <p:spPr>
          <a:xfrm>
            <a:off x="822960" y="5623560"/>
            <a:ext cx="6126480" cy="320040"/>
          </a:xfrm>
          <a:prstGeom prst="rect">
            <a:avLst/>
          </a:prstGeom>
          <a:noFill/>
          <a:ln/>
        </p:spPr>
        <p:txBody>
          <a:bodyPr wrap="square" lIns="0" tIns="0" rIns="0" bIns="0" rtlCol="0" anchor="ctr"/>
          <a:lstStyle/>
          <a:p>
            <a:pPr algn="ctr" indent="0" marL="0">
              <a:buNone/>
            </a:pPr>
            <a:r>
              <a:rPr lang="en-US" sz="1100" i="1" dirty="0">
                <a:solidFill>
                  <a:srgbClr val="9FD9C6"/>
                </a:solidFill>
                <a:latin typeface="Calibri" pitchFamily="34" charset="0"/>
                <a:ea typeface="Calibri" pitchFamily="34" charset="-122"/>
                <a:cs typeface="Calibri" pitchFamily="34" charset="-120"/>
              </a:rPr>
              <a:t>Unlisted YouTube link inserted here for submission</a:t>
            </a:r>
            <a:endParaRPr lang="en-US" sz="1100" dirty="0"/>
          </a:p>
        </p:txBody>
      </p:sp>
      <p:sp>
        <p:nvSpPr>
          <p:cNvPr id="12" name="Shape 9"/>
          <p:cNvSpPr/>
          <p:nvPr/>
        </p:nvSpPr>
        <p:spPr>
          <a:xfrm>
            <a:off x="7406640" y="1737360"/>
            <a:ext cx="4251960" cy="4297680"/>
          </a:xfrm>
          <a:prstGeom prst="roundRect">
            <a:avLst>
              <a:gd name="adj" fmla="val 1935"/>
            </a:avLst>
          </a:prstGeom>
          <a:solidFill>
            <a:srgbClr val="FFFFFF"/>
          </a:solidFill>
          <a:ln/>
          <a:effectLst>
            <a:outerShdw sx="100000" sy="100000" kx="0" ky="0" algn="bl" rotWithShape="0" blurRad="101600" dist="38100" dir="2700000">
              <a:srgbClr val="0B2A20">
                <a:alpha val="12000"/>
              </a:srgbClr>
            </a:outerShdw>
          </a:effectLst>
        </p:spPr>
      </p:sp>
      <p:sp>
        <p:nvSpPr>
          <p:cNvPr id="13" name="Text 10"/>
          <p:cNvSpPr/>
          <p:nvPr/>
        </p:nvSpPr>
        <p:spPr>
          <a:xfrm>
            <a:off x="7680960" y="1920240"/>
            <a:ext cx="3657600" cy="274320"/>
          </a:xfrm>
          <a:prstGeom prst="rect">
            <a:avLst/>
          </a:prstGeom>
          <a:noFill/>
          <a:ln/>
        </p:spPr>
        <p:txBody>
          <a:bodyPr wrap="square" lIns="0" tIns="0" rIns="0" bIns="0" rtlCol="0" anchor="ctr"/>
          <a:lstStyle/>
          <a:p>
            <a:pPr indent="0" marL="0">
              <a:buNone/>
            </a:pPr>
            <a:r>
              <a:rPr lang="en-US" sz="1100" b="1" spc="200" kern="0" dirty="0">
                <a:solidFill>
                  <a:srgbClr val="2E8B57"/>
                </a:solidFill>
                <a:latin typeface="Calibri" pitchFamily="34" charset="0"/>
                <a:ea typeface="Calibri" pitchFamily="34" charset="-122"/>
                <a:cs typeface="Calibri" pitchFamily="34" charset="-120"/>
              </a:rPr>
              <a:t>DEMO CHECKLIST</a:t>
            </a:r>
            <a:endParaRPr lang="en-US" sz="1100" dirty="0"/>
          </a:p>
        </p:txBody>
      </p:sp>
      <p:sp>
        <p:nvSpPr>
          <p:cNvPr id="14" name="Text 11"/>
          <p:cNvSpPr/>
          <p:nvPr/>
        </p:nvSpPr>
        <p:spPr>
          <a:xfrm>
            <a:off x="7680960" y="2240280"/>
            <a:ext cx="3749040" cy="3566160"/>
          </a:xfrm>
          <a:prstGeom prst="rect">
            <a:avLst/>
          </a:prstGeom>
          <a:noFill/>
          <a:ln/>
        </p:spPr>
        <p:txBody>
          <a:bodyPr wrap="square" lIns="0" tIns="0" rIns="0" bIns="0" rtlCol="0" anchor="t"/>
          <a:lstStyle/>
          <a:p>
            <a:pPr marL="228600" indent="-228600">
              <a:lnSpc>
                <a:spcPct val="108000"/>
              </a:lnSpc>
              <a:spcAft>
                <a:spcPts val="1300"/>
              </a:spcAft>
              <a:buSzPct val="100000"/>
              <a:buChar char="●"/>
            </a:pPr>
            <a:r>
              <a:rPr lang="en-US" sz="1250" dirty="0">
                <a:solidFill>
                  <a:srgbClr val="16241F"/>
                </a:solidFill>
                <a:latin typeface="Calibri" pitchFamily="34" charset="0"/>
                <a:ea typeface="Calibri" pitchFamily="34" charset="-122"/>
                <a:cs typeface="Calibri" pitchFamily="34" charset="-120"/>
              </a:rPr>
              <a:t>Show blackout state in the Smart Home</a:t>
            </a:r>
            <a:endParaRPr lang="en-US" sz="1250" dirty="0"/>
          </a:p>
          <a:p>
            <a:pPr marL="228600" indent="-228600">
              <a:lnSpc>
                <a:spcPct val="108000"/>
              </a:lnSpc>
              <a:spcAft>
                <a:spcPts val="1300"/>
              </a:spcAft>
              <a:buSzPct val="100000"/>
              <a:buChar char="●"/>
            </a:pPr>
            <a:r>
              <a:rPr lang="en-US" sz="1250" dirty="0">
                <a:solidFill>
                  <a:srgbClr val="16241F"/>
                </a:solidFill>
                <a:latin typeface="Calibri" pitchFamily="34" charset="0"/>
                <a:ea typeface="Calibri" pitchFamily="34" charset="-122"/>
                <a:cs typeface="Calibri" pitchFamily="34" charset="-120"/>
              </a:rPr>
              <a:t>Demonstrate walking, exploring, and household tasks</a:t>
            </a:r>
            <a:endParaRPr lang="en-US" sz="1250" dirty="0"/>
          </a:p>
          <a:p>
            <a:pPr marL="228600" indent="-228600">
              <a:lnSpc>
                <a:spcPct val="108000"/>
              </a:lnSpc>
              <a:spcAft>
                <a:spcPts val="1300"/>
              </a:spcAft>
              <a:buSzPct val="100000"/>
              <a:buChar char="●"/>
            </a:pPr>
            <a:r>
              <a:rPr lang="en-US" sz="1250" dirty="0">
                <a:solidFill>
                  <a:srgbClr val="16241F"/>
                </a:solidFill>
                <a:latin typeface="Calibri" pitchFamily="34" charset="0"/>
                <a:ea typeface="Calibri" pitchFamily="34" charset="-122"/>
                <a:cs typeface="Calibri" pitchFamily="34" charset="-120"/>
              </a:rPr>
              <a:t>Enter the portal to the Rooftop Solar Station</a:t>
            </a:r>
            <a:endParaRPr lang="en-US" sz="1250" dirty="0"/>
          </a:p>
          <a:p>
            <a:pPr marL="228600" indent="-228600">
              <a:lnSpc>
                <a:spcPct val="108000"/>
              </a:lnSpc>
              <a:spcAft>
                <a:spcPts val="1300"/>
              </a:spcAft>
              <a:buSzPct val="100000"/>
              <a:buChar char="●"/>
            </a:pPr>
            <a:r>
              <a:rPr lang="en-US" sz="1250" dirty="0">
                <a:solidFill>
                  <a:srgbClr val="16241F"/>
                </a:solidFill>
                <a:latin typeface="Calibri" pitchFamily="34" charset="0"/>
                <a:ea typeface="Calibri" pitchFamily="34" charset="-122"/>
                <a:cs typeface="Calibri" pitchFamily="34" charset="-120"/>
              </a:rPr>
              <a:t>Collect the key and repair the solar panels</a:t>
            </a:r>
            <a:endParaRPr lang="en-US" sz="1250" dirty="0"/>
          </a:p>
          <a:p>
            <a:pPr marL="228600" indent="-228600">
              <a:lnSpc>
                <a:spcPct val="108000"/>
              </a:lnSpc>
              <a:spcAft>
                <a:spcPts val="1300"/>
              </a:spcAft>
              <a:buSzPct val="100000"/>
              <a:buChar char="●"/>
            </a:pPr>
            <a:r>
              <a:rPr lang="en-US" sz="1250" dirty="0">
                <a:solidFill>
                  <a:srgbClr val="16241F"/>
                </a:solidFill>
                <a:latin typeface="Calibri" pitchFamily="34" charset="0"/>
                <a:ea typeface="Calibri" pitchFamily="34" charset="-122"/>
                <a:cs typeface="Calibri" pitchFamily="34" charset="-120"/>
              </a:rPr>
              <a:t>Activate the main switch after returning</a:t>
            </a:r>
            <a:endParaRPr lang="en-US" sz="1250" dirty="0"/>
          </a:p>
          <a:p>
            <a:pPr marL="228600" indent="-228600">
              <a:lnSpc>
                <a:spcPct val="108000"/>
              </a:lnSpc>
              <a:spcAft>
                <a:spcPts val="1300"/>
              </a:spcAft>
              <a:buSzPct val="100000"/>
              <a:buChar char="●"/>
            </a:pPr>
            <a:r>
              <a:rPr lang="en-US" sz="1250" dirty="0">
                <a:solidFill>
                  <a:srgbClr val="16241F"/>
                </a:solidFill>
                <a:latin typeface="Calibri" pitchFamily="34" charset="0"/>
                <a:ea typeface="Calibri" pitchFamily="34" charset="-122"/>
                <a:cs typeface="Calibri" pitchFamily="34" charset="-120"/>
              </a:rPr>
              <a:t>Show lights, TV, and the Congratulations screen</a:t>
            </a:r>
            <a:endParaRPr lang="en-US" sz="1250" dirty="0"/>
          </a:p>
        </p:txBody>
      </p:sp>
      <p:sp>
        <p:nvSpPr>
          <p:cNvPr id="16" name="Text 1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B6E64"/>
                </a:solidFill>
                <a:latin typeface="Calibri" pitchFamily="34" charset="0"/>
                <a:ea typeface="Calibri" pitchFamily="34" charset="-122"/>
                <a:cs typeface="Calibri" pitchFamily="34" charset="-120"/>
              </a:rPr>
              <a:t>BITM3223 · Virtual Reality Technology</a:t>
            </a:r>
            <a:endParaRPr lang="en-US" sz="900" dirty="0"/>
          </a:p>
        </p:txBody>
      </p:sp>
      <p:sp>
        <p:nvSpPr>
          <p:cNvPr id="17"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6E6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3B2E"/>
        </a:solidFill>
      </p:bgPr>
    </p:bg>
    <p:spTree>
      <p:nvGrpSpPr>
        <p:cNvPr id="1" name=""/>
        <p:cNvGrpSpPr/>
        <p:nvPr/>
      </p:nvGrpSpPr>
      <p:grpSpPr>
        <a:xfrm>
          <a:off x="0" y="0"/>
          <a:ext cx="0" cy="0"/>
          <a:chOff x="0" y="0"/>
          <a:chExt cx="0" cy="0"/>
        </a:xfrm>
      </p:grpSpPr>
      <p:sp>
        <p:nvSpPr>
          <p:cNvPr id="2" name="Shape 0"/>
          <p:cNvSpPr/>
          <p:nvPr/>
        </p:nvSpPr>
        <p:spPr>
          <a:xfrm>
            <a:off x="-1828800" y="4389120"/>
            <a:ext cx="5029200" cy="5029200"/>
          </a:xfrm>
          <a:prstGeom prst="ellipse">
            <a:avLst/>
          </a:prstGeom>
          <a:solidFill>
            <a:srgbClr val="12503E"/>
          </a:solidFill>
          <a:ln/>
        </p:spPr>
      </p:sp>
      <p:sp>
        <p:nvSpPr>
          <p:cNvPr id="3" name="Shape 1"/>
          <p:cNvSpPr/>
          <p:nvPr/>
        </p:nvSpPr>
        <p:spPr>
          <a:xfrm>
            <a:off x="9601200" y="-1645920"/>
            <a:ext cx="4572000" cy="4572000"/>
          </a:xfrm>
          <a:prstGeom prst="ellipse">
            <a:avLst/>
          </a:prstGeom>
          <a:solidFill>
            <a:srgbClr val="0F4436"/>
          </a:solidFill>
          <a:ln/>
        </p:spPr>
      </p:sp>
      <p:sp>
        <p:nvSpPr>
          <p:cNvPr id="4" name="Shape 2"/>
          <p:cNvSpPr/>
          <p:nvPr/>
        </p:nvSpPr>
        <p:spPr>
          <a:xfrm>
            <a:off x="777240" y="777240"/>
            <a:ext cx="777240" cy="777240"/>
          </a:xfrm>
          <a:prstGeom prst="ellipse">
            <a:avLst/>
          </a:prstGeom>
          <a:solidFill>
            <a:srgbClr val="F2A93B"/>
          </a:solidFill>
          <a:ln/>
          <a:effectLst>
            <a:outerShdw sx="100000" sy="100000" kx="0" ky="0" algn="bl" rotWithShape="0" blurRad="63500" dist="25400" dir="2700000">
              <a:srgbClr val="0B2A20">
                <a:alpha val="18000"/>
              </a:srgbClr>
            </a:outerShdw>
          </a:effectLst>
        </p:spPr>
      </p:sp>
      <p:pic>
        <p:nvPicPr>
          <p:cNvPr id="5" name="Image 0" descr="preencoded.png">    </p:cNvPr>
          <p:cNvPicPr>
            <a:picLocks noChangeAspect="1"/>
          </p:cNvPicPr>
          <p:nvPr/>
        </p:nvPicPr>
        <p:blipFill>
          <a:blip r:embed="rId1"/>
          <a:stretch>
            <a:fillRect/>
          </a:stretch>
        </p:blipFill>
        <p:spPr>
          <a:xfrm>
            <a:off x="878281" y="878281"/>
            <a:ext cx="575158" cy="575158"/>
          </a:xfrm>
          <a:prstGeom prst="rect">
            <a:avLst/>
          </a:prstGeom>
        </p:spPr>
      </p:pic>
      <p:sp>
        <p:nvSpPr>
          <p:cNvPr id="6" name="Text 3"/>
          <p:cNvSpPr/>
          <p:nvPr/>
        </p:nvSpPr>
        <p:spPr>
          <a:xfrm>
            <a:off x="777240" y="1828800"/>
            <a:ext cx="5486400" cy="32004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CONCLUSION</a:t>
            </a:r>
            <a:endParaRPr lang="en-US" sz="1300" dirty="0"/>
          </a:p>
        </p:txBody>
      </p:sp>
      <p:sp>
        <p:nvSpPr>
          <p:cNvPr id="7" name="Text 4"/>
          <p:cNvSpPr/>
          <p:nvPr/>
        </p:nvSpPr>
        <p:spPr>
          <a:xfrm>
            <a:off x="731520" y="2148840"/>
            <a:ext cx="105156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 Small Home, A Bigger Message</a:t>
            </a:r>
            <a:endParaRPr lang="en-US" sz="3600" dirty="0"/>
          </a:p>
        </p:txBody>
      </p:sp>
      <p:sp>
        <p:nvSpPr>
          <p:cNvPr id="8" name="Text 5"/>
          <p:cNvSpPr/>
          <p:nvPr/>
        </p:nvSpPr>
        <p:spPr>
          <a:xfrm>
            <a:off x="777240" y="3063240"/>
            <a:ext cx="7863840" cy="2103120"/>
          </a:xfrm>
          <a:prstGeom prst="rect">
            <a:avLst/>
          </a:prstGeom>
          <a:noFill/>
          <a:ln/>
        </p:spPr>
        <p:txBody>
          <a:bodyPr wrap="square" lIns="0" tIns="0" rIns="0" bIns="0" rtlCol="0" anchor="t"/>
          <a:lstStyle/>
          <a:p>
            <a:pPr marL="228600" indent="-228600">
              <a:lnSpc>
                <a:spcPct val="108000"/>
              </a:lnSpc>
              <a:spcAft>
                <a:spcPts val="1300"/>
              </a:spcAft>
              <a:buSzPct val="100000"/>
              <a:buChar char="●"/>
            </a:pPr>
            <a:r>
              <a:rPr lang="en-US" sz="1500" dirty="0">
                <a:solidFill>
                  <a:srgbClr val="E8F5EF"/>
                </a:solidFill>
                <a:latin typeface="Calibri" pitchFamily="34" charset="0"/>
                <a:ea typeface="Calibri" pitchFamily="34" charset="-122"/>
                <a:cs typeface="Calibri" pitchFamily="34" charset="-120"/>
              </a:rPr>
              <a:t>Delivered a complete VR loop: blackout, exploration, repair, and restoration</a:t>
            </a:r>
            <a:endParaRPr lang="en-US" sz="1500" dirty="0"/>
          </a:p>
          <a:p>
            <a:pPr marL="228600" indent="-228600">
              <a:lnSpc>
                <a:spcPct val="108000"/>
              </a:lnSpc>
              <a:spcAft>
                <a:spcPts val="1300"/>
              </a:spcAft>
              <a:buSzPct val="100000"/>
              <a:buChar char="●"/>
            </a:pPr>
            <a:r>
              <a:rPr lang="en-US" sz="1500" dirty="0">
                <a:solidFill>
                  <a:srgbClr val="E8F5EF"/>
                </a:solidFill>
                <a:latin typeface="Calibri" pitchFamily="34" charset="0"/>
                <a:ea typeface="Calibri" pitchFamily="34" charset="-122"/>
                <a:cs typeface="Calibri" pitchFamily="34" charset="-120"/>
              </a:rPr>
              <a:t>Practically applied Unity 6 scene management, interaction, and GUI systems</a:t>
            </a:r>
            <a:endParaRPr lang="en-US" sz="1500" dirty="0"/>
          </a:p>
          <a:p>
            <a:pPr marL="228600" indent="-228600">
              <a:lnSpc>
                <a:spcPct val="108000"/>
              </a:lnSpc>
              <a:spcAft>
                <a:spcPts val="1300"/>
              </a:spcAft>
              <a:buSzPct val="100000"/>
              <a:buChar char="●"/>
            </a:pPr>
            <a:r>
              <a:rPr lang="en-US" sz="1500" dirty="0">
                <a:solidFill>
                  <a:srgbClr val="E8F5EF"/>
                </a:solidFill>
                <a:latin typeface="Calibri" pitchFamily="34" charset="0"/>
                <a:ea typeface="Calibri" pitchFamily="34" charset="-122"/>
                <a:cs typeface="Calibri" pitchFamily="34" charset="-120"/>
              </a:rPr>
              <a:t>Connected gameplay directly to SDG 7, 11, and 12 through mission design</a:t>
            </a:r>
            <a:endParaRPr lang="en-US" sz="1500" dirty="0"/>
          </a:p>
          <a:p>
            <a:pPr marL="228600" indent="-228600">
              <a:lnSpc>
                <a:spcPct val="108000"/>
              </a:lnSpc>
              <a:spcAft>
                <a:spcPts val="1300"/>
              </a:spcAft>
              <a:buSzPct val="100000"/>
              <a:buChar char="●"/>
            </a:pPr>
            <a:r>
              <a:rPr lang="en-US" sz="1500" dirty="0">
                <a:solidFill>
                  <a:srgbClr val="E8F5EF"/>
                </a:solidFill>
                <a:latin typeface="Calibri" pitchFamily="34" charset="0"/>
                <a:ea typeface="Calibri" pitchFamily="34" charset="-122"/>
                <a:cs typeface="Calibri" pitchFamily="34" charset="-120"/>
              </a:rPr>
              <a:t>Result: an engaging, replayable environment with a genuine sustainability message</a:t>
            </a:r>
            <a:endParaRPr lang="en-US" sz="1500" dirty="0"/>
          </a:p>
        </p:txBody>
      </p:sp>
      <p:sp>
        <p:nvSpPr>
          <p:cNvPr id="9" name="Shape 6"/>
          <p:cNvSpPr/>
          <p:nvPr/>
        </p:nvSpPr>
        <p:spPr>
          <a:xfrm>
            <a:off x="777240" y="5349240"/>
            <a:ext cx="10607040" cy="0"/>
          </a:xfrm>
          <a:prstGeom prst="line">
            <a:avLst/>
          </a:prstGeom>
          <a:noFill/>
          <a:ln w="12700">
            <a:solidFill>
              <a:srgbClr val="2C6656"/>
            </a:solidFill>
            <a:prstDash val="solid"/>
          </a:ln>
        </p:spPr>
      </p:sp>
      <p:sp>
        <p:nvSpPr>
          <p:cNvPr id="10" name="Text 7"/>
          <p:cNvSpPr/>
          <p:nvPr/>
        </p:nvSpPr>
        <p:spPr>
          <a:xfrm>
            <a:off x="777240" y="5532120"/>
            <a:ext cx="5486400" cy="548640"/>
          </a:xfrm>
          <a:prstGeom prst="rect">
            <a:avLst/>
          </a:prstGeom>
          <a:noFill/>
          <a:ln/>
        </p:spPr>
        <p:txBody>
          <a:bodyPr wrap="square" lIns="0" tIns="0" rIns="0" bIns="0" rtlCol="0" anchor="ctr"/>
          <a:lstStyle/>
          <a:p>
            <a:pPr indent="0" marL="0">
              <a:buNone/>
            </a:pPr>
            <a:r>
              <a:rPr lang="en-US" sz="2600" b="1" dirty="0">
                <a:solidFill>
                  <a:srgbClr val="F2A93B"/>
                </a:solidFill>
                <a:latin typeface="Cambria" pitchFamily="34" charset="0"/>
                <a:ea typeface="Cambria" pitchFamily="34" charset="-122"/>
                <a:cs typeface="Cambria" pitchFamily="34" charset="-120"/>
              </a:rPr>
              <a:t>Thank You</a:t>
            </a:r>
            <a:endParaRPr lang="en-US" sz="2600" dirty="0"/>
          </a:p>
        </p:txBody>
      </p:sp>
      <p:sp>
        <p:nvSpPr>
          <p:cNvPr id="11" name="Text 8"/>
          <p:cNvSpPr/>
          <p:nvPr/>
        </p:nvSpPr>
        <p:spPr>
          <a:xfrm>
            <a:off x="777240" y="6053328"/>
            <a:ext cx="5486400" cy="365760"/>
          </a:xfrm>
          <a:prstGeom prst="rect">
            <a:avLst/>
          </a:prstGeom>
          <a:noFill/>
          <a:ln/>
        </p:spPr>
        <p:txBody>
          <a:bodyPr wrap="square" lIns="0" tIns="0" rIns="0" bIns="0" rtlCol="0" anchor="ctr"/>
          <a:lstStyle/>
          <a:p>
            <a:pPr indent="0" marL="0">
              <a:buNone/>
            </a:pPr>
            <a:r>
              <a:rPr lang="en-US" sz="1300" i="1" dirty="0">
                <a:solidFill>
                  <a:srgbClr val="BFE7D8"/>
                </a:solidFill>
                <a:latin typeface="Calibri" pitchFamily="34" charset="0"/>
                <a:ea typeface="Calibri" pitchFamily="34" charset="-122"/>
                <a:cs typeface="Calibri" pitchFamily="34" charset="-120"/>
              </a:rPr>
              <a:t>Questions &amp; Feedback Welcome</a:t>
            </a:r>
            <a:endParaRPr lang="en-US" sz="1300" dirty="0"/>
          </a:p>
        </p:txBody>
      </p:sp>
      <p:sp>
        <p:nvSpPr>
          <p:cNvPr id="13" name="Text 9"/>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FD9C6"/>
                </a:solidFill>
                <a:latin typeface="Calibri" pitchFamily="34" charset="0"/>
                <a:ea typeface="Calibri" pitchFamily="34" charset="-122"/>
                <a:cs typeface="Calibri" pitchFamily="34" charset="-120"/>
              </a:rPr>
              <a:t>BITM3223 · Virtual Reality Technology</a:t>
            </a:r>
            <a:endParaRPr lang="en-US" sz="900" dirty="0"/>
          </a:p>
        </p:txBody>
      </p:sp>
      <p:sp>
        <p:nvSpPr>
          <p:cNvPr id="14" name="Text 1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9FD9C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Tomorrow: Smart Eco-Home VR Experience</dc:title>
  <dc:subject>PptxGenJS Presentation</dc:subject>
  <dc:creator>BITM3223 Project Team</dc:creator>
  <cp:lastModifiedBy>BITM3223 Project Team</cp:lastModifiedBy>
  <cp:revision>1</cp:revision>
  <dcterms:created xsi:type="dcterms:W3CDTF">2026-07-04T01:07:54Z</dcterms:created>
  <dcterms:modified xsi:type="dcterms:W3CDTF">2026-07-04T01:07:54Z</dcterms:modified>
</cp:coreProperties>
</file>